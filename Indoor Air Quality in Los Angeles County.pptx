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Lst>
  <p:sldSz cy="6858000" cx="12192000"/>
  <p:notesSz cx="6858000" cy="9144000"/>
  <p:embeddedFontLst>
    <p:embeddedFont>
      <p:font typeface="Plus Jakarta Sans ExtraBold"/>
      <p:bold r:id="rId38"/>
      <p:boldItalic r:id="rId39"/>
    </p:embeddedFont>
    <p:embeddedFont>
      <p:font typeface="Plus Jakarta Sans"/>
      <p:bold r:id="rId40"/>
      <p:boldItalic r:id="rId41"/>
    </p:embeddedFont>
    <p:embeddedFont>
      <p:font typeface="Plus Jakarta Sans SemiBold"/>
      <p:regular r:id="rId42"/>
      <p:bold r:id="rId43"/>
      <p:italic r:id="rId44"/>
      <p:boldItalic r:id="rId45"/>
    </p:embeddedFont>
    <p:embeddedFont>
      <p:font typeface="Plus Jakarta Sans Medium"/>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lusJakartaSans-bold.fntdata"/><Relationship Id="rId42" Type="http://schemas.openxmlformats.org/officeDocument/2006/relationships/font" Target="fonts/PlusJakartaSansSemiBold-regular.fntdata"/><Relationship Id="rId41" Type="http://schemas.openxmlformats.org/officeDocument/2006/relationships/font" Target="fonts/PlusJakartaSans-boldItalic.fntdata"/><Relationship Id="rId44" Type="http://schemas.openxmlformats.org/officeDocument/2006/relationships/font" Target="fonts/PlusJakartaSansSemiBold-italic.fntdata"/><Relationship Id="rId43" Type="http://schemas.openxmlformats.org/officeDocument/2006/relationships/font" Target="fonts/PlusJakartaSansSemiBold-bold.fntdata"/><Relationship Id="rId46" Type="http://schemas.openxmlformats.org/officeDocument/2006/relationships/font" Target="fonts/PlusJakartaSansMedium-regular.fntdata"/><Relationship Id="rId45" Type="http://schemas.openxmlformats.org/officeDocument/2006/relationships/font" Target="fonts/PlusJakartaSansSemiBold-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PlusJakartaSansMedium-italic.fntdata"/><Relationship Id="rId47" Type="http://schemas.openxmlformats.org/officeDocument/2006/relationships/font" Target="fonts/PlusJakartaSansMedium-bold.fntdata"/><Relationship Id="rId49" Type="http://schemas.openxmlformats.org/officeDocument/2006/relationships/font" Target="fonts/PlusJakartaSansMedium-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font" Target="fonts/PlusJakartaSansExtraBold-boldItalic.fntdata"/><Relationship Id="rId38" Type="http://schemas.openxmlformats.org/officeDocument/2006/relationships/font" Target="fonts/PlusJakartaSansExtraBold-bold.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My team has </a:t>
            </a:r>
            <a:r>
              <a:rPr lang="en-US"/>
              <a:t>focused our data analysis skills on indoor air quality in Los Angeles County. We looked at communities that rank in the top 10% for IAQ sensitivity. What stands out is that these are rarely communities facing just one problem. They tend to carry several burdens at once.”</a:t>
            </a:r>
            <a:endParaRPr/>
          </a:p>
        </p:txBody>
      </p:sp>
      <p:sp>
        <p:nvSpPr>
          <p:cNvPr id="83" name="Google Shape;83;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h910e45b2109cc11_0_2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h910e45b2109cc11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093367771601d00_1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093367771601d0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Exposure to air pollutants can pose risks to community health.</a:t>
            </a:r>
            <a:endParaRPr/>
          </a:p>
          <a:p>
            <a:pPr indent="0" lvl="0" marL="0" rtl="0" algn="l">
              <a:spcBef>
                <a:spcPts val="0"/>
              </a:spcBef>
              <a:spcAft>
                <a:spcPts val="0"/>
              </a:spcAft>
              <a:buClr>
                <a:schemeClr val="dk1"/>
              </a:buClr>
              <a:buSzPts val="1100"/>
              <a:buFont typeface="Arial"/>
              <a:buNone/>
            </a:pPr>
            <a:r>
              <a:rPr lang="en-US"/>
              <a:t>Socioeconomic disadvantages may make environmental challenges harder to address.</a:t>
            </a:r>
            <a:endParaRPr/>
          </a:p>
          <a:p>
            <a:pPr indent="0" lvl="0" marL="0" rtl="0" algn="l">
              <a:spcBef>
                <a:spcPts val="0"/>
              </a:spcBef>
              <a:spcAft>
                <a:spcPts val="0"/>
              </a:spcAft>
              <a:buNone/>
            </a:pPr>
            <a:r>
              <a:t/>
            </a:r>
            <a:endParaRPr/>
          </a:p>
        </p:txBody>
      </p:sp>
      <p:sp>
        <p:nvSpPr>
          <p:cNvPr id="170" name="Google Shape;17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h5a53117d3688b7e1_1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h5a53117d3688b7e1_1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This map provides an overview of where sensitivity is concentrated and helps us identify communities that may need closer attention when discussing environmental justice and public health.</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h5a53117d3688b7e1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These stakeholders can use community-level data to identify areas for further assessment and inform environmental health initiatives. Indoor air quality is not just an environmental concern; it can also be an environmental justice issue. Communities across Los Angeles County may face overlapping environmental, socioeconomic, and health challenges that increase their vulnerability to poor air quality.</a:t>
            </a:r>
            <a:endParaRPr/>
          </a:p>
          <a:p>
            <a:pPr indent="0" lvl="0" marL="0" rtl="0" algn="l">
              <a:lnSpc>
                <a:spcPct val="115000"/>
              </a:lnSpc>
              <a:spcBef>
                <a:spcPts val="1200"/>
              </a:spcBef>
              <a:spcAft>
                <a:spcPts val="0"/>
              </a:spcAft>
              <a:buClr>
                <a:schemeClr val="dk1"/>
              </a:buClr>
              <a:buSzPts val="1100"/>
              <a:buFont typeface="Arial"/>
              <a:buNone/>
            </a:pPr>
            <a:r>
              <a:rPr lang="en-US"/>
              <a:t>The purpose of this project is to better understand indoor air quality sensitivity at the community level and how it may overlap with other factors.</a:t>
            </a:r>
            <a:endParaRPr/>
          </a:p>
          <a:p>
            <a:pPr indent="0" lvl="0" marL="0" rtl="0" algn="l">
              <a:lnSpc>
                <a:spcPct val="115000"/>
              </a:lnSpc>
              <a:spcBef>
                <a:spcPts val="1200"/>
              </a:spcBef>
              <a:spcAft>
                <a:spcPts val="0"/>
              </a:spcAft>
              <a:buClr>
                <a:schemeClr val="dk1"/>
              </a:buClr>
              <a:buSzPts val="1100"/>
              <a:buFont typeface="Arial"/>
              <a:buNone/>
            </a:pPr>
            <a:r>
              <a:rPr lang="en-US"/>
              <a:t>Our findings may help local public health agencies, environmental agencies, and community organizations make more informed decisions about where further investigation and support may be needed.</a:t>
            </a:r>
            <a:endParaRPr/>
          </a:p>
          <a:p>
            <a:pPr indent="0" lvl="0" marL="0" rtl="0" algn="l">
              <a:lnSpc>
                <a:spcPct val="115000"/>
              </a:lnSpc>
              <a:spcBef>
                <a:spcPts val="1200"/>
              </a:spcBef>
              <a:spcAft>
                <a:spcPts val="0"/>
              </a:spcAft>
              <a:buClr>
                <a:schemeClr val="dk1"/>
              </a:buClr>
              <a:buSzPts val="1100"/>
              <a:buFont typeface="Arial"/>
              <a:buNone/>
            </a:pPr>
            <a:r>
              <a:rPr lang="en-US"/>
              <a:t>This topic also connects to the United Nations Department of Economic and Social Affairs and the broader goals of sustainable development. Ultimately, understanding which communities may be more vulnerable can help inform efforts toward healthier and more equitable living environments.</a:t>
            </a:r>
            <a:endParaRPr/>
          </a:p>
          <a:p>
            <a:pPr indent="0" lvl="0" marL="0" rtl="0" algn="l">
              <a:spcBef>
                <a:spcPts val="1200"/>
              </a:spcBef>
              <a:spcAft>
                <a:spcPts val="0"/>
              </a:spcAft>
              <a:buNone/>
            </a:pPr>
            <a:r>
              <a:t/>
            </a:r>
            <a:endParaRPr/>
          </a:p>
        </p:txBody>
      </p:sp>
      <p:sp>
        <p:nvSpPr>
          <p:cNvPr id="222" name="Google Shape;222;h5a53117d3688b7e1_1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093367771601d0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093367771601d0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200"/>
              <a:t>In this analysis, we will explore how high Indoor Air Quality Sensitivity Scores overlap with factors that can make communities more vulnerable, including pollutants, poverty, housing and health.</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093367771601d00_1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093367771601d0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 will be going over pollutants in communities and how other factors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From the communities that had high Indoor Air Quality Sensitivity Scores, we wanted to look at how many of them had high-level of pollutants. Within our 246 communities we found nitrogen dioxide to be elevated for 99 </a:t>
            </a:r>
            <a:r>
              <a:rPr lang="en-US"/>
              <a:t>communities followed by </a:t>
            </a:r>
            <a:r>
              <a:rPr lang="en-US"/>
              <a:t>PM2.5 for 78 communities, then </a:t>
            </a:r>
            <a:r>
              <a:rPr lang="en-US"/>
              <a:t>diesel</a:t>
            </a:r>
            <a:r>
              <a:rPr lang="en-US"/>
              <a:t> particulate matter for 42 communities, facility toxic releases for 31 communities and only 1 </a:t>
            </a:r>
            <a:r>
              <a:rPr lang="en-US"/>
              <a:t>community</a:t>
            </a:r>
            <a:r>
              <a:rPr lang="en-US"/>
              <a:t> had a high-level for ground-level ozone.</a:t>
            </a:r>
            <a:endParaRPr/>
          </a:p>
          <a:p>
            <a:pPr indent="0" lvl="0" marL="0" rtl="0" algn="l">
              <a:spcBef>
                <a:spcPts val="0"/>
              </a:spcBef>
              <a:spcAft>
                <a:spcPts val="0"/>
              </a:spcAft>
              <a:buNone/>
            </a:pPr>
            <a:r>
              <a:t/>
            </a:r>
            <a:endParaRPr/>
          </a:p>
        </p:txBody>
      </p:sp>
      <p:sp>
        <p:nvSpPr>
          <p:cNvPr id="259" name="Google Shape;25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h2e221f9e2c495c4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h2e221f9e2c495c4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After looking at how many communities had a high level of pollutants we wanted to look at how many </a:t>
            </a:r>
            <a:r>
              <a:rPr lang="en-US"/>
              <a:t>communities</a:t>
            </a:r>
            <a:r>
              <a:rPr lang="en-US"/>
              <a:t> had multiple pollutants at a high level. Here we found that 80 of the communities actually had none, 103 of them had 1, 42 of them had 2, 20 had 3, and only 1 of them had 4.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Overall, 63 communities had more than one pollutant at a high level, but most had only one or none, so overlapping pollutant exposure is concentrated in a small group of communities, with Compton at the top</a:t>
            </a:r>
            <a:endParaRPr sz="10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After looking at the pollutants, we wanted to connect them to other factors, starting with poverty. Nearly 52.4% of the high-sensitivity communities were in high poverty. When we looked at the communities with at least one high pollutant, 89 of 166 were also in high poverty. Los Angeles was the leading city, and Vermont Vista was the highest-poverty community.</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Overall, poverty and high pollutant levels often occur in the same communities and demonstrate </a:t>
            </a:r>
            <a:r>
              <a:rPr lang="en-US">
                <a:solidFill>
                  <a:schemeClr val="dk1"/>
                </a:solidFill>
              </a:rPr>
              <a:t>overlap</a:t>
            </a:r>
            <a:r>
              <a:rPr lang="en-US">
                <a:solidFill>
                  <a:schemeClr val="dk1"/>
                </a:solidFill>
              </a:rPr>
              <a:t>.</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After analyzing poverty, i will pass it on to arsh who will talk about other socioeconomic factors.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295" name="Google Shape;29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093367771601d00_3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093367771601d0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900">
                <a:solidFill>
                  <a:schemeClr val="dk1"/>
                </a:solidFill>
              </a:rPr>
              <a:t>Are communities experiencing poorer air quality also more likely to experience socioeconomic disadvantages?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h5a53117d3688b7e1_1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h5a53117d3688b7e1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For this first visualization, I wanted to explore whether communities with higher educational disadvantage also tend to have higher indoor air quality sensitivity. We measured educational disadvantage by looking at the percentage of adults over 25 who do not have a high school diploma. Each dot represents a community or observation, and the percentiles show how communities rank compared to others across Los Angeles County.</a:t>
            </a:r>
            <a:endParaRPr/>
          </a:p>
          <a:p>
            <a:pPr indent="0" lvl="0" marL="0" rtl="0" algn="l">
              <a:lnSpc>
                <a:spcPct val="115000"/>
              </a:lnSpc>
              <a:spcBef>
                <a:spcPts val="1200"/>
              </a:spcBef>
              <a:spcAft>
                <a:spcPts val="0"/>
              </a:spcAft>
              <a:buClr>
                <a:schemeClr val="dk1"/>
              </a:buClr>
              <a:buSzPts val="1100"/>
              <a:buFont typeface="Arial"/>
              <a:buNone/>
            </a:pPr>
            <a:r>
              <a:rPr lang="en-US"/>
              <a:t>As we can see, the points are widely scattered, and the trendline is relatively flat. This suggests that there is a weak association between educational disadvantage and IAQ sensitivity in this analysis. In other words, a community having a higher level of educational disadvantage does not necessarily mean it will also have a higher IAQ sensitivity ranking. This tells us that we need to consider multiple factors when examining community vulnerability.</a:t>
            </a:r>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h5a53117d3688b7e1_1_1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h5a53117d3688b7e1_1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For the second visualization, I looked at whether communities with higher unemployment rates also tend to have higher indoor air quality sensitivity. Similar to the previous chart, the points are scattered around a relatively flat trendline, which suggests that there is not a strong relationship between these two measures in our analysis.</a:t>
            </a:r>
            <a:endParaRPr/>
          </a:p>
          <a:p>
            <a:pPr indent="0" lvl="0" marL="0" rtl="0" algn="l">
              <a:lnSpc>
                <a:spcPct val="115000"/>
              </a:lnSpc>
              <a:spcBef>
                <a:spcPts val="1200"/>
              </a:spcBef>
              <a:spcAft>
                <a:spcPts val="0"/>
              </a:spcAft>
              <a:buClr>
                <a:schemeClr val="dk1"/>
              </a:buClr>
              <a:buSzPts val="1100"/>
              <a:buFont typeface="Arial"/>
              <a:buNone/>
            </a:pPr>
            <a:r>
              <a:rPr lang="en-US"/>
              <a:t>One community that stands out is Willowbrook, which has the highest average unemployment rate in this comparison at 27%. This is an important example to examine when looking at overlapping socioeconomic and environmental challenges. However, we cannot assume that every community with high unemployment will also have high IAQ sensitivity. Instead, this finding reinforces the importance of looking at individual communities and considering other factors that may contribute to their vulnerability.</a:t>
            </a:r>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h5a53117d3688b7e1_1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h5a53117d3688b7e1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 compared the relative percentile rankings of educational disadvantage, unemployment, and IAQ sensitivity across communities. The percentiles show how each community ranks relative to other census tracts in Los Angeles County, rather than representing actual percentages of people experiencing a condition.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Vermont Vista, Willowbrook, and Green Meadows stand out because they rank highly across multiple measures, showing how socioeconomic disadvantage and IAQ sensitivity can overlap. However, the rankings are not consistent for every community.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example, Lancaster has an IAQ sensitivity percentile of about 98 and an unemployment percentile of about 87, but its educational disadvantage percentile is around 59. This suggests that a community can rank very high in IAQ sensitivity without ranking equally high across every socioeconomic measure. Athens-Westmont and Harvard Park also show differences between their education and unemployment rankings, although the gaps are smaller.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mixed ranking pattern is an important insight because it shows why we should not rely on a single socioeconomic indicator to identify communities for further investigation. Instead, looking at multiple measures together gives us a more complete picture of potential vulnerability. These rankings show overlap and differences, but they do not explain what causes those patterns.</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093367771601d00_3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093367771601d0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h31aea9aa3ea7793c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457200" lvl="0" marL="0" rtl="0" algn="l">
              <a:lnSpc>
                <a:spcPct val="115000"/>
              </a:lnSpc>
              <a:spcBef>
                <a:spcPts val="0"/>
              </a:spcBef>
              <a:spcAft>
                <a:spcPts val="0"/>
              </a:spcAft>
              <a:buClr>
                <a:schemeClr val="dk1"/>
              </a:buClr>
              <a:buSzPts val="1100"/>
              <a:buFont typeface="Arial"/>
              <a:buNone/>
            </a:pPr>
            <a:r>
              <a:rPr lang="en-US">
                <a:solidFill>
                  <a:schemeClr val="dk1"/>
                </a:solidFill>
              </a:rPr>
              <a:t>There is a strong positive correlation between Building Age Points and Children’s Lead Risk Points across LA County Communities. Older residential structures are the main determinant of elevated lead exposure risk for children. SPA 6 (South) and SPA 7 (East) have the highest regional Children's Lead Risk scores at </a:t>
            </a:r>
            <a:r>
              <a:rPr b="1" lang="en-US">
                <a:solidFill>
                  <a:schemeClr val="dk1"/>
                </a:solidFill>
              </a:rPr>
              <a:t>7.02</a:t>
            </a:r>
            <a:r>
              <a:rPr lang="en-US">
                <a:solidFill>
                  <a:schemeClr val="dk1"/>
                </a:solidFill>
              </a:rPr>
              <a:t> and </a:t>
            </a:r>
            <a:r>
              <a:rPr b="1" lang="en-US">
                <a:solidFill>
                  <a:schemeClr val="dk1"/>
                </a:solidFill>
              </a:rPr>
              <a:t>7.00</a:t>
            </a:r>
            <a:r>
              <a:rPr lang="en-US">
                <a:solidFill>
                  <a:schemeClr val="dk1"/>
                </a:solidFill>
              </a:rPr>
              <a:t> respectively, whereas newer housing stock in SPA 2 (San Fernando) and SPA 1 (Antelope Valley) yields significantly lower lead risk scores (</a:t>
            </a:r>
            <a:r>
              <a:rPr b="1" lang="en-US">
                <a:solidFill>
                  <a:schemeClr val="dk1"/>
                </a:solidFill>
              </a:rPr>
              <a:t>5.27</a:t>
            </a:r>
            <a:r>
              <a:rPr lang="en-US">
                <a:solidFill>
                  <a:schemeClr val="dk1"/>
                </a:solidFill>
              </a:rPr>
              <a:t> and </a:t>
            </a:r>
            <a:r>
              <a:rPr b="1" lang="en-US">
                <a:solidFill>
                  <a:schemeClr val="dk1"/>
                </a:solidFill>
              </a:rPr>
              <a:t>5.33</a:t>
            </a:r>
            <a:r>
              <a:rPr lang="en-US">
                <a:solidFill>
                  <a:schemeClr val="dk1"/>
                </a:solidFill>
              </a:rPr>
              <a:t>). </a:t>
            </a:r>
            <a:endParaRPr/>
          </a:p>
        </p:txBody>
      </p:sp>
      <p:sp>
        <p:nvSpPr>
          <p:cNvPr id="379" name="Google Shape;379;h31aea9aa3ea7793c_1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h42b98d4a645a1ff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457200" lvl="0" marL="0" rtl="0" algn="l">
              <a:lnSpc>
                <a:spcPct val="115000"/>
              </a:lnSpc>
              <a:spcBef>
                <a:spcPts val="0"/>
              </a:spcBef>
              <a:spcAft>
                <a:spcPts val="0"/>
              </a:spcAft>
              <a:buNone/>
            </a:pPr>
            <a:r>
              <a:rPr lang="en-US">
                <a:solidFill>
                  <a:schemeClr val="dk1"/>
                </a:solidFill>
              </a:rPr>
              <a:t>There is a strong positive correlation between Building Age Points and Children’s Lead Risk Points across LA County Communities. Older residential structures are the main determinant of elevated lead exposure risk for children. SPA 6 (South) and SPA 7 (East) have the highest regional Children's Lead Risk scores at </a:t>
            </a:r>
            <a:r>
              <a:rPr b="1" lang="en-US">
                <a:solidFill>
                  <a:schemeClr val="dk1"/>
                </a:solidFill>
              </a:rPr>
              <a:t>7.02</a:t>
            </a:r>
            <a:r>
              <a:rPr lang="en-US">
                <a:solidFill>
                  <a:schemeClr val="dk1"/>
                </a:solidFill>
              </a:rPr>
              <a:t> and </a:t>
            </a:r>
            <a:r>
              <a:rPr b="1" lang="en-US">
                <a:solidFill>
                  <a:schemeClr val="dk1"/>
                </a:solidFill>
              </a:rPr>
              <a:t>7.00</a:t>
            </a:r>
            <a:r>
              <a:rPr lang="en-US">
                <a:solidFill>
                  <a:schemeClr val="dk1"/>
                </a:solidFill>
              </a:rPr>
              <a:t> respectively, whereas newer housing stock in SPA 2 (San Fernando) and SPA 1 (Antelope Valley) yields significantly lower lead risk scores (</a:t>
            </a:r>
            <a:r>
              <a:rPr b="1" lang="en-US">
                <a:solidFill>
                  <a:schemeClr val="dk1"/>
                </a:solidFill>
              </a:rPr>
              <a:t>5.27</a:t>
            </a:r>
            <a:r>
              <a:rPr lang="en-US">
                <a:solidFill>
                  <a:schemeClr val="dk1"/>
                </a:solidFill>
              </a:rPr>
              <a:t> and </a:t>
            </a:r>
            <a:r>
              <a:rPr b="1" lang="en-US">
                <a:solidFill>
                  <a:schemeClr val="dk1"/>
                </a:solidFill>
              </a:rPr>
              <a:t>5.33</a:t>
            </a:r>
            <a:r>
              <a:rPr lang="en-US">
                <a:solidFill>
                  <a:schemeClr val="dk1"/>
                </a:solidFill>
              </a:rPr>
              <a:t>). </a:t>
            </a:r>
            <a:endParaRPr/>
          </a:p>
        </p:txBody>
      </p:sp>
      <p:sp>
        <p:nvSpPr>
          <p:cNvPr id="396" name="Google Shape;396;h42b98d4a645a1ffa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h3c13b27447a82c5d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a:solidFill>
                  <a:schemeClr val="dk1"/>
                </a:solidFill>
                <a:highlight>
                  <a:srgbClr val="F4CCCC"/>
                </a:highlight>
              </a:rPr>
              <a:t>Unit Size</a:t>
            </a:r>
            <a:r>
              <a:rPr lang="en-US">
                <a:solidFill>
                  <a:schemeClr val="dk1"/>
                </a:solidFill>
              </a:rPr>
              <a:t> in the data set is measured by number of units on property per total livable square footage on property.</a:t>
            </a:r>
            <a:endParaRPr>
              <a:solidFill>
                <a:schemeClr val="dk1"/>
              </a:solidFill>
            </a:endParaRPr>
          </a:p>
        </p:txBody>
      </p:sp>
      <p:sp>
        <p:nvSpPr>
          <p:cNvPr id="404" name="Google Shape;404;h3c13b27447a82c5d_9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093367771601d00_3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093367771601d0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093367771601d00_12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093367771601d00_1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“In these top-decile communities, we frequently see severe asthma and elevated cardiovascular disease risk together. So indoor air quality isn’t an isolated issue. It lands on populations that are already health-burdened.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Top Impacted Neighborhoods:</a:t>
            </a:r>
            <a:r>
              <a:rPr lang="en-US">
                <a:solidFill>
                  <a:schemeClr val="dk1"/>
                </a:solidFill>
              </a:rPr>
              <a:t> As illustrated in the "Top Communities by Cardiovascular Disease Risk in High-IAQ Areas" chart, several neighborhoods experience extreme cardiovascular risk scores alongside high environmental sensitivity: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a:solidFill>
                  <a:schemeClr val="dk1"/>
                </a:solidFill>
              </a:rPr>
              <a:t>Century Palms/Cove (Los Angeles):</a:t>
            </a:r>
            <a:r>
              <a:rPr lang="en-US">
                <a:solidFill>
                  <a:schemeClr val="dk1"/>
                </a:solidFill>
              </a:rPr>
              <a:t> 99.6th percentile CVD risk, 97.0th percentile Asthma, and 95.3rd percentile IAQ sensitivity.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a:solidFill>
                  <a:schemeClr val="dk1"/>
                </a:solidFill>
              </a:rPr>
              <a:t>Figueroa Park Square (Los Angeles):</a:t>
            </a:r>
            <a:r>
              <a:rPr lang="en-US">
                <a:solidFill>
                  <a:schemeClr val="dk1"/>
                </a:solidFill>
              </a:rPr>
              <a:t> 99.3rd percentile CVD risk, 96.0th percentile Asthma, and 93.0th percentile IAQ sensitivity.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a:solidFill>
                  <a:schemeClr val="dk1"/>
                </a:solidFill>
              </a:rPr>
              <a:t>Willowbrook (Unincorporated County):</a:t>
            </a:r>
            <a:r>
              <a:rPr lang="en-US">
                <a:solidFill>
                  <a:schemeClr val="dk1"/>
                </a:solidFill>
              </a:rPr>
              <a:t> 99.2nd percentile CVD risk, 95.1st percentile Asthma, and 97.8th percentile IAQ sensitivity.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a:solidFill>
                  <a:schemeClr val="dk1"/>
                </a:solidFill>
              </a:rPr>
              <a:t>Watts (Los Angeles):</a:t>
            </a:r>
            <a:r>
              <a:rPr lang="en-US">
                <a:solidFill>
                  <a:schemeClr val="dk1"/>
                </a:solidFill>
              </a:rPr>
              <a:t> 98.7th percentile CVD risk, 95.7th percentile Asthma, and 96.2nd percentile IAQ sensitivity.</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093367771601d00_14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093367771601d00_1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b="1" lang="en-US">
                <a:solidFill>
                  <a:schemeClr val="dk1"/>
                </a:solidFill>
              </a:rPr>
              <a:t>Primary Concentration Areas:</a:t>
            </a:r>
            <a:r>
              <a:rPr lang="en-US">
                <a:solidFill>
                  <a:schemeClr val="dk1"/>
                </a:solidFill>
              </a:rPr>
              <a:t> The "Top Communities by High Healthcare Deficit Area Count" chart highlights the cities with the greatest number of severely impacted census tracts: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a:solidFill>
                  <a:schemeClr val="dk1"/>
                </a:solidFill>
              </a:rPr>
              <a:t>Long Beach:</a:t>
            </a:r>
            <a:r>
              <a:rPr lang="en-US">
                <a:solidFill>
                  <a:schemeClr val="dk1"/>
                </a:solidFill>
              </a:rPr>
              <a:t> 11 tracts in the highest uninsured bracket.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a:solidFill>
                  <a:schemeClr val="dk1"/>
                </a:solidFill>
              </a:rPr>
              <a:t>Huntington Park:</a:t>
            </a:r>
            <a:r>
              <a:rPr lang="en-US">
                <a:solidFill>
                  <a:schemeClr val="dk1"/>
                </a:solidFill>
              </a:rPr>
              <a:t> 10 tracts.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a:solidFill>
                  <a:schemeClr val="dk1"/>
                </a:solidFill>
              </a:rPr>
              <a:t>Compton:</a:t>
            </a:r>
            <a:r>
              <a:rPr lang="en-US">
                <a:solidFill>
                  <a:schemeClr val="dk1"/>
                </a:solidFill>
              </a:rPr>
              <a:t> 7 tracts.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a:solidFill>
                  <a:schemeClr val="dk1"/>
                </a:solidFill>
              </a:rPr>
              <a:t>South Gate, El Monte, Maywood, and Bell Gardens:</a:t>
            </a:r>
            <a:r>
              <a:rPr lang="en-US">
                <a:solidFill>
                  <a:schemeClr val="dk1"/>
                </a:solidFill>
              </a:rPr>
              <a:t> 5 tracts each.</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093367771601d00_16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093367771601d00_1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t/>
            </a:r>
            <a:endParaRPr>
              <a:solidFill>
                <a:schemeClr val="dk1"/>
              </a:solidFill>
            </a:endParaRPr>
          </a:p>
          <a:p>
            <a:pPr indent="0" lvl="0" marL="0" rtl="0" algn="l">
              <a:spcBef>
                <a:spcPts val="1200"/>
              </a:spcBef>
              <a:spcAft>
                <a:spcPts val="0"/>
              </a:spcAft>
              <a:buNone/>
            </a:pPr>
            <a:r>
              <a:rPr b="1" lang="en-US">
                <a:solidFill>
                  <a:schemeClr val="dk1"/>
                </a:solidFill>
              </a:rPr>
              <a:t>2. The pattern</a:t>
            </a:r>
            <a:endParaRPr b="1">
              <a:solidFill>
                <a:schemeClr val="dk1"/>
              </a:solidFill>
            </a:endParaRPr>
          </a:p>
          <a:p>
            <a:pPr indent="0" lvl="0" marL="0" rtl="0" algn="l">
              <a:spcBef>
                <a:spcPts val="0"/>
              </a:spcBef>
              <a:spcAft>
                <a:spcPts val="0"/>
              </a:spcAft>
              <a:buNone/>
            </a:pPr>
            <a:r>
              <a:rPr lang="en-US">
                <a:solidFill>
                  <a:schemeClr val="dk1"/>
                </a:solidFill>
              </a:rPr>
              <a:t>“In these top-decile communities, we frequently see severe asthma and elevated cardiovascular disease risk together. So indoor air quality isn’t an isolated issue. It lands on populations that are already health-burdened.”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4. Healthcare access</a:t>
            </a:r>
            <a:endParaRPr b="1">
              <a:solidFill>
                <a:schemeClr val="dk1"/>
              </a:solidFill>
            </a:endParaRPr>
          </a:p>
          <a:p>
            <a:pPr indent="0" lvl="0" marL="0" rtl="0" algn="l">
              <a:spcBef>
                <a:spcPts val="0"/>
              </a:spcBef>
              <a:spcAft>
                <a:spcPts val="0"/>
              </a:spcAft>
              <a:buNone/>
            </a:pPr>
            <a:r>
              <a:rPr lang="en-US">
                <a:solidFill>
                  <a:schemeClr val="dk1"/>
                </a:solidFill>
              </a:rPr>
              <a:t>“In this scatter plot : healthcare access correlation </a:t>
            </a:r>
            <a:r>
              <a:rPr lang="en-US">
                <a:solidFill>
                  <a:schemeClr val="dk1"/>
                </a:solidFill>
              </a:rPr>
              <a:t>with the AQI</a:t>
            </a:r>
            <a:r>
              <a:rPr lang="en-US">
                <a:solidFill>
                  <a:schemeClr val="dk1"/>
                </a:solidFill>
              </a:rPr>
              <a:t>. Communities with large healthcare access deficits also tend to have elevated asthma and cardiovascular risk to which my fellow analyst will That combination may compound the impact of indoor air pollution on the people living there, because the residents who are most exposed also have the hardest time getting care.”</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093367771601d00_3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093367771601d0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h31aea9aa3ea7793c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h31aea9aa3ea7793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h31aea9aa3ea7793c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h31aea9aa3ea7793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h31aea9aa3ea7793c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h31aea9aa3ea7793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identified a few other strategies that could help address environmental health disparities across Los Angeles County.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200" u="sng">
                <a:solidFill>
                  <a:schemeClr val="dk1"/>
                </a:solidFill>
              </a:rPr>
              <a:t>jaz </a:t>
            </a:r>
            <a:endParaRPr b="1" sz="1200" u="sng">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First, </a:t>
            </a:r>
            <a:r>
              <a:rPr b="1" lang="en-US">
                <a:solidFill>
                  <a:schemeClr val="dk1"/>
                </a:solidFill>
              </a:rPr>
              <a:t>filtration upgrades</a:t>
            </a:r>
            <a:r>
              <a:rPr lang="en-US">
                <a:solidFill>
                  <a:schemeClr val="dk1"/>
                </a:solidFill>
              </a:rPr>
              <a:t> would help improve indoor air quality in homes and schools. For example, subsidies for HEPA filters could make filtration more affordable for residents in older rental units, while improving school air systems could help protect students, especially those attending schools near freight corridors.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Second, </a:t>
            </a:r>
            <a:r>
              <a:rPr b="1" lang="en-US">
                <a:solidFill>
                  <a:schemeClr val="dk1"/>
                </a:solidFill>
              </a:rPr>
              <a:t>facility monitoring</a:t>
            </a:r>
            <a:r>
              <a:rPr lang="en-US">
                <a:solidFill>
                  <a:schemeClr val="dk1"/>
                </a:solidFill>
              </a:rPr>
              <a:t> would help communities identify and respond to potential environmental hazards. Establishing buffer zones between industrial facilities and residential areas could help limit exposure to nearby pollution sources. Fenceline sensors could also monitor emissions near industrial sites and provide real-time alerts when toxic releases occur.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Finally, </a:t>
            </a:r>
            <a:r>
              <a:rPr b="1" lang="en-US">
                <a:solidFill>
                  <a:schemeClr val="dk1"/>
                </a:solidFill>
              </a:rPr>
              <a:t>healthcare access</a:t>
            </a:r>
            <a:r>
              <a:rPr lang="en-US">
                <a:solidFill>
                  <a:schemeClr val="dk1"/>
                </a:solidFill>
              </a:rPr>
              <a:t> is important for communities that may face greater environmental health risks. Offering free mobile respiratory screening clinics in areas of concern could help residents access health evaluations. Providing air quality hazard notices in multiple languages would also help ensure that more residents can understand potential risks and take appropriate precautions.</a:t>
            </a:r>
            <a:endParaRPr b="1" u="sng">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u="sng">
                <a:solidFill>
                  <a:schemeClr val="dk1"/>
                </a:solidFill>
              </a:rPr>
              <a:t>Cynthia</a:t>
            </a:r>
            <a:endParaRPr b="1" u="sng">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indoor air quality assessments</a:t>
            </a:r>
            <a:r>
              <a:rPr lang="en-US">
                <a:solidFill>
                  <a:schemeClr val="dk1"/>
                </a:solidFill>
              </a:rPr>
              <a:t> could help investigate conditions in homes and community facilities, so this would include ventilation issues, moisture, and mold. Since our IAQ Sensitivity Index measures potential vulnerability rather than directly measuring indoor pollution, these assessments would help determine what problems actually exist in specific locations.</a:t>
            </a:r>
            <a:endParaRPr b="1" u="sng">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community-led air quality planning</a:t>
            </a:r>
            <a:r>
              <a:rPr lang="en-US">
                <a:solidFill>
                  <a:schemeClr val="dk1"/>
                </a:solidFill>
              </a:rPr>
              <a:t> would involve working directly with residents, neighborhood councils, and local organizations. Our data helps identify communities that may be experiencing overlapping vulnerabilities, but residents can provide context about local conditions that may not appear in countywide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u="sng">
                <a:solidFill>
                  <a:schemeClr val="dk1"/>
                </a:solidFill>
              </a:rPr>
              <a:t>Arsh</a:t>
            </a:r>
            <a:endParaRPr b="1" u="sng">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Third, </a:t>
            </a:r>
            <a:r>
              <a:rPr b="1" lang="en-US">
                <a:solidFill>
                  <a:schemeClr val="dk1"/>
                </a:solidFill>
              </a:rPr>
              <a:t>equity-based resource allocation</a:t>
            </a:r>
            <a:r>
              <a:rPr lang="en-US">
                <a:solidFill>
                  <a:schemeClr val="dk1"/>
                </a:solidFill>
              </a:rPr>
              <a:t> could help agencies consider multiple indicators when deciding where to direct funding for environmental assessments, housing improvements, and community health programs. Our analysis showed that educational disadvantage and unemployment do not always rank equally across communities, so relying on just one indicator could overlook certain needs.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Finally, </a:t>
            </a:r>
            <a:r>
              <a:rPr b="1" lang="en-US">
                <a:solidFill>
                  <a:schemeClr val="dk1"/>
                </a:solidFill>
              </a:rPr>
              <a:t>tracking community outcomes over time</a:t>
            </a:r>
            <a:r>
              <a:rPr lang="en-US">
                <a:solidFill>
                  <a:schemeClr val="dk1"/>
                </a:solidFill>
              </a:rPr>
              <a:t> would allow agencies to repeat this analysis as new data becomes available and see how environmental, housing, health, and socioeconomic conditions change. This would help identify whether conditions are improving and where further investigation may be needed.</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Together, these strategies aim to reduce exposure, improve access to health resources, and help communities make more informed decisions about their environmental health.</a:t>
            </a:r>
            <a:endParaRPr b="1" u="sng">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491" name="Google Shape;49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h2e221f9e2c495c43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There are two important limitations to keep in mind when interpreting our findings. First, our analysis identifies associations between indoor air quality sensitivity and socioeconomic factors, but it does not prove that one causes the other. These patterns can help us identify communities that may need additional attention, but further research would be needed to understand the underlying causes.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Second, our analysis uses census-tract averages, which can hide differences between households and individuals within the same community. For example, some residents may experience more housing-related or indoor air quality challenges than others, even if their census tract has a moderate overall ranking. Because of these limitations, our findings should be used as a starting point for further investigation, alongside more detailed local data and input from community members.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What explains the multi-pollutant areas? </a:t>
            </a:r>
            <a:endParaRPr b="1">
              <a:solidFill>
                <a:schemeClr val="dk1"/>
              </a:solidFill>
            </a:endParaRPr>
          </a:p>
          <a:p>
            <a:pPr indent="0" lvl="0" marL="457200" rtl="0" algn="l">
              <a:lnSpc>
                <a:spcPct val="115000"/>
              </a:lnSpc>
              <a:spcBef>
                <a:spcPts val="0"/>
              </a:spcBef>
              <a:spcAft>
                <a:spcPts val="0"/>
              </a:spcAft>
              <a:buNone/>
            </a:pPr>
            <a:r>
              <a:rPr lang="en-US">
                <a:solidFill>
                  <a:schemeClr val="dk1"/>
                </a:solidFill>
              </a:rPr>
              <a:t>Determine why 63 communities have more than 1 high pollutant and why the city of Compton has 4 high pollutants.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What else drives health issues? </a:t>
            </a:r>
            <a:endParaRPr b="1">
              <a:solidFill>
                <a:schemeClr val="dk1"/>
              </a:solidFill>
            </a:endParaRPr>
          </a:p>
          <a:p>
            <a:pPr indent="0" lvl="0" marL="457200" rtl="0" algn="l">
              <a:lnSpc>
                <a:spcPct val="115000"/>
              </a:lnSpc>
              <a:spcBef>
                <a:spcPts val="0"/>
              </a:spcBef>
              <a:spcAft>
                <a:spcPts val="0"/>
              </a:spcAft>
              <a:buNone/>
            </a:pPr>
            <a:r>
              <a:rPr lang="en-US">
                <a:solidFill>
                  <a:schemeClr val="dk1"/>
                </a:solidFill>
              </a:rPr>
              <a:t>Test other factors that may lead to high levels of asthma or cardiovascular disease other than age and pollutants.</a:t>
            </a:r>
            <a:endParaRPr>
              <a:solidFill>
                <a:schemeClr val="dk1"/>
              </a:solidFill>
            </a:endParaRPr>
          </a:p>
          <a:p>
            <a:pPr indent="0" lvl="0" marL="0" rtl="0" algn="l">
              <a:spcBef>
                <a:spcPts val="0"/>
              </a:spcBef>
              <a:spcAft>
                <a:spcPts val="0"/>
              </a:spcAft>
              <a:buNone/>
            </a:pPr>
            <a:r>
              <a:t/>
            </a:r>
            <a:endParaRPr/>
          </a:p>
        </p:txBody>
      </p:sp>
      <p:sp>
        <p:nvSpPr>
          <p:cNvPr id="530" name="Google Shape;530;h2e221f9e2c495c43_1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h4b7c6585f31ed35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h4b7c6585f31ed35_1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77e4e2f30ee2234e_14_0)">
  <p:cSld name="Generated (h77e4e2f30ee2234e_14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spreadsheets/d/14rgGfTIFak55nQ98I_9DI8IZCUNamgkQ/edit?gid=1524608169#gid=1524608169" TargetMode="External"/><Relationship Id="rId4" Type="http://schemas.openxmlformats.org/officeDocument/2006/relationships/image" Target="../media/image30.png"/><Relationship Id="rId5"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24.jpg"/><Relationship Id="rId5" Type="http://schemas.openxmlformats.org/officeDocument/2006/relationships/image" Target="../media/image12.png"/><Relationship Id="rId6" Type="http://schemas.openxmlformats.org/officeDocument/2006/relationships/image" Target="../media/image6.jpg"/><Relationship Id="rId7" Type="http://schemas.openxmlformats.org/officeDocument/2006/relationships/image" Target="../media/image2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jp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14.png"/><Relationship Id="rId7"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4" name="Shape 84"/>
        <p:cNvGrpSpPr/>
        <p:nvPr/>
      </p:nvGrpSpPr>
      <p:grpSpPr>
        <a:xfrm>
          <a:off x="0" y="0"/>
          <a:ext cx="0" cy="0"/>
          <a:chOff x="0" y="0"/>
          <a:chExt cx="0" cy="0"/>
        </a:xfrm>
      </p:grpSpPr>
      <p:sp>
        <p:nvSpPr>
          <p:cNvPr id="85" name="Google Shape;85;p14"/>
          <p:cNvSpPr/>
          <p:nvPr/>
        </p:nvSpPr>
        <p:spPr>
          <a:xfrm>
            <a:off x="762000" y="857250"/>
            <a:ext cx="4953000" cy="304800"/>
          </a:xfrm>
          <a:prstGeom prst="roundRect">
            <a:avLst>
              <a:gd fmla="val 50000" name="adj"/>
            </a:avLst>
          </a:prstGeom>
          <a:solidFill>
            <a:srgbClr val="1E293B"/>
          </a:solidFill>
          <a:ln cap="flat" cmpd="sng" w="9525">
            <a:solidFill>
              <a:srgbClr val="0284C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14"/>
          <p:cNvSpPr txBox="1"/>
          <p:nvPr/>
        </p:nvSpPr>
        <p:spPr>
          <a:xfrm>
            <a:off x="914400" y="857250"/>
            <a:ext cx="4800600" cy="251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38BDF8"/>
                </a:solidFill>
                <a:latin typeface="Plus Jakarta Sans"/>
                <a:ea typeface="Plus Jakarta Sans"/>
                <a:cs typeface="Plus Jakarta Sans"/>
                <a:sym typeface="Plus Jakarta Sans"/>
              </a:rPr>
              <a:t>C700 DA-LA • OCTOBER 2026 MIDPROJECT: </a:t>
            </a:r>
            <a:r>
              <a:rPr lang="en-US" sz="1000" u="sng">
                <a:solidFill>
                  <a:srgbClr val="38BDF8"/>
                </a:solidFill>
                <a:latin typeface="Plus Jakarta Sans"/>
                <a:ea typeface="Plus Jakarta Sans"/>
                <a:cs typeface="Plus Jakarta Sans"/>
                <a:sym typeface="Plus Jakarta Sans"/>
                <a:hlinkClick r:id="rId3">
                  <a:extLst>
                    <a:ext uri="{A12FA001-AC4F-418D-AE19-62706E023703}">
                      <ahyp:hlinkClr val="tx"/>
                    </a:ext>
                  </a:extLst>
                </a:hlinkClick>
              </a:rPr>
              <a:t>Indoor Air Quality Dataset</a:t>
            </a:r>
            <a:endParaRPr b="1" sz="1000">
              <a:solidFill>
                <a:srgbClr val="38BDF8"/>
              </a:solidFill>
              <a:latin typeface="Plus Jakarta Sans"/>
              <a:ea typeface="Plus Jakarta Sans"/>
              <a:cs typeface="Plus Jakarta Sans"/>
              <a:sym typeface="Plus Jakarta Sans"/>
            </a:endParaRPr>
          </a:p>
        </p:txBody>
      </p:sp>
      <p:sp>
        <p:nvSpPr>
          <p:cNvPr id="87" name="Google Shape;87;p14"/>
          <p:cNvSpPr txBox="1"/>
          <p:nvPr/>
        </p:nvSpPr>
        <p:spPr>
          <a:xfrm>
            <a:off x="762000" y="1352550"/>
            <a:ext cx="49530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4000">
                <a:solidFill>
                  <a:srgbClr val="F8FAFC"/>
                </a:solidFill>
                <a:latin typeface="Plus Jakarta Sans ExtraBold"/>
                <a:ea typeface="Plus Jakarta Sans ExtraBold"/>
                <a:cs typeface="Plus Jakarta Sans ExtraBold"/>
                <a:sym typeface="Plus Jakarta Sans ExtraBold"/>
              </a:rPr>
              <a:t>Indoor Air Quality in Los Angeles County</a:t>
            </a:r>
            <a:endParaRPr b="0" sz="4000">
              <a:solidFill>
                <a:srgbClr val="F8FAFC"/>
              </a:solidFill>
              <a:latin typeface="Plus Jakarta Sans ExtraBold"/>
              <a:ea typeface="Plus Jakarta Sans ExtraBold"/>
              <a:cs typeface="Plus Jakarta Sans ExtraBold"/>
              <a:sym typeface="Plus Jakarta Sans ExtraBold"/>
            </a:endParaRPr>
          </a:p>
        </p:txBody>
      </p:sp>
      <p:sp>
        <p:nvSpPr>
          <p:cNvPr id="88" name="Google Shape;88;p14"/>
          <p:cNvSpPr/>
          <p:nvPr/>
        </p:nvSpPr>
        <p:spPr>
          <a:xfrm>
            <a:off x="762000" y="3219450"/>
            <a:ext cx="533400" cy="38100"/>
          </a:xfrm>
          <a:prstGeom prst="roundRect">
            <a:avLst>
              <a:gd fmla="val 5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 name="Google Shape;89;p14"/>
          <p:cNvSpPr txBox="1"/>
          <p:nvPr/>
        </p:nvSpPr>
        <p:spPr>
          <a:xfrm>
            <a:off x="762000" y="3409950"/>
            <a:ext cx="4953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500">
                <a:solidFill>
                  <a:srgbClr val="94A3B8"/>
                </a:solidFill>
                <a:latin typeface="Plus Jakarta Sans"/>
                <a:ea typeface="Plus Jakarta Sans"/>
                <a:cs typeface="Plus Jakarta Sans"/>
                <a:sym typeface="Plus Jakarta Sans"/>
              </a:rPr>
              <a:t>Environmental Justice, Pollutant Exposure, and Socioeconomic Sensitivity</a:t>
            </a:r>
            <a:endParaRPr b="0" sz="1500">
              <a:solidFill>
                <a:srgbClr val="94A3B8"/>
              </a:solidFill>
              <a:latin typeface="Plus Jakarta Sans"/>
              <a:ea typeface="Plus Jakarta Sans"/>
              <a:cs typeface="Plus Jakarta Sans"/>
              <a:sym typeface="Plus Jakarta Sans"/>
            </a:endParaRPr>
          </a:p>
          <a:p>
            <a:pPr indent="0" lvl="0" marL="0" rtl="0" algn="l">
              <a:spcBef>
                <a:spcPts val="0"/>
              </a:spcBef>
              <a:spcAft>
                <a:spcPts val="0"/>
              </a:spcAft>
              <a:buNone/>
            </a:pPr>
            <a:r>
              <a:t/>
            </a:r>
            <a:endParaRPr sz="1500">
              <a:solidFill>
                <a:srgbClr val="38BDF8"/>
              </a:solidFill>
              <a:latin typeface="Plus Jakarta Sans"/>
              <a:ea typeface="Plus Jakarta Sans"/>
              <a:cs typeface="Plus Jakarta Sans"/>
              <a:sym typeface="Plus Jakarta Sans"/>
            </a:endParaRPr>
          </a:p>
          <a:p>
            <a:pPr indent="0" lvl="0" marL="0" rtl="0" algn="l">
              <a:spcBef>
                <a:spcPts val="0"/>
              </a:spcBef>
              <a:spcAft>
                <a:spcPts val="0"/>
              </a:spcAft>
              <a:buNone/>
            </a:pPr>
            <a:r>
              <a:t/>
            </a:r>
            <a:endParaRPr sz="1500">
              <a:solidFill>
                <a:srgbClr val="94A3B8"/>
              </a:solidFill>
              <a:latin typeface="Plus Jakarta Sans"/>
              <a:ea typeface="Plus Jakarta Sans"/>
              <a:cs typeface="Plus Jakarta Sans"/>
              <a:sym typeface="Plus Jakarta Sans"/>
            </a:endParaRPr>
          </a:p>
        </p:txBody>
      </p:sp>
      <p:sp>
        <p:nvSpPr>
          <p:cNvPr id="90" name="Google Shape;90;p14"/>
          <p:cNvSpPr/>
          <p:nvPr/>
        </p:nvSpPr>
        <p:spPr>
          <a:xfrm>
            <a:off x="762000" y="4524375"/>
            <a:ext cx="4953000" cy="1476300"/>
          </a:xfrm>
          <a:prstGeom prst="roundRect">
            <a:avLst>
              <a:gd fmla="val 10322"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 name="Google Shape;91;p14"/>
          <p:cNvSpPr txBox="1"/>
          <p:nvPr/>
        </p:nvSpPr>
        <p:spPr>
          <a:xfrm>
            <a:off x="990600" y="4714875"/>
            <a:ext cx="44958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38BDF8"/>
                </a:solidFill>
                <a:latin typeface="Plus Jakarta Sans"/>
                <a:ea typeface="Plus Jakarta Sans"/>
                <a:cs typeface="Plus Jakarta Sans"/>
                <a:sym typeface="Plus Jakarta Sans"/>
              </a:rPr>
              <a:t>RESEARCH TEAM</a:t>
            </a:r>
            <a:endParaRPr b="1" sz="1050">
              <a:solidFill>
                <a:srgbClr val="38BDF8"/>
              </a:solidFill>
              <a:latin typeface="Plus Jakarta Sans"/>
              <a:ea typeface="Plus Jakarta Sans"/>
              <a:cs typeface="Plus Jakarta Sans"/>
              <a:sym typeface="Plus Jakarta Sans"/>
            </a:endParaRPr>
          </a:p>
        </p:txBody>
      </p:sp>
      <p:sp>
        <p:nvSpPr>
          <p:cNvPr id="92" name="Google Shape;92;p14"/>
          <p:cNvSpPr txBox="1"/>
          <p:nvPr/>
        </p:nvSpPr>
        <p:spPr>
          <a:xfrm>
            <a:off x="990600" y="5007350"/>
            <a:ext cx="44958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250">
                <a:solidFill>
                  <a:srgbClr val="E2E8F0"/>
                </a:solidFill>
                <a:latin typeface="Plus Jakarta Sans SemiBold"/>
                <a:ea typeface="Plus Jakarta Sans SemiBold"/>
                <a:cs typeface="Plus Jakarta Sans SemiBold"/>
                <a:sym typeface="Plus Jakarta Sans SemiBold"/>
              </a:rPr>
              <a:t>Cynthia Hernandez • Thomas Tran • Jazmine Gonzalez • Arshpreet Kaur • Jasmin Vela</a:t>
            </a:r>
            <a:endParaRPr b="0" sz="1250">
              <a:solidFill>
                <a:srgbClr val="E2E8F0"/>
              </a:solidFill>
              <a:latin typeface="Plus Jakarta Sans SemiBold"/>
              <a:ea typeface="Plus Jakarta Sans SemiBold"/>
              <a:cs typeface="Plus Jakarta Sans SemiBold"/>
              <a:sym typeface="Plus Jakarta Sans SemiBold"/>
            </a:endParaRPr>
          </a:p>
        </p:txBody>
      </p:sp>
      <p:grpSp>
        <p:nvGrpSpPr>
          <p:cNvPr id="93" name="Google Shape;93;p14"/>
          <p:cNvGrpSpPr/>
          <p:nvPr/>
        </p:nvGrpSpPr>
        <p:grpSpPr>
          <a:xfrm>
            <a:off x="6096000" y="762000"/>
            <a:ext cx="5334000" cy="5238900"/>
            <a:chOff x="0" y="0"/>
            <a:chExt cx="5334000" cy="5238900"/>
          </a:xfrm>
        </p:grpSpPr>
        <p:sp>
          <p:nvSpPr>
            <p:cNvPr id="94" name="Google Shape;94;p14"/>
            <p:cNvSpPr/>
            <p:nvPr/>
          </p:nvSpPr>
          <p:spPr>
            <a:xfrm>
              <a:off x="0" y="0"/>
              <a:ext cx="5334000" cy="5238900"/>
            </a:xfrm>
            <a:prstGeom prst="roundRect">
              <a:avLst>
                <a:gd fmla="val 3636"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95" name="Google Shape;95;p14"/>
            <p:cNvPicPr preferRelativeResize="0"/>
            <p:nvPr/>
          </p:nvPicPr>
          <p:blipFill rotWithShape="1">
            <a:blip r:embed="rId4">
              <a:alphaModFix/>
            </a:blip>
            <a:srcRect b="8333" l="19937" r="19720" t="8333"/>
            <a:stretch/>
          </p:blipFill>
          <p:spPr>
            <a:xfrm>
              <a:off x="0" y="0"/>
              <a:ext cx="5334000" cy="5238900"/>
            </a:xfrm>
            <a:prstGeom prst="roundRect">
              <a:avLst>
                <a:gd fmla="val 3636" name="adj"/>
              </a:avLst>
            </a:prstGeom>
            <a:noFill/>
            <a:ln>
              <a:noFill/>
            </a:ln>
          </p:spPr>
        </p:pic>
        <p:sp>
          <p:nvSpPr>
            <p:cNvPr id="96" name="Google Shape;96;p14"/>
            <p:cNvSpPr/>
            <p:nvPr/>
          </p:nvSpPr>
          <p:spPr>
            <a:xfrm>
              <a:off x="190500" y="4667250"/>
              <a:ext cx="2381400" cy="362100"/>
            </a:xfrm>
            <a:prstGeom prst="roundRect">
              <a:avLst>
                <a:gd fmla="val 50000" name="adj"/>
              </a:avLst>
            </a:prstGeom>
            <a:solidFill>
              <a:srgbClr val="0F172A">
                <a:alpha val="8500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4"/>
            <p:cNvSpPr txBox="1"/>
            <p:nvPr/>
          </p:nvSpPr>
          <p:spPr>
            <a:xfrm>
              <a:off x="342900" y="4667250"/>
              <a:ext cx="20955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F8FAFC"/>
                  </a:solidFill>
                  <a:latin typeface="Plus Jakarta Sans"/>
                  <a:ea typeface="Plus Jakarta Sans"/>
                  <a:cs typeface="Plus Jakarta Sans"/>
                  <a:sym typeface="Plus Jakarta Sans"/>
                </a:rPr>
                <a:t>📍 Los Angeles County Map</a:t>
              </a:r>
              <a:endParaRPr b="1" sz="1050">
                <a:solidFill>
                  <a:srgbClr val="F8FAFC"/>
                </a:solidFill>
                <a:latin typeface="Plus Jakarta Sans"/>
                <a:ea typeface="Plus Jakarta Sans"/>
                <a:cs typeface="Plus Jakarta Sans"/>
                <a:sym typeface="Plus Jakarta Sans"/>
              </a:endParaRPr>
            </a:p>
          </p:txBody>
        </p:sp>
      </p:grpSp>
      <p:pic>
        <p:nvPicPr>
          <p:cNvPr id="98" name="Google Shape;98;p14" title="COOP+logo.png"/>
          <p:cNvPicPr preferRelativeResize="0"/>
          <p:nvPr/>
        </p:nvPicPr>
        <p:blipFill>
          <a:blip r:embed="rId5">
            <a:alphaModFix/>
          </a:blip>
          <a:stretch>
            <a:fillRect/>
          </a:stretch>
        </p:blipFill>
        <p:spPr>
          <a:xfrm>
            <a:off x="990600" y="5504200"/>
            <a:ext cx="1323386" cy="496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2" name="Shape 102"/>
        <p:cNvGrpSpPr/>
        <p:nvPr/>
      </p:nvGrpSpPr>
      <p:grpSpPr>
        <a:xfrm>
          <a:off x="0" y="0"/>
          <a:ext cx="0" cy="0"/>
          <a:chOff x="0" y="0"/>
          <a:chExt cx="0" cy="0"/>
        </a:xfrm>
      </p:grpSpPr>
      <p:sp>
        <p:nvSpPr>
          <p:cNvPr id="103" name="Google Shape;103;p15"/>
          <p:cNvSpPr txBox="1"/>
          <p:nvPr/>
        </p:nvSpPr>
        <p:spPr>
          <a:xfrm>
            <a:off x="762000" y="533400"/>
            <a:ext cx="106680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50">
                <a:solidFill>
                  <a:srgbClr val="0284C7"/>
                </a:solidFill>
                <a:latin typeface="Plus Jakarta Sans"/>
                <a:ea typeface="Plus Jakarta Sans"/>
                <a:cs typeface="Plus Jakarta Sans"/>
                <a:sym typeface="Plus Jakarta Sans"/>
              </a:rPr>
              <a:t>RESEARCH TEAM</a:t>
            </a:r>
            <a:endParaRPr b="1" sz="1050">
              <a:solidFill>
                <a:srgbClr val="0284C7"/>
              </a:solidFill>
              <a:latin typeface="Plus Jakarta Sans"/>
              <a:ea typeface="Plus Jakarta Sans"/>
              <a:cs typeface="Plus Jakarta Sans"/>
              <a:sym typeface="Plus Jakarta Sans"/>
            </a:endParaRPr>
          </a:p>
        </p:txBody>
      </p:sp>
      <p:sp>
        <p:nvSpPr>
          <p:cNvPr id="104" name="Google Shape;104;p15"/>
          <p:cNvSpPr txBox="1"/>
          <p:nvPr/>
        </p:nvSpPr>
        <p:spPr>
          <a:xfrm>
            <a:off x="762000" y="781050"/>
            <a:ext cx="10668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700">
                <a:solidFill>
                  <a:srgbClr val="0F172A"/>
                </a:solidFill>
                <a:latin typeface="Plus Jakarta Sans"/>
                <a:ea typeface="Plus Jakarta Sans"/>
                <a:cs typeface="Plus Jakarta Sans"/>
                <a:sym typeface="Plus Jakarta Sans"/>
              </a:rPr>
              <a:t>Meet the Data Analyst Team</a:t>
            </a:r>
            <a:endParaRPr b="1" sz="2700">
              <a:solidFill>
                <a:srgbClr val="0F172A"/>
              </a:solidFill>
              <a:latin typeface="Plus Jakarta Sans"/>
              <a:ea typeface="Plus Jakarta Sans"/>
              <a:cs typeface="Plus Jakarta Sans"/>
              <a:sym typeface="Plus Jakarta Sans"/>
            </a:endParaRPr>
          </a:p>
        </p:txBody>
      </p:sp>
      <p:grpSp>
        <p:nvGrpSpPr>
          <p:cNvPr id="105" name="Google Shape;105;p15"/>
          <p:cNvGrpSpPr/>
          <p:nvPr/>
        </p:nvGrpSpPr>
        <p:grpSpPr>
          <a:xfrm>
            <a:off x="762000" y="1714500"/>
            <a:ext cx="3333900" cy="2190900"/>
            <a:chOff x="0" y="0"/>
            <a:chExt cx="3333900" cy="2190900"/>
          </a:xfrm>
        </p:grpSpPr>
        <p:sp>
          <p:nvSpPr>
            <p:cNvPr id="106" name="Google Shape;106;p15"/>
            <p:cNvSpPr/>
            <p:nvPr/>
          </p:nvSpPr>
          <p:spPr>
            <a:xfrm>
              <a:off x="0" y="0"/>
              <a:ext cx="3333900" cy="2190900"/>
            </a:xfrm>
            <a:prstGeom prst="roundRect">
              <a:avLst>
                <a:gd fmla="val 695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5"/>
            <p:cNvSpPr txBox="1"/>
            <p:nvPr/>
          </p:nvSpPr>
          <p:spPr>
            <a:xfrm>
              <a:off x="228600" y="228600"/>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200">
                  <a:solidFill>
                    <a:srgbClr val="0284C7"/>
                  </a:solidFill>
                  <a:latin typeface="Plus Jakarta Sans"/>
                  <a:ea typeface="Plus Jakarta Sans"/>
                  <a:cs typeface="Plus Jakarta Sans"/>
                  <a:sym typeface="Plus Jakarta Sans"/>
                </a:rPr>
                <a:t>CH</a:t>
              </a:r>
              <a:endParaRPr b="1" sz="2200">
                <a:solidFill>
                  <a:srgbClr val="0284C7"/>
                </a:solidFill>
                <a:latin typeface="Plus Jakarta Sans"/>
                <a:ea typeface="Plus Jakarta Sans"/>
                <a:cs typeface="Plus Jakarta Sans"/>
                <a:sym typeface="Plus Jakarta Sans"/>
              </a:endParaRPr>
            </a:p>
          </p:txBody>
        </p:sp>
        <p:sp>
          <p:nvSpPr>
            <p:cNvPr id="108" name="Google Shape;108;p15"/>
            <p:cNvSpPr txBox="1"/>
            <p:nvPr/>
          </p:nvSpPr>
          <p:spPr>
            <a:xfrm>
              <a:off x="1238250" y="228600"/>
              <a:ext cx="18669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700">
                  <a:solidFill>
                    <a:srgbClr val="0F172A"/>
                  </a:solidFill>
                  <a:latin typeface="Plus Jakarta Sans"/>
                  <a:ea typeface="Plus Jakarta Sans"/>
                  <a:cs typeface="Plus Jakarta Sans"/>
                  <a:sym typeface="Plus Jakarta Sans"/>
                </a:rPr>
                <a:t>Cynthia Hernandez</a:t>
              </a:r>
              <a:endParaRPr b="1" sz="1700">
                <a:solidFill>
                  <a:srgbClr val="0F172A"/>
                </a:solidFill>
                <a:latin typeface="Plus Jakarta Sans"/>
                <a:ea typeface="Plus Jakarta Sans"/>
                <a:cs typeface="Plus Jakarta Sans"/>
                <a:sym typeface="Plus Jakarta Sans"/>
              </a:endParaRPr>
            </a:p>
            <a:p>
              <a:pPr indent="0" lvl="0" marL="0" rtl="0" algn="l">
                <a:spcBef>
                  <a:spcPts val="300"/>
                </a:spcBef>
                <a:spcAft>
                  <a:spcPts val="0"/>
                </a:spcAft>
                <a:buNone/>
              </a:pPr>
              <a:r>
                <a:rPr lang="en-US" sz="1700">
                  <a:solidFill>
                    <a:srgbClr val="0284C7"/>
                  </a:solidFill>
                  <a:latin typeface="Plus Jakarta Sans SemiBold"/>
                  <a:ea typeface="Plus Jakarta Sans SemiBold"/>
                  <a:cs typeface="Plus Jakarta Sans SemiBold"/>
                  <a:sym typeface="Plus Jakarta Sans SemiBold"/>
                </a:rPr>
                <a:t>COOP Fellow</a:t>
              </a:r>
              <a:endParaRPr b="0" sz="1700">
                <a:solidFill>
                  <a:srgbClr val="0284C7"/>
                </a:solidFill>
                <a:latin typeface="Plus Jakarta Sans SemiBold"/>
                <a:ea typeface="Plus Jakarta Sans SemiBold"/>
                <a:cs typeface="Plus Jakarta Sans SemiBold"/>
                <a:sym typeface="Plus Jakarta Sans SemiBold"/>
              </a:endParaRPr>
            </a:p>
            <a:p>
              <a:pPr indent="0" lvl="0" marL="0" rtl="0" algn="l">
                <a:spcBef>
                  <a:spcPts val="600"/>
                </a:spcBef>
                <a:spcAft>
                  <a:spcPts val="0"/>
                </a:spcAft>
                <a:buNone/>
              </a:pPr>
              <a:r>
                <a:t/>
              </a:r>
              <a:endParaRPr b="0" sz="1100">
                <a:solidFill>
                  <a:srgbClr val="475569"/>
                </a:solidFill>
                <a:latin typeface="Plus Jakarta Sans"/>
                <a:ea typeface="Plus Jakarta Sans"/>
                <a:cs typeface="Plus Jakarta Sans"/>
                <a:sym typeface="Plus Jakarta Sans"/>
              </a:endParaRPr>
            </a:p>
          </p:txBody>
        </p:sp>
      </p:grpSp>
      <p:grpSp>
        <p:nvGrpSpPr>
          <p:cNvPr id="109" name="Google Shape;109;p15"/>
          <p:cNvGrpSpPr/>
          <p:nvPr/>
        </p:nvGrpSpPr>
        <p:grpSpPr>
          <a:xfrm>
            <a:off x="4429125" y="1714500"/>
            <a:ext cx="3333900" cy="2190900"/>
            <a:chOff x="0" y="0"/>
            <a:chExt cx="3333900" cy="2190900"/>
          </a:xfrm>
        </p:grpSpPr>
        <p:sp>
          <p:nvSpPr>
            <p:cNvPr id="110" name="Google Shape;110;p15"/>
            <p:cNvSpPr/>
            <p:nvPr/>
          </p:nvSpPr>
          <p:spPr>
            <a:xfrm>
              <a:off x="0" y="0"/>
              <a:ext cx="3333900" cy="2190900"/>
            </a:xfrm>
            <a:prstGeom prst="roundRect">
              <a:avLst>
                <a:gd fmla="val 695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5"/>
            <p:cNvSpPr txBox="1"/>
            <p:nvPr/>
          </p:nvSpPr>
          <p:spPr>
            <a:xfrm>
              <a:off x="228600" y="228600"/>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200">
                  <a:solidFill>
                    <a:srgbClr val="0284C7"/>
                  </a:solidFill>
                  <a:latin typeface="Plus Jakarta Sans"/>
                  <a:ea typeface="Plus Jakarta Sans"/>
                  <a:cs typeface="Plus Jakarta Sans"/>
                  <a:sym typeface="Plus Jakarta Sans"/>
                </a:rPr>
                <a:t>TT</a:t>
              </a:r>
              <a:endParaRPr b="1" sz="2200">
                <a:solidFill>
                  <a:srgbClr val="0284C7"/>
                </a:solidFill>
                <a:latin typeface="Plus Jakarta Sans"/>
                <a:ea typeface="Plus Jakarta Sans"/>
                <a:cs typeface="Plus Jakarta Sans"/>
                <a:sym typeface="Plus Jakarta Sans"/>
              </a:endParaRPr>
            </a:p>
          </p:txBody>
        </p:sp>
        <p:sp>
          <p:nvSpPr>
            <p:cNvPr id="112" name="Google Shape;112;p15"/>
            <p:cNvSpPr txBox="1"/>
            <p:nvPr/>
          </p:nvSpPr>
          <p:spPr>
            <a:xfrm>
              <a:off x="1238250" y="228600"/>
              <a:ext cx="18669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700">
                  <a:solidFill>
                    <a:srgbClr val="0F172A"/>
                  </a:solidFill>
                  <a:latin typeface="Plus Jakarta Sans"/>
                  <a:ea typeface="Plus Jakarta Sans"/>
                  <a:cs typeface="Plus Jakarta Sans"/>
                  <a:sym typeface="Plus Jakarta Sans"/>
                </a:rPr>
                <a:t>Thomas Tran</a:t>
              </a:r>
              <a:endParaRPr b="1" sz="1700">
                <a:solidFill>
                  <a:srgbClr val="0F172A"/>
                </a:solidFill>
                <a:latin typeface="Plus Jakarta Sans"/>
                <a:ea typeface="Plus Jakarta Sans"/>
                <a:cs typeface="Plus Jakarta Sans"/>
                <a:sym typeface="Plus Jakarta Sans"/>
              </a:endParaRPr>
            </a:p>
            <a:p>
              <a:pPr indent="0" lvl="0" marL="0" rtl="0" algn="l">
                <a:spcBef>
                  <a:spcPts val="300"/>
                </a:spcBef>
                <a:spcAft>
                  <a:spcPts val="600"/>
                </a:spcAft>
                <a:buNone/>
              </a:pPr>
              <a:r>
                <a:rPr lang="en-US" sz="1700">
                  <a:solidFill>
                    <a:srgbClr val="0284C7"/>
                  </a:solidFill>
                  <a:latin typeface="Plus Jakarta Sans SemiBold"/>
                  <a:ea typeface="Plus Jakarta Sans SemiBold"/>
                  <a:cs typeface="Plus Jakarta Sans SemiBold"/>
                  <a:sym typeface="Plus Jakarta Sans SemiBold"/>
                </a:rPr>
                <a:t>COOP Fellow</a:t>
              </a:r>
              <a:endParaRPr b="0" sz="1700">
                <a:solidFill>
                  <a:srgbClr val="475569"/>
                </a:solidFill>
                <a:latin typeface="Plus Jakarta Sans"/>
                <a:ea typeface="Plus Jakarta Sans"/>
                <a:cs typeface="Plus Jakarta Sans"/>
                <a:sym typeface="Plus Jakarta Sans"/>
              </a:endParaRPr>
            </a:p>
          </p:txBody>
        </p:sp>
      </p:grpSp>
      <p:grpSp>
        <p:nvGrpSpPr>
          <p:cNvPr id="113" name="Google Shape;113;p15"/>
          <p:cNvGrpSpPr/>
          <p:nvPr/>
        </p:nvGrpSpPr>
        <p:grpSpPr>
          <a:xfrm>
            <a:off x="8096250" y="1714500"/>
            <a:ext cx="3333900" cy="2190900"/>
            <a:chOff x="0" y="0"/>
            <a:chExt cx="3333900" cy="2190900"/>
          </a:xfrm>
        </p:grpSpPr>
        <p:sp>
          <p:nvSpPr>
            <p:cNvPr id="114" name="Google Shape;114;p15"/>
            <p:cNvSpPr/>
            <p:nvPr/>
          </p:nvSpPr>
          <p:spPr>
            <a:xfrm>
              <a:off x="0" y="0"/>
              <a:ext cx="3333900" cy="2190900"/>
            </a:xfrm>
            <a:prstGeom prst="roundRect">
              <a:avLst>
                <a:gd fmla="val 695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5"/>
            <p:cNvSpPr txBox="1"/>
            <p:nvPr/>
          </p:nvSpPr>
          <p:spPr>
            <a:xfrm>
              <a:off x="228600" y="228600"/>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200">
                  <a:solidFill>
                    <a:srgbClr val="0284C7"/>
                  </a:solidFill>
                  <a:latin typeface="Plus Jakarta Sans"/>
                  <a:ea typeface="Plus Jakarta Sans"/>
                  <a:cs typeface="Plus Jakarta Sans"/>
                  <a:sym typeface="Plus Jakarta Sans"/>
                </a:rPr>
                <a:t>JG</a:t>
              </a:r>
              <a:endParaRPr b="1" sz="2200">
                <a:solidFill>
                  <a:srgbClr val="0284C7"/>
                </a:solidFill>
                <a:latin typeface="Plus Jakarta Sans"/>
                <a:ea typeface="Plus Jakarta Sans"/>
                <a:cs typeface="Plus Jakarta Sans"/>
                <a:sym typeface="Plus Jakarta Sans"/>
              </a:endParaRPr>
            </a:p>
          </p:txBody>
        </p:sp>
        <p:sp>
          <p:nvSpPr>
            <p:cNvPr id="116" name="Google Shape;116;p15"/>
            <p:cNvSpPr txBox="1"/>
            <p:nvPr/>
          </p:nvSpPr>
          <p:spPr>
            <a:xfrm>
              <a:off x="1238250" y="228600"/>
              <a:ext cx="18669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700">
                  <a:solidFill>
                    <a:srgbClr val="0F172A"/>
                  </a:solidFill>
                  <a:latin typeface="Plus Jakarta Sans"/>
                  <a:ea typeface="Plus Jakarta Sans"/>
                  <a:cs typeface="Plus Jakarta Sans"/>
                  <a:sym typeface="Plus Jakarta Sans"/>
                </a:rPr>
                <a:t>Jazmine Gonzalez</a:t>
              </a:r>
              <a:endParaRPr b="1" sz="1700">
                <a:solidFill>
                  <a:srgbClr val="0F172A"/>
                </a:solidFill>
                <a:latin typeface="Plus Jakarta Sans"/>
                <a:ea typeface="Plus Jakarta Sans"/>
                <a:cs typeface="Plus Jakarta Sans"/>
                <a:sym typeface="Plus Jakarta Sans"/>
              </a:endParaRPr>
            </a:p>
            <a:p>
              <a:pPr indent="0" lvl="0" marL="0" rtl="0" algn="l">
                <a:spcBef>
                  <a:spcPts val="300"/>
                </a:spcBef>
                <a:spcAft>
                  <a:spcPts val="0"/>
                </a:spcAft>
                <a:buNone/>
              </a:pPr>
              <a:r>
                <a:rPr lang="en-US" sz="1700">
                  <a:solidFill>
                    <a:srgbClr val="0284C7"/>
                  </a:solidFill>
                  <a:latin typeface="Plus Jakarta Sans SemiBold"/>
                  <a:ea typeface="Plus Jakarta Sans SemiBold"/>
                  <a:cs typeface="Plus Jakarta Sans SemiBold"/>
                  <a:sym typeface="Plus Jakarta Sans SemiBold"/>
                </a:rPr>
                <a:t>COOP Fellow </a:t>
              </a:r>
              <a:endParaRPr b="0" sz="1700">
                <a:solidFill>
                  <a:srgbClr val="0284C7"/>
                </a:solidFill>
                <a:latin typeface="Plus Jakarta Sans SemiBold"/>
                <a:ea typeface="Plus Jakarta Sans SemiBold"/>
                <a:cs typeface="Plus Jakarta Sans SemiBold"/>
                <a:sym typeface="Plus Jakarta Sans SemiBold"/>
              </a:endParaRPr>
            </a:p>
            <a:p>
              <a:pPr indent="0" lvl="0" marL="0" rtl="0" algn="l">
                <a:spcBef>
                  <a:spcPts val="600"/>
                </a:spcBef>
                <a:spcAft>
                  <a:spcPts val="0"/>
                </a:spcAft>
                <a:buNone/>
              </a:pPr>
              <a:r>
                <a:t/>
              </a:r>
              <a:endParaRPr b="0" sz="1100">
                <a:solidFill>
                  <a:srgbClr val="475569"/>
                </a:solidFill>
                <a:latin typeface="Plus Jakarta Sans"/>
                <a:ea typeface="Plus Jakarta Sans"/>
                <a:cs typeface="Plus Jakarta Sans"/>
                <a:sym typeface="Plus Jakarta Sans"/>
              </a:endParaRPr>
            </a:p>
          </p:txBody>
        </p:sp>
      </p:grpSp>
      <p:grpSp>
        <p:nvGrpSpPr>
          <p:cNvPr id="117" name="Google Shape;117;p15"/>
          <p:cNvGrpSpPr/>
          <p:nvPr/>
        </p:nvGrpSpPr>
        <p:grpSpPr>
          <a:xfrm>
            <a:off x="2590800" y="4191000"/>
            <a:ext cx="3333900" cy="2190900"/>
            <a:chOff x="0" y="0"/>
            <a:chExt cx="3333900" cy="2190900"/>
          </a:xfrm>
        </p:grpSpPr>
        <p:sp>
          <p:nvSpPr>
            <p:cNvPr id="118" name="Google Shape;118;p15"/>
            <p:cNvSpPr/>
            <p:nvPr/>
          </p:nvSpPr>
          <p:spPr>
            <a:xfrm>
              <a:off x="0" y="0"/>
              <a:ext cx="3333900" cy="2190900"/>
            </a:xfrm>
            <a:prstGeom prst="roundRect">
              <a:avLst>
                <a:gd fmla="val 695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5"/>
            <p:cNvSpPr txBox="1"/>
            <p:nvPr/>
          </p:nvSpPr>
          <p:spPr>
            <a:xfrm>
              <a:off x="1238250" y="228600"/>
              <a:ext cx="18669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500">
                  <a:solidFill>
                    <a:srgbClr val="0F172A"/>
                  </a:solidFill>
                  <a:latin typeface="Plus Jakarta Sans"/>
                  <a:ea typeface="Plus Jakarta Sans"/>
                  <a:cs typeface="Plus Jakarta Sans"/>
                  <a:sym typeface="Plus Jakarta Sans"/>
                </a:rPr>
                <a:t>Arshpreet Kaur</a:t>
              </a:r>
              <a:endParaRPr b="1" sz="1500">
                <a:solidFill>
                  <a:srgbClr val="0F172A"/>
                </a:solidFill>
                <a:latin typeface="Plus Jakarta Sans"/>
                <a:ea typeface="Plus Jakarta Sans"/>
                <a:cs typeface="Plus Jakarta Sans"/>
                <a:sym typeface="Plus Jakarta Sans"/>
              </a:endParaRPr>
            </a:p>
            <a:p>
              <a:pPr indent="0" lvl="0" marL="0" rtl="0" algn="l">
                <a:spcBef>
                  <a:spcPts val="300"/>
                </a:spcBef>
                <a:spcAft>
                  <a:spcPts val="0"/>
                </a:spcAft>
                <a:buNone/>
              </a:pPr>
              <a:r>
                <a:rPr lang="en-US" sz="1700">
                  <a:solidFill>
                    <a:srgbClr val="0284C7"/>
                  </a:solidFill>
                  <a:latin typeface="Plus Jakarta Sans SemiBold"/>
                  <a:ea typeface="Plus Jakarta Sans SemiBold"/>
                  <a:cs typeface="Plus Jakarta Sans SemiBold"/>
                  <a:sym typeface="Plus Jakarta Sans SemiBold"/>
                </a:rPr>
                <a:t>COOP Fellow</a:t>
              </a:r>
              <a:endParaRPr b="0" sz="1700">
                <a:solidFill>
                  <a:srgbClr val="0284C7"/>
                </a:solidFill>
                <a:latin typeface="Plus Jakarta Sans SemiBold"/>
                <a:ea typeface="Plus Jakarta Sans SemiBold"/>
                <a:cs typeface="Plus Jakarta Sans SemiBold"/>
                <a:sym typeface="Plus Jakarta Sans SemiBold"/>
              </a:endParaRPr>
            </a:p>
            <a:p>
              <a:pPr indent="0" lvl="0" marL="0" rtl="0" algn="l">
                <a:spcBef>
                  <a:spcPts val="600"/>
                </a:spcBef>
                <a:spcAft>
                  <a:spcPts val="0"/>
                </a:spcAft>
                <a:buNone/>
              </a:pPr>
              <a:r>
                <a:t/>
              </a:r>
              <a:endParaRPr b="0" sz="1100">
                <a:solidFill>
                  <a:srgbClr val="475569"/>
                </a:solidFill>
                <a:latin typeface="Plus Jakarta Sans"/>
                <a:ea typeface="Plus Jakarta Sans"/>
                <a:cs typeface="Plus Jakarta Sans"/>
                <a:sym typeface="Plus Jakarta Sans"/>
              </a:endParaRPr>
            </a:p>
          </p:txBody>
        </p:sp>
      </p:grpSp>
      <p:grpSp>
        <p:nvGrpSpPr>
          <p:cNvPr id="120" name="Google Shape;120;p15"/>
          <p:cNvGrpSpPr/>
          <p:nvPr/>
        </p:nvGrpSpPr>
        <p:grpSpPr>
          <a:xfrm>
            <a:off x="6257925" y="4191000"/>
            <a:ext cx="3333900" cy="2190900"/>
            <a:chOff x="0" y="0"/>
            <a:chExt cx="3333900" cy="2190900"/>
          </a:xfrm>
        </p:grpSpPr>
        <p:sp>
          <p:nvSpPr>
            <p:cNvPr id="121" name="Google Shape;121;p15"/>
            <p:cNvSpPr/>
            <p:nvPr/>
          </p:nvSpPr>
          <p:spPr>
            <a:xfrm>
              <a:off x="0" y="0"/>
              <a:ext cx="3333900" cy="2190900"/>
            </a:xfrm>
            <a:prstGeom prst="roundRect">
              <a:avLst>
                <a:gd fmla="val 695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5"/>
            <p:cNvSpPr txBox="1"/>
            <p:nvPr/>
          </p:nvSpPr>
          <p:spPr>
            <a:xfrm>
              <a:off x="228600" y="228600"/>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200">
                  <a:solidFill>
                    <a:srgbClr val="0284C7"/>
                  </a:solidFill>
                  <a:latin typeface="Plus Jakarta Sans"/>
                  <a:ea typeface="Plus Jakarta Sans"/>
                  <a:cs typeface="Plus Jakarta Sans"/>
                  <a:sym typeface="Plus Jakarta Sans"/>
                </a:rPr>
                <a:t>JV</a:t>
              </a:r>
              <a:endParaRPr b="1" sz="2200">
                <a:solidFill>
                  <a:srgbClr val="0284C7"/>
                </a:solidFill>
                <a:latin typeface="Plus Jakarta Sans"/>
                <a:ea typeface="Plus Jakarta Sans"/>
                <a:cs typeface="Plus Jakarta Sans"/>
                <a:sym typeface="Plus Jakarta Sans"/>
              </a:endParaRPr>
            </a:p>
          </p:txBody>
        </p:sp>
        <p:sp>
          <p:nvSpPr>
            <p:cNvPr id="123" name="Google Shape;123;p15"/>
            <p:cNvSpPr txBox="1"/>
            <p:nvPr/>
          </p:nvSpPr>
          <p:spPr>
            <a:xfrm>
              <a:off x="1238250" y="228600"/>
              <a:ext cx="18669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700">
                  <a:solidFill>
                    <a:srgbClr val="0F172A"/>
                  </a:solidFill>
                  <a:latin typeface="Plus Jakarta Sans"/>
                  <a:ea typeface="Plus Jakarta Sans"/>
                  <a:cs typeface="Plus Jakarta Sans"/>
                  <a:sym typeface="Plus Jakarta Sans"/>
                </a:rPr>
                <a:t>Jasmin Vela</a:t>
              </a:r>
              <a:endParaRPr b="1" sz="1700">
                <a:solidFill>
                  <a:srgbClr val="0F172A"/>
                </a:solidFill>
                <a:latin typeface="Plus Jakarta Sans"/>
                <a:ea typeface="Plus Jakarta Sans"/>
                <a:cs typeface="Plus Jakarta Sans"/>
                <a:sym typeface="Plus Jakarta Sans"/>
              </a:endParaRPr>
            </a:p>
            <a:p>
              <a:pPr indent="0" lvl="0" marL="0" rtl="0" algn="l">
                <a:spcBef>
                  <a:spcPts val="300"/>
                </a:spcBef>
                <a:spcAft>
                  <a:spcPts val="0"/>
                </a:spcAft>
                <a:buNone/>
              </a:pPr>
              <a:r>
                <a:rPr lang="en-US" sz="1700">
                  <a:solidFill>
                    <a:srgbClr val="0284C7"/>
                  </a:solidFill>
                  <a:latin typeface="Plus Jakarta Sans SemiBold"/>
                  <a:ea typeface="Plus Jakarta Sans SemiBold"/>
                  <a:cs typeface="Plus Jakarta Sans SemiBold"/>
                  <a:sym typeface="Plus Jakarta Sans SemiBold"/>
                </a:rPr>
                <a:t>COOP Fellow</a:t>
              </a:r>
              <a:endParaRPr b="0" sz="1700">
                <a:solidFill>
                  <a:srgbClr val="0284C7"/>
                </a:solidFill>
                <a:latin typeface="Plus Jakarta Sans SemiBold"/>
                <a:ea typeface="Plus Jakarta Sans SemiBold"/>
                <a:cs typeface="Plus Jakarta Sans SemiBold"/>
                <a:sym typeface="Plus Jakarta Sans SemiBold"/>
              </a:endParaRPr>
            </a:p>
            <a:p>
              <a:pPr indent="0" lvl="0" marL="0" rtl="0" algn="l">
                <a:spcBef>
                  <a:spcPts val="600"/>
                </a:spcBef>
                <a:spcAft>
                  <a:spcPts val="0"/>
                </a:spcAft>
                <a:buNone/>
              </a:pPr>
              <a:r>
                <a:t/>
              </a:r>
              <a:endParaRPr b="0" sz="1100">
                <a:solidFill>
                  <a:srgbClr val="475569"/>
                </a:solidFill>
                <a:latin typeface="Plus Jakarta Sans"/>
                <a:ea typeface="Plus Jakarta Sans"/>
                <a:cs typeface="Plus Jakarta Sans"/>
                <a:sym typeface="Plus Jakarta Sans"/>
              </a:endParaRPr>
            </a:p>
          </p:txBody>
        </p:sp>
      </p:grpSp>
      <p:pic>
        <p:nvPicPr>
          <p:cNvPr id="124" name="Google Shape;124;p15" title="Jazmine_Gonzalez_Headshot.jpg"/>
          <p:cNvPicPr preferRelativeResize="0"/>
          <p:nvPr/>
        </p:nvPicPr>
        <p:blipFill>
          <a:blip r:embed="rId4">
            <a:alphaModFix/>
          </a:blip>
          <a:stretch>
            <a:fillRect/>
          </a:stretch>
        </p:blipFill>
        <p:spPr>
          <a:xfrm>
            <a:off x="8451375" y="1969650"/>
            <a:ext cx="675599" cy="1013699"/>
          </a:xfrm>
          <a:prstGeom prst="rect">
            <a:avLst/>
          </a:prstGeom>
          <a:noFill/>
          <a:ln>
            <a:noFill/>
          </a:ln>
        </p:spPr>
      </p:pic>
      <p:pic>
        <p:nvPicPr>
          <p:cNvPr id="125" name="Google Shape;125;p15" title="COOP+logo.png"/>
          <p:cNvPicPr preferRelativeResize="0"/>
          <p:nvPr/>
        </p:nvPicPr>
        <p:blipFill>
          <a:blip r:embed="rId5">
            <a:alphaModFix/>
          </a:blip>
          <a:stretch>
            <a:fillRect/>
          </a:stretch>
        </p:blipFill>
        <p:spPr>
          <a:xfrm>
            <a:off x="318675" y="5952450"/>
            <a:ext cx="1427700" cy="535875"/>
          </a:xfrm>
          <a:prstGeom prst="rect">
            <a:avLst/>
          </a:prstGeom>
          <a:noFill/>
          <a:ln>
            <a:noFill/>
          </a:ln>
        </p:spPr>
      </p:pic>
      <p:pic>
        <p:nvPicPr>
          <p:cNvPr id="126" name="Google Shape;126;p15" title="IMG_2727.jpg"/>
          <p:cNvPicPr preferRelativeResize="0"/>
          <p:nvPr/>
        </p:nvPicPr>
        <p:blipFill rotWithShape="1">
          <a:blip r:embed="rId6">
            <a:alphaModFix/>
          </a:blip>
          <a:srcRect b="15562" l="0" r="9535" t="0"/>
          <a:stretch/>
        </p:blipFill>
        <p:spPr>
          <a:xfrm>
            <a:off x="2791800" y="4431775"/>
            <a:ext cx="864926" cy="962749"/>
          </a:xfrm>
          <a:prstGeom prst="rect">
            <a:avLst/>
          </a:prstGeom>
          <a:noFill/>
          <a:ln>
            <a:noFill/>
          </a:ln>
        </p:spPr>
      </p:pic>
      <p:pic>
        <p:nvPicPr>
          <p:cNvPr id="127" name="Google Shape;127;p15"/>
          <p:cNvPicPr preferRelativeResize="0"/>
          <p:nvPr/>
        </p:nvPicPr>
        <p:blipFill rotWithShape="1">
          <a:blip r:embed="rId7">
            <a:alphaModFix/>
          </a:blip>
          <a:srcRect b="6148" l="18750" r="18750" t="6156"/>
          <a:stretch/>
        </p:blipFill>
        <p:spPr>
          <a:xfrm>
            <a:off x="4604910" y="1969436"/>
            <a:ext cx="864926" cy="101412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p16"/>
          <p:cNvSpPr/>
          <p:nvPr/>
        </p:nvSpPr>
        <p:spPr>
          <a:xfrm>
            <a:off x="698275" y="2392614"/>
            <a:ext cx="2524200" cy="1613400"/>
          </a:xfrm>
          <a:prstGeom prst="roundRect">
            <a:avLst>
              <a:gd fmla="val 7084"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6"/>
          <p:cNvSpPr/>
          <p:nvPr/>
        </p:nvSpPr>
        <p:spPr>
          <a:xfrm>
            <a:off x="3412900" y="2392614"/>
            <a:ext cx="2524200" cy="1613400"/>
          </a:xfrm>
          <a:prstGeom prst="roundRect">
            <a:avLst>
              <a:gd fmla="val 7084"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6"/>
          <p:cNvSpPr/>
          <p:nvPr/>
        </p:nvSpPr>
        <p:spPr>
          <a:xfrm>
            <a:off x="6127525" y="2392614"/>
            <a:ext cx="2524200" cy="1613400"/>
          </a:xfrm>
          <a:prstGeom prst="roundRect">
            <a:avLst>
              <a:gd fmla="val 7084"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16"/>
          <p:cNvSpPr/>
          <p:nvPr/>
        </p:nvSpPr>
        <p:spPr>
          <a:xfrm>
            <a:off x="8842150" y="2392614"/>
            <a:ext cx="2524200" cy="1613400"/>
          </a:xfrm>
          <a:prstGeom prst="roundRect">
            <a:avLst>
              <a:gd fmla="val 7084"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16"/>
          <p:cNvSpPr txBox="1"/>
          <p:nvPr/>
        </p:nvSpPr>
        <p:spPr>
          <a:xfrm>
            <a:off x="762000" y="533400"/>
            <a:ext cx="11430000" cy="17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PROJECT ARCHITECTURE</a:t>
            </a:r>
            <a:endParaRPr/>
          </a:p>
        </p:txBody>
      </p:sp>
      <p:sp>
        <p:nvSpPr>
          <p:cNvPr id="137" name="Google Shape;137;p16"/>
          <p:cNvSpPr txBox="1"/>
          <p:nvPr/>
        </p:nvSpPr>
        <p:spPr>
          <a:xfrm>
            <a:off x="762000" y="781050"/>
            <a:ext cx="114300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Plus Jakarta Sans"/>
                <a:ea typeface="Plus Jakarta Sans"/>
                <a:cs typeface="Plus Jakarta Sans"/>
                <a:sym typeface="Plus Jakarta Sans"/>
              </a:rPr>
              <a:t>The Analytical Framework</a:t>
            </a:r>
            <a:endParaRPr/>
          </a:p>
        </p:txBody>
      </p:sp>
      <p:sp>
        <p:nvSpPr>
          <p:cNvPr id="138" name="Google Shape;138;p16"/>
          <p:cNvSpPr txBox="1"/>
          <p:nvPr/>
        </p:nvSpPr>
        <p:spPr>
          <a:xfrm>
            <a:off x="936400" y="2668839"/>
            <a:ext cx="2559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PHASE 01</a:t>
            </a:r>
            <a:endParaRPr/>
          </a:p>
        </p:txBody>
      </p:sp>
      <p:sp>
        <p:nvSpPr>
          <p:cNvPr id="139" name="Google Shape;139;p16"/>
          <p:cNvSpPr txBox="1"/>
          <p:nvPr/>
        </p:nvSpPr>
        <p:spPr>
          <a:xfrm>
            <a:off x="936400" y="2935539"/>
            <a:ext cx="2687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Insights &amp; Visuals</a:t>
            </a:r>
            <a:endParaRPr/>
          </a:p>
        </p:txBody>
      </p:sp>
      <p:sp>
        <p:nvSpPr>
          <p:cNvPr id="140" name="Google Shape;140;p16"/>
          <p:cNvSpPr txBox="1"/>
          <p:nvPr/>
        </p:nvSpPr>
        <p:spPr>
          <a:xfrm>
            <a:off x="936400" y="3249864"/>
            <a:ext cx="2143200" cy="498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90th percentile baseline data.</a:t>
            </a:r>
            <a:endParaRPr/>
          </a:p>
        </p:txBody>
      </p:sp>
      <p:sp>
        <p:nvSpPr>
          <p:cNvPr id="141" name="Google Shape;141;p16"/>
          <p:cNvSpPr txBox="1"/>
          <p:nvPr/>
        </p:nvSpPr>
        <p:spPr>
          <a:xfrm>
            <a:off x="3651025" y="2668839"/>
            <a:ext cx="2559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PHASE 02</a:t>
            </a:r>
            <a:endParaRPr/>
          </a:p>
        </p:txBody>
      </p:sp>
      <p:sp>
        <p:nvSpPr>
          <p:cNvPr id="142" name="Google Shape;142;p16"/>
          <p:cNvSpPr txBox="1"/>
          <p:nvPr/>
        </p:nvSpPr>
        <p:spPr>
          <a:xfrm>
            <a:off x="3651025" y="2935539"/>
            <a:ext cx="2687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Implications</a:t>
            </a:r>
            <a:endParaRPr/>
          </a:p>
        </p:txBody>
      </p:sp>
      <p:sp>
        <p:nvSpPr>
          <p:cNvPr id="143" name="Google Shape;143;p16"/>
          <p:cNvSpPr txBox="1"/>
          <p:nvPr/>
        </p:nvSpPr>
        <p:spPr>
          <a:xfrm>
            <a:off x="3651025" y="3249864"/>
            <a:ext cx="2143200" cy="498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Socioeconomic and health risks.</a:t>
            </a:r>
            <a:endParaRPr/>
          </a:p>
        </p:txBody>
      </p:sp>
      <p:sp>
        <p:nvSpPr>
          <p:cNvPr id="144" name="Google Shape;144;p16"/>
          <p:cNvSpPr txBox="1"/>
          <p:nvPr/>
        </p:nvSpPr>
        <p:spPr>
          <a:xfrm>
            <a:off x="6365650" y="2668839"/>
            <a:ext cx="2559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PHASE 03</a:t>
            </a:r>
            <a:endParaRPr/>
          </a:p>
        </p:txBody>
      </p:sp>
      <p:sp>
        <p:nvSpPr>
          <p:cNvPr id="145" name="Google Shape;145;p16"/>
          <p:cNvSpPr txBox="1"/>
          <p:nvPr/>
        </p:nvSpPr>
        <p:spPr>
          <a:xfrm>
            <a:off x="6365650" y="2935539"/>
            <a:ext cx="2687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Ideas &amp; Impact</a:t>
            </a:r>
            <a:endParaRPr/>
          </a:p>
        </p:txBody>
      </p:sp>
      <p:sp>
        <p:nvSpPr>
          <p:cNvPr id="146" name="Google Shape;146;p16"/>
          <p:cNvSpPr txBox="1"/>
          <p:nvPr/>
        </p:nvSpPr>
        <p:spPr>
          <a:xfrm>
            <a:off x="6365650" y="3249864"/>
            <a:ext cx="2143200" cy="498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Targeted community solutions.</a:t>
            </a:r>
            <a:endParaRPr/>
          </a:p>
        </p:txBody>
      </p:sp>
      <p:sp>
        <p:nvSpPr>
          <p:cNvPr id="147" name="Google Shape;147;p16"/>
          <p:cNvSpPr txBox="1"/>
          <p:nvPr/>
        </p:nvSpPr>
        <p:spPr>
          <a:xfrm>
            <a:off x="9080275" y="2668839"/>
            <a:ext cx="2559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PHASE 04</a:t>
            </a:r>
            <a:endParaRPr/>
          </a:p>
        </p:txBody>
      </p:sp>
      <p:sp>
        <p:nvSpPr>
          <p:cNvPr id="148" name="Google Shape;148;p16"/>
          <p:cNvSpPr txBox="1"/>
          <p:nvPr/>
        </p:nvSpPr>
        <p:spPr>
          <a:xfrm>
            <a:off x="9080275" y="2935539"/>
            <a:ext cx="2687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Inquiries</a:t>
            </a:r>
            <a:endParaRPr/>
          </a:p>
        </p:txBody>
      </p:sp>
      <p:sp>
        <p:nvSpPr>
          <p:cNvPr id="149" name="Google Shape;149;p16"/>
          <p:cNvSpPr txBox="1"/>
          <p:nvPr/>
        </p:nvSpPr>
        <p:spPr>
          <a:xfrm>
            <a:off x="9080275" y="3249864"/>
            <a:ext cx="2143200" cy="498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Longitudinal data exploration.</a:t>
            </a:r>
            <a:endParaRPr/>
          </a:p>
        </p:txBody>
      </p:sp>
      <p:pic>
        <p:nvPicPr>
          <p:cNvPr id="150" name="Google Shape;150;p16" title="COOP+logo.png"/>
          <p:cNvPicPr preferRelativeResize="0"/>
          <p:nvPr/>
        </p:nvPicPr>
        <p:blipFill>
          <a:blip r:embed="rId3">
            <a:alphaModFix/>
          </a:blip>
          <a:stretch>
            <a:fillRect/>
          </a:stretch>
        </p:blipFill>
        <p:spPr>
          <a:xfrm>
            <a:off x="420075" y="5974975"/>
            <a:ext cx="1435676" cy="538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4" name="Shape 154"/>
        <p:cNvGrpSpPr/>
        <p:nvPr/>
      </p:nvGrpSpPr>
      <p:grpSpPr>
        <a:xfrm>
          <a:off x="0" y="0"/>
          <a:ext cx="0" cy="0"/>
          <a:chOff x="0" y="0"/>
          <a:chExt cx="0" cy="0"/>
        </a:xfrm>
      </p:grpSpPr>
      <p:sp>
        <p:nvSpPr>
          <p:cNvPr id="155" name="Google Shape;155;p17"/>
          <p:cNvSpPr txBox="1"/>
          <p:nvPr/>
        </p:nvSpPr>
        <p:spPr>
          <a:xfrm>
            <a:off x="762000" y="476250"/>
            <a:ext cx="10668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50">
                <a:solidFill>
                  <a:srgbClr val="0284C7"/>
                </a:solidFill>
                <a:latin typeface="Plus Jakarta Sans"/>
                <a:ea typeface="Plus Jakarta Sans"/>
                <a:cs typeface="Plus Jakarta Sans"/>
                <a:sym typeface="Plus Jakarta Sans"/>
              </a:rPr>
              <a:t>BACKGROUND &amp; PURPOSE</a:t>
            </a:r>
            <a:endParaRPr b="1" sz="1050">
              <a:solidFill>
                <a:srgbClr val="0284C7"/>
              </a:solidFill>
              <a:latin typeface="Plus Jakarta Sans"/>
              <a:ea typeface="Plus Jakarta Sans"/>
              <a:cs typeface="Plus Jakarta Sans"/>
              <a:sym typeface="Plus Jakarta Sans"/>
            </a:endParaRPr>
          </a:p>
          <a:p>
            <a:pPr indent="0" lvl="0" marL="0" rtl="0" algn="l">
              <a:spcBef>
                <a:spcPts val="450"/>
              </a:spcBef>
              <a:spcAft>
                <a:spcPts val="0"/>
              </a:spcAft>
              <a:buNone/>
            </a:pPr>
            <a:r>
              <a:rPr lang="en-US" sz="2800">
                <a:solidFill>
                  <a:srgbClr val="0F172A"/>
                </a:solidFill>
                <a:latin typeface="Plus Jakarta Sans ExtraBold"/>
                <a:ea typeface="Plus Jakarta Sans ExtraBold"/>
                <a:cs typeface="Plus Jakarta Sans ExtraBold"/>
                <a:sym typeface="Plus Jakarta Sans ExtraBold"/>
              </a:rPr>
              <a:t>Landscape Background</a:t>
            </a:r>
            <a:r>
              <a:rPr b="0" lang="en-US" sz="2800">
                <a:solidFill>
                  <a:srgbClr val="0F172A"/>
                </a:solidFill>
                <a:latin typeface="Plus Jakarta Sans ExtraBold"/>
                <a:ea typeface="Plus Jakarta Sans ExtraBold"/>
                <a:cs typeface="Plus Jakarta Sans ExtraBold"/>
                <a:sym typeface="Plus Jakarta Sans ExtraBold"/>
              </a:rPr>
              <a:t> &amp; Objective</a:t>
            </a:r>
            <a:endParaRPr b="0" sz="2800">
              <a:solidFill>
                <a:srgbClr val="0F172A"/>
              </a:solidFill>
              <a:latin typeface="Plus Jakarta Sans ExtraBold"/>
              <a:ea typeface="Plus Jakarta Sans ExtraBold"/>
              <a:cs typeface="Plus Jakarta Sans ExtraBold"/>
              <a:sym typeface="Plus Jakarta Sans ExtraBold"/>
            </a:endParaRPr>
          </a:p>
        </p:txBody>
      </p:sp>
      <p:grpSp>
        <p:nvGrpSpPr>
          <p:cNvPr id="156" name="Google Shape;156;p17"/>
          <p:cNvGrpSpPr/>
          <p:nvPr/>
        </p:nvGrpSpPr>
        <p:grpSpPr>
          <a:xfrm>
            <a:off x="762000" y="1428750"/>
            <a:ext cx="5143500" cy="4191000"/>
            <a:chOff x="0" y="0"/>
            <a:chExt cx="5143500" cy="4191000"/>
          </a:xfrm>
        </p:grpSpPr>
        <p:sp>
          <p:nvSpPr>
            <p:cNvPr id="157" name="Google Shape;157;p17"/>
            <p:cNvSpPr/>
            <p:nvPr/>
          </p:nvSpPr>
          <p:spPr>
            <a:xfrm>
              <a:off x="0" y="0"/>
              <a:ext cx="5143500" cy="4191000"/>
            </a:xfrm>
            <a:prstGeom prst="roundRect">
              <a:avLst>
                <a:gd fmla="val 363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17"/>
            <p:cNvSpPr/>
            <p:nvPr/>
          </p:nvSpPr>
          <p:spPr>
            <a:xfrm>
              <a:off x="266700" y="266700"/>
              <a:ext cx="1143000" cy="266700"/>
            </a:xfrm>
            <a:prstGeom prst="roundRect">
              <a:avLst>
                <a:gd fmla="val 50000" name="adj"/>
              </a:avLst>
            </a:prstGeom>
            <a:solidFill>
              <a:srgbClr val="0284C7">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7"/>
            <p:cNvSpPr txBox="1"/>
            <p:nvPr/>
          </p:nvSpPr>
          <p:spPr>
            <a:xfrm>
              <a:off x="266700" y="266700"/>
              <a:ext cx="11430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0284C7"/>
                  </a:solidFill>
                  <a:latin typeface="Plus Jakarta Sans"/>
                  <a:ea typeface="Plus Jakarta Sans"/>
                  <a:cs typeface="Plus Jakarta Sans"/>
                  <a:sym typeface="Plus Jakarta Sans"/>
                </a:rPr>
                <a:t>01 • Background</a:t>
              </a:r>
              <a:endParaRPr b="1" sz="1000">
                <a:solidFill>
                  <a:srgbClr val="0284C7"/>
                </a:solidFill>
                <a:latin typeface="Plus Jakarta Sans"/>
                <a:ea typeface="Plus Jakarta Sans"/>
                <a:cs typeface="Plus Jakarta Sans"/>
                <a:sym typeface="Plus Jakarta Sans"/>
              </a:endParaRPr>
            </a:p>
          </p:txBody>
        </p:sp>
        <p:sp>
          <p:nvSpPr>
            <p:cNvPr id="160" name="Google Shape;160;p17"/>
            <p:cNvSpPr txBox="1"/>
            <p:nvPr/>
          </p:nvSpPr>
          <p:spPr>
            <a:xfrm>
              <a:off x="266700" y="704850"/>
              <a:ext cx="4610100" cy="3238500"/>
            </a:xfrm>
            <a:prstGeom prst="rect">
              <a:avLst/>
            </a:prstGeom>
            <a:noFill/>
            <a:ln>
              <a:noFill/>
            </a:ln>
          </p:spPr>
          <p:txBody>
            <a:bodyPr anchorCtr="0" anchor="ctr" bIns="0" lIns="0" spcFirstLastPara="1" rIns="0" wrap="square" tIns="0">
              <a:noAutofit/>
            </a:bodyPr>
            <a:lstStyle/>
            <a:p>
              <a:pPr indent="0" lvl="0" marL="0" rtl="0" algn="l">
                <a:spcBef>
                  <a:spcPts val="600"/>
                </a:spcBef>
                <a:spcAft>
                  <a:spcPts val="0"/>
                </a:spcAft>
                <a:buNone/>
              </a:pPr>
              <a:r>
                <a:rPr b="0" lang="en-US" sz="3600">
                  <a:solidFill>
                    <a:srgbClr val="0F172A"/>
                  </a:solidFill>
                  <a:latin typeface="Plus Jakarta Sans ExtraBold"/>
                  <a:ea typeface="Plus Jakarta Sans ExtraBold"/>
                  <a:cs typeface="Plus Jakarta Sans ExtraBold"/>
                  <a:sym typeface="Plus Jakarta Sans ExtraBold"/>
                </a:rPr>
                <a:t>10M</a:t>
              </a:r>
              <a:r>
                <a:rPr lang="en-US">
                  <a:latin typeface="Plus Jakarta Sans"/>
                  <a:ea typeface="Plus Jakarta Sans"/>
                  <a:cs typeface="Plus Jakarta Sans"/>
                  <a:sym typeface="Plus Jakarta Sans"/>
                </a:rPr>
                <a:t> </a:t>
              </a:r>
              <a:r>
                <a:rPr b="0" lang="en-US" sz="1200">
                  <a:solidFill>
                    <a:srgbClr val="475569"/>
                  </a:solidFill>
                  <a:latin typeface="Plus Jakarta Sans SemiBold"/>
                  <a:ea typeface="Plus Jakarta Sans SemiBold"/>
                  <a:cs typeface="Plus Jakarta Sans SemiBold"/>
                  <a:sym typeface="Plus Jakarta Sans SemiBold"/>
                </a:rPr>
                <a:t>Estimated LA County Population</a:t>
              </a:r>
              <a:br>
                <a:rPr b="0" lang="en-US" sz="1200">
                  <a:solidFill>
                    <a:srgbClr val="475569"/>
                  </a:solidFill>
                  <a:latin typeface="Plus Jakarta Sans SemiBold"/>
                  <a:ea typeface="Plus Jakarta Sans SemiBold"/>
                  <a:cs typeface="Plus Jakarta Sans SemiBold"/>
                  <a:sym typeface="Plus Jakarta Sans SemiBold"/>
                </a:rPr>
              </a:br>
              <a:r>
                <a:rPr b="0" lang="en-US" sz="1000">
                  <a:solidFill>
                    <a:srgbClr val="64748B"/>
                  </a:solidFill>
                  <a:latin typeface="Plus Jakarta Sans"/>
                  <a:ea typeface="Plus Jakarta Sans"/>
                  <a:cs typeface="Plus Jakarta Sans"/>
                  <a:sym typeface="Plus Jakarta Sans"/>
                </a:rPr>
                <a:t>Largest county in California</a:t>
              </a:r>
              <a:endParaRPr>
                <a:latin typeface="Plus Jakarta Sans"/>
                <a:ea typeface="Plus Jakarta Sans"/>
                <a:cs typeface="Plus Jakarta Sans"/>
                <a:sym typeface="Plus Jakarta Sans"/>
              </a:endParaRPr>
            </a:p>
            <a:p>
              <a:pPr indent="0" lvl="0" marL="0" rtl="0" algn="l">
                <a:spcBef>
                  <a:spcPts val="900"/>
                </a:spcBef>
                <a:spcAft>
                  <a:spcPts val="0"/>
                </a:spcAft>
                <a:buNone/>
              </a:pPr>
              <a:r>
                <a:rPr b="1" lang="en-US" sz="1000">
                  <a:solidFill>
                    <a:srgbClr val="0284C7"/>
                  </a:solidFill>
                  <a:latin typeface="Plus Jakarta Sans"/>
                  <a:ea typeface="Plus Jakarta Sans"/>
                  <a:cs typeface="Plus Jakarta Sans"/>
                  <a:sym typeface="Plus Jakarta Sans"/>
                </a:rPr>
                <a:t>Environmental Factor</a:t>
              </a:r>
              <a:endParaRPr b="1" sz="100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1300">
                  <a:solidFill>
                    <a:srgbClr val="1E293B"/>
                  </a:solidFill>
                  <a:highlight>
                    <a:srgbClr val="F1F5F9"/>
                  </a:highlight>
                  <a:latin typeface="Plus Jakarta Sans SemiBold"/>
                  <a:ea typeface="Plus Jakarta Sans SemiBold"/>
                  <a:cs typeface="Plus Jakarta Sans SemiBold"/>
                  <a:sym typeface="Plus Jakarta Sans SemiBold"/>
                </a:rPr>
                <a:t>Indoor Air Quality Exposure</a:t>
              </a:r>
              <a:endParaRPr b="0" sz="1300">
                <a:solidFill>
                  <a:srgbClr val="1E293B"/>
                </a:solidFill>
                <a:highlight>
                  <a:srgbClr val="F1F5F9"/>
                </a:highlight>
                <a:latin typeface="Plus Jakarta Sans SemiBold"/>
                <a:ea typeface="Plus Jakarta Sans SemiBold"/>
                <a:cs typeface="Plus Jakarta Sans SemiBold"/>
                <a:sym typeface="Plus Jakarta Sans SemiBold"/>
              </a:endParaRPr>
            </a:p>
            <a:p>
              <a:pPr indent="0" lvl="0" marL="0" rtl="0" algn="l">
                <a:spcBef>
                  <a:spcPts val="300"/>
                </a:spcBef>
                <a:spcAft>
                  <a:spcPts val="0"/>
                </a:spcAft>
                <a:buNone/>
              </a:pPr>
              <a:r>
                <a:rPr lang="en-US" sz="1050">
                  <a:solidFill>
                    <a:srgbClr val="475569"/>
                  </a:solidFill>
                  <a:highlight>
                    <a:srgbClr val="F1F5F9"/>
                  </a:highlight>
                  <a:latin typeface="Plus Jakarta Sans"/>
                  <a:ea typeface="Plus Jakarta Sans"/>
                  <a:cs typeface="Plus Jakarta Sans"/>
                  <a:sym typeface="Plus Jakarta Sans"/>
                </a:rPr>
                <a:t>Disparities in air quality affect millions across various municipal jurisdictions.</a:t>
              </a:r>
              <a:endParaRPr sz="1050">
                <a:solidFill>
                  <a:srgbClr val="475569"/>
                </a:solidFill>
                <a:highlight>
                  <a:srgbClr val="F1F5F9"/>
                </a:highlight>
                <a:latin typeface="Plus Jakarta Sans"/>
                <a:ea typeface="Plus Jakarta Sans"/>
                <a:cs typeface="Plus Jakarta Sans"/>
                <a:sym typeface="Plus Jakarta Sans"/>
              </a:endParaRPr>
            </a:p>
            <a:p>
              <a:pPr indent="0" lvl="0" marL="0" rtl="0" algn="l">
                <a:spcBef>
                  <a:spcPts val="1200"/>
                </a:spcBef>
                <a:spcAft>
                  <a:spcPts val="0"/>
                </a:spcAft>
                <a:buNone/>
              </a:pPr>
              <a:r>
                <a:rPr b="1" lang="en-US" sz="1000">
                  <a:solidFill>
                    <a:srgbClr val="FFFFFF"/>
                  </a:solidFill>
                  <a:latin typeface="Plus Jakarta Sans"/>
                  <a:ea typeface="Plus Jakarta Sans"/>
                  <a:cs typeface="Plus Jakarta Sans"/>
                  <a:sym typeface="Plus Jakarta Sans"/>
                </a:rPr>
                <a:t>Key Research Question</a:t>
              </a:r>
              <a:endParaRPr b="1" sz="1000">
                <a:solidFill>
                  <a:srgbClr val="FFFFFF"/>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1200">
                  <a:solidFill>
                    <a:srgbClr val="FFFFFF"/>
                  </a:solidFill>
                  <a:latin typeface="Plus Jakarta Sans SemiBold"/>
                  <a:ea typeface="Plus Jakarta Sans SemiBold"/>
                  <a:cs typeface="Plus Jakarta Sans SemiBold"/>
                  <a:sym typeface="Plus Jakarta Sans SemiBold"/>
                </a:rPr>
                <a:t>Which counties, cities, or unincorporated areas are the most affected?</a:t>
              </a:r>
              <a:endParaRPr b="0" sz="1200">
                <a:solidFill>
                  <a:srgbClr val="FFFFFF"/>
                </a:solidFill>
                <a:latin typeface="Plus Jakarta Sans SemiBold"/>
                <a:ea typeface="Plus Jakarta Sans SemiBold"/>
                <a:cs typeface="Plus Jakarta Sans SemiBold"/>
                <a:sym typeface="Plus Jakarta Sans SemiBold"/>
              </a:endParaRPr>
            </a:p>
          </p:txBody>
        </p:sp>
      </p:grpSp>
      <p:grpSp>
        <p:nvGrpSpPr>
          <p:cNvPr id="161" name="Google Shape;161;p17"/>
          <p:cNvGrpSpPr/>
          <p:nvPr/>
        </p:nvGrpSpPr>
        <p:grpSpPr>
          <a:xfrm>
            <a:off x="6286500" y="1428750"/>
            <a:ext cx="5143500" cy="4191000"/>
            <a:chOff x="0" y="0"/>
            <a:chExt cx="5143500" cy="4191000"/>
          </a:xfrm>
        </p:grpSpPr>
        <p:sp>
          <p:nvSpPr>
            <p:cNvPr id="162" name="Google Shape;162;p17"/>
            <p:cNvSpPr/>
            <p:nvPr/>
          </p:nvSpPr>
          <p:spPr>
            <a:xfrm>
              <a:off x="0" y="0"/>
              <a:ext cx="5143500" cy="4191000"/>
            </a:xfrm>
            <a:prstGeom prst="roundRect">
              <a:avLst>
                <a:gd fmla="val 363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7"/>
            <p:cNvSpPr/>
            <p:nvPr/>
          </p:nvSpPr>
          <p:spPr>
            <a:xfrm>
              <a:off x="266700" y="266700"/>
              <a:ext cx="1238400" cy="266700"/>
            </a:xfrm>
            <a:prstGeom prst="roundRect">
              <a:avLst>
                <a:gd fmla="val 50000" name="adj"/>
              </a:avLst>
            </a:prstGeom>
            <a:solidFill>
              <a:srgbClr val="0EA5E9">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7"/>
            <p:cNvSpPr txBox="1"/>
            <p:nvPr/>
          </p:nvSpPr>
          <p:spPr>
            <a:xfrm>
              <a:off x="266700" y="266700"/>
              <a:ext cx="12384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0EA5E9"/>
                  </a:solidFill>
                  <a:latin typeface="Plus Jakarta Sans"/>
                  <a:ea typeface="Plus Jakarta Sans"/>
                  <a:cs typeface="Plus Jakarta Sans"/>
                  <a:sym typeface="Plus Jakarta Sans"/>
                </a:rPr>
                <a:t>02 • OBJECTIVE</a:t>
              </a:r>
              <a:endParaRPr b="1" sz="1000">
                <a:solidFill>
                  <a:srgbClr val="0EA5E9"/>
                </a:solidFill>
                <a:latin typeface="Plus Jakarta Sans"/>
                <a:ea typeface="Plus Jakarta Sans"/>
                <a:cs typeface="Plus Jakarta Sans"/>
                <a:sym typeface="Plus Jakarta Sans"/>
              </a:endParaRPr>
            </a:p>
          </p:txBody>
        </p:sp>
        <p:sp>
          <p:nvSpPr>
            <p:cNvPr id="165" name="Google Shape;165;p17"/>
            <p:cNvSpPr txBox="1"/>
            <p:nvPr/>
          </p:nvSpPr>
          <p:spPr>
            <a:xfrm>
              <a:off x="266700" y="704850"/>
              <a:ext cx="46101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0EA5E9"/>
                  </a:solidFill>
                  <a:latin typeface="Plus Jakarta Sans"/>
                  <a:ea typeface="Plus Jakarta Sans"/>
                  <a:cs typeface="Plus Jakarta Sans"/>
                  <a:sym typeface="Plus Jakarta Sans"/>
                </a:rPr>
                <a:t>Analytical Focus</a:t>
              </a:r>
              <a:endParaRPr b="1" sz="1000">
                <a:solidFill>
                  <a:srgbClr val="0EA5E9"/>
                </a:solidFill>
                <a:latin typeface="Plus Jakarta Sans"/>
                <a:ea typeface="Plus Jakarta Sans"/>
                <a:cs typeface="Plus Jakarta Sans"/>
                <a:sym typeface="Plus Jakarta Sans"/>
              </a:endParaRPr>
            </a:p>
            <a:p>
              <a:pPr indent="0" lvl="0" marL="0" rtl="0" algn="l">
                <a:spcBef>
                  <a:spcPts val="300"/>
                </a:spcBef>
                <a:spcAft>
                  <a:spcPts val="0"/>
                </a:spcAft>
                <a:buNone/>
              </a:pPr>
              <a:r>
                <a:rPr b="1" lang="en-US" sz="1400">
                  <a:solidFill>
                    <a:srgbClr val="0F172A"/>
                  </a:solidFill>
                  <a:latin typeface="Plus Jakarta Sans"/>
                  <a:ea typeface="Plus Jakarta Sans"/>
                  <a:cs typeface="Plus Jakarta Sans"/>
                  <a:sym typeface="Plus Jakarta Sans"/>
                </a:rPr>
                <a:t>LA County 90th Percentile Indoor Quality Index</a:t>
              </a:r>
              <a:endParaRPr b="1" sz="1400">
                <a:solidFill>
                  <a:srgbClr val="0F172A"/>
                </a:solidFill>
                <a:latin typeface="Plus Jakarta Sans"/>
                <a:ea typeface="Plus Jakarta Sans"/>
                <a:cs typeface="Plus Jakarta Sans"/>
                <a:sym typeface="Plus Jakarta Sans"/>
              </a:endParaRPr>
            </a:p>
            <a:p>
              <a:pPr indent="0" lvl="0" marL="0" rtl="0" algn="l">
                <a:spcBef>
                  <a:spcPts val="750"/>
                </a:spcBef>
                <a:spcAft>
                  <a:spcPts val="0"/>
                </a:spcAft>
                <a:buNone/>
              </a:pPr>
              <a:r>
                <a:rPr lang="en-US" sz="1100">
                  <a:solidFill>
                    <a:srgbClr val="475569"/>
                  </a:solidFill>
                  <a:latin typeface="Plus Jakarta Sans"/>
                  <a:ea typeface="Plus Jakarta Sans"/>
                  <a:cs typeface="Plus Jakarta Sans"/>
                  <a:sym typeface="Plus Jakarta Sans"/>
                </a:rPr>
                <a:t>Identifying which populations within LA County are most severely impacted and quantifying the long-term health and socioeconomic burdens.</a:t>
              </a:r>
              <a:endParaRPr sz="1100">
                <a:solidFill>
                  <a:srgbClr val="475569"/>
                </a:solidFill>
                <a:latin typeface="Plus Jakarta Sans"/>
                <a:ea typeface="Plus Jakarta Sans"/>
                <a:cs typeface="Plus Jakarta Sans"/>
                <a:sym typeface="Plus Jakarta Sans"/>
              </a:endParaRPr>
            </a:p>
          </p:txBody>
        </p:sp>
      </p:grpSp>
      <p:pic>
        <p:nvPicPr>
          <p:cNvPr id="166" name="Google Shape;166;p17"/>
          <p:cNvPicPr preferRelativeResize="0"/>
          <p:nvPr/>
        </p:nvPicPr>
        <p:blipFill rotWithShape="1">
          <a:blip r:embed="rId4">
            <a:alphaModFix/>
          </a:blip>
          <a:srcRect b="31407" l="0" r="0" t="31403"/>
          <a:stretch/>
        </p:blipFill>
        <p:spPr>
          <a:xfrm>
            <a:off x="6553200" y="3714750"/>
            <a:ext cx="4610100" cy="1714500"/>
          </a:xfrm>
          <a:prstGeom prst="rect">
            <a:avLst/>
          </a:prstGeom>
          <a:noFill/>
          <a:ln>
            <a:noFill/>
          </a:ln>
        </p:spPr>
      </p:pic>
      <p:pic>
        <p:nvPicPr>
          <p:cNvPr id="167" name="Google Shape;167;p17"/>
          <p:cNvPicPr preferRelativeResize="0"/>
          <p:nvPr/>
        </p:nvPicPr>
        <p:blipFill rotWithShape="1">
          <a:blip r:embed="rId5">
            <a:alphaModFix/>
          </a:blip>
          <a:srcRect b="2417" l="0" r="0" t="2426"/>
          <a:stretch/>
        </p:blipFill>
        <p:spPr>
          <a:xfrm>
            <a:off x="762000" y="5905500"/>
            <a:ext cx="1333500" cy="476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71" name="Shape 171"/>
        <p:cNvGrpSpPr/>
        <p:nvPr/>
      </p:nvGrpSpPr>
      <p:grpSpPr>
        <a:xfrm>
          <a:off x="0" y="0"/>
          <a:ext cx="0" cy="0"/>
          <a:chOff x="0" y="0"/>
          <a:chExt cx="0" cy="0"/>
        </a:xfrm>
      </p:grpSpPr>
      <p:sp>
        <p:nvSpPr>
          <p:cNvPr id="172" name="Google Shape;172;p18"/>
          <p:cNvSpPr/>
          <p:nvPr/>
        </p:nvSpPr>
        <p:spPr>
          <a:xfrm>
            <a:off x="7172050" y="1689727"/>
            <a:ext cx="4553100" cy="2604000"/>
          </a:xfrm>
          <a:prstGeom prst="roundRect">
            <a:avLst>
              <a:gd fmla="val 5852"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8"/>
          <p:cNvSpPr txBox="1"/>
          <p:nvPr/>
        </p:nvSpPr>
        <p:spPr>
          <a:xfrm>
            <a:off x="762000" y="533400"/>
            <a:ext cx="114300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CONTEXT &amp; SCOPE</a:t>
            </a:r>
            <a:endParaRPr/>
          </a:p>
        </p:txBody>
      </p:sp>
      <p:sp>
        <p:nvSpPr>
          <p:cNvPr id="174" name="Google Shape;174;p18"/>
          <p:cNvSpPr txBox="1"/>
          <p:nvPr/>
        </p:nvSpPr>
        <p:spPr>
          <a:xfrm>
            <a:off x="762000" y="781050"/>
            <a:ext cx="11430000" cy="428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Plus Jakarta Sans"/>
                <a:ea typeface="Plus Jakarta Sans"/>
                <a:cs typeface="Plus Jakarta Sans"/>
                <a:sym typeface="Plus Jakarta Sans"/>
              </a:rPr>
              <a:t>Problem Statement &amp; Research Questions</a:t>
            </a:r>
            <a:endParaRPr/>
          </a:p>
        </p:txBody>
      </p:sp>
      <p:sp>
        <p:nvSpPr>
          <p:cNvPr id="175" name="Google Shape;175;p18"/>
          <p:cNvSpPr txBox="1"/>
          <p:nvPr/>
        </p:nvSpPr>
        <p:spPr>
          <a:xfrm>
            <a:off x="762000" y="1524848"/>
            <a:ext cx="6160800" cy="300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US" sz="1950">
                <a:solidFill>
                  <a:srgbClr val="1E293B"/>
                </a:solidFill>
                <a:latin typeface="Plus Jakarta Sans"/>
                <a:ea typeface="Plus Jakarta Sans"/>
                <a:cs typeface="Plus Jakarta Sans"/>
                <a:sym typeface="Plus Jakarta Sans"/>
              </a:rPr>
              <a:t>Questions</a:t>
            </a:r>
            <a:endParaRPr/>
          </a:p>
        </p:txBody>
      </p:sp>
      <p:sp>
        <p:nvSpPr>
          <p:cNvPr id="176" name="Google Shape;176;p18"/>
          <p:cNvSpPr txBox="1"/>
          <p:nvPr/>
        </p:nvSpPr>
        <p:spPr>
          <a:xfrm>
            <a:off x="7524475" y="2042152"/>
            <a:ext cx="48102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64748B"/>
                </a:solidFill>
                <a:latin typeface="Plus Jakarta Sans"/>
                <a:ea typeface="Plus Jakarta Sans"/>
                <a:cs typeface="Plus Jakarta Sans"/>
                <a:sym typeface="Plus Jakarta Sans"/>
              </a:rPr>
              <a:t>ANALYSIS BASELINE</a:t>
            </a:r>
            <a:endParaRPr/>
          </a:p>
        </p:txBody>
      </p:sp>
      <p:sp>
        <p:nvSpPr>
          <p:cNvPr id="177" name="Google Shape;177;p18"/>
          <p:cNvSpPr txBox="1"/>
          <p:nvPr/>
        </p:nvSpPr>
        <p:spPr>
          <a:xfrm>
            <a:off x="7524475" y="2327902"/>
            <a:ext cx="4810200" cy="877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5700" u="none" cap="none" strike="noStrike">
                <a:solidFill>
                  <a:srgbClr val="0284C7"/>
                </a:solidFill>
                <a:latin typeface="Plus Jakarta Sans"/>
                <a:ea typeface="Plus Jakarta Sans"/>
                <a:cs typeface="Plus Jakarta Sans"/>
                <a:sym typeface="Plus Jakarta Sans"/>
              </a:rPr>
              <a:t>246</a:t>
            </a:r>
            <a:endParaRPr/>
          </a:p>
        </p:txBody>
      </p:sp>
      <p:sp>
        <p:nvSpPr>
          <p:cNvPr id="178" name="Google Shape;178;p18"/>
          <p:cNvSpPr txBox="1"/>
          <p:nvPr/>
        </p:nvSpPr>
        <p:spPr>
          <a:xfrm>
            <a:off x="7524475" y="3166102"/>
            <a:ext cx="48102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High-Risk Communities</a:t>
            </a:r>
            <a:endParaRPr/>
          </a:p>
        </p:txBody>
      </p:sp>
      <p:sp>
        <p:nvSpPr>
          <p:cNvPr id="179" name="Google Shape;179;p18"/>
          <p:cNvSpPr txBox="1"/>
          <p:nvPr/>
        </p:nvSpPr>
        <p:spPr>
          <a:xfrm>
            <a:off x="7524475" y="3461377"/>
            <a:ext cx="3943200" cy="498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64748B"/>
                </a:solidFill>
                <a:latin typeface="Plus Jakarta Sans"/>
                <a:ea typeface="Plus Jakarta Sans"/>
                <a:cs typeface="Plus Jakarta Sans"/>
                <a:sym typeface="Plus Jakarta Sans"/>
              </a:rPr>
              <a:t>Focusing on the 90th percentile of IAQ sensitivity across LA County.</a:t>
            </a:r>
            <a:endParaRPr/>
          </a:p>
        </p:txBody>
      </p:sp>
      <p:sp>
        <p:nvSpPr>
          <p:cNvPr id="180" name="Google Shape;180;p18"/>
          <p:cNvSpPr txBox="1"/>
          <p:nvPr/>
        </p:nvSpPr>
        <p:spPr>
          <a:xfrm>
            <a:off x="645250" y="3390625"/>
            <a:ext cx="57774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t>Geography: </a:t>
            </a:r>
            <a:r>
              <a:rPr lang="en-US"/>
              <a:t>Los Angeles County</a:t>
            </a:r>
            <a:endParaRPr/>
          </a:p>
          <a:p>
            <a:pPr indent="0" lvl="0" marL="0" rtl="0" algn="l">
              <a:spcBef>
                <a:spcPts val="0"/>
              </a:spcBef>
              <a:spcAft>
                <a:spcPts val="0"/>
              </a:spcAft>
              <a:buNone/>
            </a:pPr>
            <a:r>
              <a:rPr b="1" lang="en-US"/>
              <a:t>Baseline:</a:t>
            </a:r>
            <a:r>
              <a:rPr lang="en-US"/>
              <a:t> 90th-percentile IAQ sensitivity; 246 high-risk communities, as identified in our current analysis</a:t>
            </a:r>
            <a:endParaRPr/>
          </a:p>
          <a:p>
            <a:pPr indent="0" lvl="0" marL="0" rtl="0" algn="l">
              <a:spcBef>
                <a:spcPts val="0"/>
              </a:spcBef>
              <a:spcAft>
                <a:spcPts val="0"/>
              </a:spcAft>
              <a:buNone/>
            </a:pPr>
            <a:r>
              <a:rPr b="1" lang="en-US"/>
              <a:t>Measures: </a:t>
            </a:r>
            <a:r>
              <a:rPr lang="en-US"/>
              <a:t>Pollutant indicators, population health, housing, and socioeconomic factors</a:t>
            </a:r>
            <a:endParaRPr/>
          </a:p>
          <a:p>
            <a:pPr indent="0" lvl="0" marL="0" rtl="0" algn="l">
              <a:spcBef>
                <a:spcPts val="0"/>
              </a:spcBef>
              <a:spcAft>
                <a:spcPts val="0"/>
              </a:spcAft>
              <a:buNone/>
            </a:pPr>
            <a:r>
              <a:rPr b="1" lang="en-US"/>
              <a:t>Approach: </a:t>
            </a:r>
            <a:r>
              <a:rPr lang="en-US"/>
              <a:t>Compare community-level patterns and overlapping indicators to identify areas for further investigation.</a:t>
            </a:r>
            <a:endParaRPr/>
          </a:p>
        </p:txBody>
      </p:sp>
      <p:sp>
        <p:nvSpPr>
          <p:cNvPr id="181" name="Google Shape;181;p18"/>
          <p:cNvSpPr txBox="1"/>
          <p:nvPr/>
        </p:nvSpPr>
        <p:spPr>
          <a:xfrm>
            <a:off x="762000" y="1825125"/>
            <a:ext cx="6410100" cy="13707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lang="en-US" sz="1350">
                <a:solidFill>
                  <a:srgbClr val="0F172A"/>
                </a:solidFill>
                <a:latin typeface="Plus Jakarta Sans"/>
                <a:ea typeface="Plus Jakarta Sans"/>
                <a:cs typeface="Plus Jakarta Sans"/>
                <a:sym typeface="Plus Jakarta Sans"/>
              </a:rPr>
              <a:t>Why do certain areas in  LA have poor indoor air quality?</a:t>
            </a:r>
            <a:endParaRPr b="1" sz="1350">
              <a:solidFill>
                <a:srgbClr val="0F172A"/>
              </a:solidFill>
              <a:latin typeface="Plus Jakarta Sans"/>
              <a:ea typeface="Plus Jakarta Sans"/>
              <a:cs typeface="Plus Jakarta Sans"/>
              <a:sym typeface="Plus Jakarta Sans"/>
            </a:endParaRPr>
          </a:p>
          <a:p>
            <a:pPr indent="0" lvl="0" marL="0" marR="0" rtl="0" algn="l">
              <a:lnSpc>
                <a:spcPct val="139925"/>
              </a:lnSpc>
              <a:spcBef>
                <a:spcPts val="0"/>
              </a:spcBef>
              <a:spcAft>
                <a:spcPts val="0"/>
              </a:spcAft>
              <a:buNone/>
            </a:pPr>
            <a:r>
              <a:t/>
            </a:r>
            <a:endParaRPr b="1" sz="1350">
              <a:solidFill>
                <a:srgbClr val="0F172A"/>
              </a:solidFill>
              <a:latin typeface="Plus Jakarta Sans"/>
              <a:ea typeface="Plus Jakarta Sans"/>
              <a:cs typeface="Plus Jakarta Sans"/>
              <a:sym typeface="Plus Jakarta Sans"/>
            </a:endParaRPr>
          </a:p>
          <a:p>
            <a:pPr indent="0" lvl="0" marL="0" marR="0" rtl="0" algn="l">
              <a:lnSpc>
                <a:spcPct val="139925"/>
              </a:lnSpc>
              <a:spcBef>
                <a:spcPts val="0"/>
              </a:spcBef>
              <a:spcAft>
                <a:spcPts val="0"/>
              </a:spcAft>
              <a:buNone/>
            </a:pPr>
            <a:r>
              <a:rPr b="1" lang="en-US" sz="1350">
                <a:solidFill>
                  <a:srgbClr val="0F172A"/>
                </a:solidFill>
                <a:latin typeface="Plus Jakarta Sans"/>
                <a:ea typeface="Plus Jakarta Sans"/>
                <a:cs typeface="Plus Jakarta Sans"/>
                <a:sym typeface="Plus Jakarta Sans"/>
              </a:rPr>
              <a:t>Which communities in Los Angeles County are most sensitive to indoor air quality, and what pollution, socioeconomic, housing, and health factors overlap in those communities?</a:t>
            </a:r>
            <a:endParaRPr b="1" sz="1350">
              <a:solidFill>
                <a:srgbClr val="0F172A"/>
              </a:solidFill>
              <a:latin typeface="Plus Jakarta Sans"/>
              <a:ea typeface="Plus Jakarta Sans"/>
              <a:cs typeface="Plus Jakarta Sans"/>
              <a:sym typeface="Plus Jakarta Sans"/>
            </a:endParaRPr>
          </a:p>
        </p:txBody>
      </p:sp>
      <p:pic>
        <p:nvPicPr>
          <p:cNvPr id="182" name="Google Shape;182;p18"/>
          <p:cNvPicPr preferRelativeResize="0"/>
          <p:nvPr/>
        </p:nvPicPr>
        <p:blipFill rotWithShape="1">
          <a:blip r:embed="rId3">
            <a:alphaModFix/>
          </a:blip>
          <a:srcRect b="2417" l="0" r="0" t="2426"/>
          <a:stretch/>
        </p:blipFill>
        <p:spPr>
          <a:xfrm>
            <a:off x="645250" y="5565175"/>
            <a:ext cx="1333500" cy="476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19"/>
          <p:cNvSpPr/>
          <p:nvPr/>
        </p:nvSpPr>
        <p:spPr>
          <a:xfrm>
            <a:off x="762000" y="3022401"/>
            <a:ext cx="2524125" cy="1794271"/>
          </a:xfrm>
          <a:prstGeom prst="roundRect">
            <a:avLst>
              <a:gd fmla="val 6370"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19"/>
          <p:cNvSpPr/>
          <p:nvPr/>
        </p:nvSpPr>
        <p:spPr>
          <a:xfrm>
            <a:off x="3476625" y="3022401"/>
            <a:ext cx="2524125" cy="1794271"/>
          </a:xfrm>
          <a:prstGeom prst="roundRect">
            <a:avLst>
              <a:gd fmla="val 6370"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19"/>
          <p:cNvSpPr/>
          <p:nvPr/>
        </p:nvSpPr>
        <p:spPr>
          <a:xfrm>
            <a:off x="6191250" y="3022401"/>
            <a:ext cx="2524125" cy="1794271"/>
          </a:xfrm>
          <a:prstGeom prst="roundRect">
            <a:avLst>
              <a:gd fmla="val 6370"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19"/>
          <p:cNvSpPr/>
          <p:nvPr/>
        </p:nvSpPr>
        <p:spPr>
          <a:xfrm>
            <a:off x="8905875" y="3022401"/>
            <a:ext cx="2524125" cy="1794271"/>
          </a:xfrm>
          <a:prstGeom prst="roundRect">
            <a:avLst>
              <a:gd fmla="val 6370"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19"/>
          <p:cNvSpPr txBox="1"/>
          <p:nvPr/>
        </p:nvSpPr>
        <p:spPr>
          <a:xfrm>
            <a:off x="762000" y="533400"/>
            <a:ext cx="114300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SCORING ARCHITECTURE</a:t>
            </a:r>
            <a:endParaRPr/>
          </a:p>
        </p:txBody>
      </p:sp>
      <p:sp>
        <p:nvSpPr>
          <p:cNvPr id="192" name="Google Shape;192;p19"/>
          <p:cNvSpPr txBox="1"/>
          <p:nvPr/>
        </p:nvSpPr>
        <p:spPr>
          <a:xfrm>
            <a:off x="762000" y="781050"/>
            <a:ext cx="11430000" cy="428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Plus Jakarta Sans"/>
                <a:ea typeface="Plus Jakarta Sans"/>
                <a:cs typeface="Plus Jakarta Sans"/>
                <a:sym typeface="Plus Jakarta Sans"/>
              </a:rPr>
              <a:t>Indoor Air Quality Sensitivity Index (100 Points)</a:t>
            </a:r>
            <a:endParaRPr/>
          </a:p>
        </p:txBody>
      </p:sp>
      <p:sp>
        <p:nvSpPr>
          <p:cNvPr id="193" name="Google Shape;193;p19"/>
          <p:cNvSpPr txBox="1"/>
          <p:nvPr/>
        </p:nvSpPr>
        <p:spPr>
          <a:xfrm>
            <a:off x="962025" y="3298626"/>
            <a:ext cx="2655093"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284C7"/>
                </a:solidFill>
                <a:latin typeface="Plus Jakarta Sans"/>
                <a:ea typeface="Plus Jakarta Sans"/>
                <a:cs typeface="Plus Jakarta Sans"/>
                <a:sym typeface="Plus Jakarta Sans"/>
              </a:rPr>
              <a:t>30 Pts</a:t>
            </a:r>
            <a:endParaRPr/>
          </a:p>
        </p:txBody>
      </p:sp>
      <p:sp>
        <p:nvSpPr>
          <p:cNvPr id="194" name="Google Shape;194;p19"/>
          <p:cNvSpPr txBox="1"/>
          <p:nvPr/>
        </p:nvSpPr>
        <p:spPr>
          <a:xfrm>
            <a:off x="962025" y="3755826"/>
            <a:ext cx="2787848"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25" u="none" cap="none" strike="noStrike">
                <a:solidFill>
                  <a:srgbClr val="0F172A"/>
                </a:solidFill>
                <a:latin typeface="Plus Jakarta Sans"/>
                <a:ea typeface="Plus Jakarta Sans"/>
                <a:cs typeface="Plus Jakarta Sans"/>
                <a:sym typeface="Plus Jakarta Sans"/>
              </a:rPr>
              <a:t>Population Health</a:t>
            </a:r>
            <a:endParaRPr/>
          </a:p>
        </p:txBody>
      </p:sp>
      <p:sp>
        <p:nvSpPr>
          <p:cNvPr id="195" name="Google Shape;195;p19"/>
          <p:cNvSpPr txBox="1"/>
          <p:nvPr/>
        </p:nvSpPr>
        <p:spPr>
          <a:xfrm>
            <a:off x="962025" y="4060626"/>
            <a:ext cx="2219325" cy="479821"/>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Asthma and cardiovascular risks.</a:t>
            </a:r>
            <a:endParaRPr/>
          </a:p>
        </p:txBody>
      </p:sp>
      <p:sp>
        <p:nvSpPr>
          <p:cNvPr id="196" name="Google Shape;196;p19"/>
          <p:cNvSpPr txBox="1"/>
          <p:nvPr/>
        </p:nvSpPr>
        <p:spPr>
          <a:xfrm>
            <a:off x="3676650" y="3298626"/>
            <a:ext cx="2655093"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284C7"/>
                </a:solidFill>
                <a:latin typeface="Plus Jakarta Sans"/>
                <a:ea typeface="Plus Jakarta Sans"/>
                <a:cs typeface="Plus Jakarta Sans"/>
                <a:sym typeface="Plus Jakarta Sans"/>
              </a:rPr>
              <a:t>20 Pts</a:t>
            </a:r>
            <a:endParaRPr/>
          </a:p>
        </p:txBody>
      </p:sp>
      <p:sp>
        <p:nvSpPr>
          <p:cNvPr id="197" name="Google Shape;197;p19"/>
          <p:cNvSpPr txBox="1"/>
          <p:nvPr/>
        </p:nvSpPr>
        <p:spPr>
          <a:xfrm>
            <a:off x="3676650" y="3755826"/>
            <a:ext cx="2787848"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25" u="none" cap="none" strike="noStrike">
                <a:solidFill>
                  <a:srgbClr val="0F172A"/>
                </a:solidFill>
                <a:latin typeface="Plus Jakarta Sans"/>
                <a:ea typeface="Plus Jakarta Sans"/>
                <a:cs typeface="Plus Jakarta Sans"/>
                <a:sym typeface="Plus Jakarta Sans"/>
              </a:rPr>
              <a:t>Outdoor Air</a:t>
            </a:r>
            <a:endParaRPr/>
          </a:p>
        </p:txBody>
      </p:sp>
      <p:sp>
        <p:nvSpPr>
          <p:cNvPr id="198" name="Google Shape;198;p19"/>
          <p:cNvSpPr txBox="1"/>
          <p:nvPr/>
        </p:nvSpPr>
        <p:spPr>
          <a:xfrm>
            <a:off x="3676650" y="4060626"/>
            <a:ext cx="2219325" cy="479821"/>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PM2.5, diesel, and NO₂ levels.</a:t>
            </a:r>
            <a:endParaRPr/>
          </a:p>
        </p:txBody>
      </p:sp>
      <p:sp>
        <p:nvSpPr>
          <p:cNvPr id="199" name="Google Shape;199;p19"/>
          <p:cNvSpPr txBox="1"/>
          <p:nvPr/>
        </p:nvSpPr>
        <p:spPr>
          <a:xfrm>
            <a:off x="6391275" y="3298626"/>
            <a:ext cx="2655093"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284C7"/>
                </a:solidFill>
                <a:latin typeface="Plus Jakarta Sans"/>
                <a:ea typeface="Plus Jakarta Sans"/>
                <a:cs typeface="Plus Jakarta Sans"/>
                <a:sym typeface="Plus Jakarta Sans"/>
              </a:rPr>
              <a:t>25 Pts</a:t>
            </a:r>
            <a:endParaRPr/>
          </a:p>
        </p:txBody>
      </p:sp>
      <p:sp>
        <p:nvSpPr>
          <p:cNvPr id="200" name="Google Shape;200;p19"/>
          <p:cNvSpPr txBox="1"/>
          <p:nvPr/>
        </p:nvSpPr>
        <p:spPr>
          <a:xfrm>
            <a:off x="6391275" y="3755826"/>
            <a:ext cx="2787848"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25" u="none" cap="none" strike="noStrike">
                <a:solidFill>
                  <a:srgbClr val="0F172A"/>
                </a:solidFill>
                <a:latin typeface="Plus Jakarta Sans"/>
                <a:ea typeface="Plus Jakarta Sans"/>
                <a:cs typeface="Plus Jakarta Sans"/>
                <a:sym typeface="Plus Jakarta Sans"/>
              </a:rPr>
              <a:t>Socioeconomics</a:t>
            </a:r>
            <a:endParaRPr/>
          </a:p>
        </p:txBody>
      </p:sp>
      <p:sp>
        <p:nvSpPr>
          <p:cNvPr id="201" name="Google Shape;201;p19"/>
          <p:cNvSpPr txBox="1"/>
          <p:nvPr/>
        </p:nvSpPr>
        <p:spPr>
          <a:xfrm>
            <a:off x="6391275" y="4060626"/>
            <a:ext cx="2219325" cy="479821"/>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Poverty and healthcare barriers.</a:t>
            </a:r>
            <a:endParaRPr/>
          </a:p>
        </p:txBody>
      </p:sp>
      <p:sp>
        <p:nvSpPr>
          <p:cNvPr id="202" name="Google Shape;202;p19"/>
          <p:cNvSpPr txBox="1"/>
          <p:nvPr/>
        </p:nvSpPr>
        <p:spPr>
          <a:xfrm>
            <a:off x="9105900" y="3298626"/>
            <a:ext cx="2655093"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284C7"/>
                </a:solidFill>
                <a:latin typeface="Plus Jakarta Sans"/>
                <a:ea typeface="Plus Jakarta Sans"/>
                <a:cs typeface="Plus Jakarta Sans"/>
                <a:sym typeface="Plus Jakarta Sans"/>
              </a:rPr>
              <a:t>25 Pts</a:t>
            </a:r>
            <a:endParaRPr/>
          </a:p>
        </p:txBody>
      </p:sp>
      <p:sp>
        <p:nvSpPr>
          <p:cNvPr id="203" name="Google Shape;203;p19"/>
          <p:cNvSpPr txBox="1"/>
          <p:nvPr/>
        </p:nvSpPr>
        <p:spPr>
          <a:xfrm>
            <a:off x="9105900" y="3755826"/>
            <a:ext cx="2787848"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25" u="none" cap="none" strike="noStrike">
                <a:solidFill>
                  <a:srgbClr val="0F172A"/>
                </a:solidFill>
                <a:latin typeface="Plus Jakarta Sans"/>
                <a:ea typeface="Plus Jakarta Sans"/>
                <a:cs typeface="Plus Jakarta Sans"/>
                <a:sym typeface="Plus Jakarta Sans"/>
              </a:rPr>
              <a:t>Housing Stock</a:t>
            </a:r>
            <a:endParaRPr/>
          </a:p>
        </p:txBody>
      </p:sp>
      <p:sp>
        <p:nvSpPr>
          <p:cNvPr id="204" name="Google Shape;204;p19"/>
          <p:cNvSpPr txBox="1"/>
          <p:nvPr/>
        </p:nvSpPr>
        <p:spPr>
          <a:xfrm>
            <a:off x="9105900" y="4060626"/>
            <a:ext cx="2655093"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Building age and lead risk.</a:t>
            </a:r>
            <a:endParaRPr/>
          </a:p>
        </p:txBody>
      </p:sp>
      <p:pic>
        <p:nvPicPr>
          <p:cNvPr id="205" name="Google Shape;205;p19" title="Screenshot 2026-10-14 at 4.29.28 PM.png"/>
          <p:cNvPicPr preferRelativeResize="0"/>
          <p:nvPr/>
        </p:nvPicPr>
        <p:blipFill>
          <a:blip r:embed="rId3">
            <a:alphaModFix/>
          </a:blip>
          <a:stretch>
            <a:fillRect/>
          </a:stretch>
        </p:blipFill>
        <p:spPr>
          <a:xfrm>
            <a:off x="30388" y="2248576"/>
            <a:ext cx="12131223" cy="2568100"/>
          </a:xfrm>
          <a:prstGeom prst="rect">
            <a:avLst/>
          </a:prstGeom>
          <a:noFill/>
          <a:ln>
            <a:noFill/>
          </a:ln>
        </p:spPr>
      </p:pic>
      <p:pic>
        <p:nvPicPr>
          <p:cNvPr id="206" name="Google Shape;206;p19"/>
          <p:cNvPicPr preferRelativeResize="0"/>
          <p:nvPr/>
        </p:nvPicPr>
        <p:blipFill rotWithShape="1">
          <a:blip r:embed="rId4">
            <a:alphaModFix/>
          </a:blip>
          <a:srcRect b="2417" l="0" r="0" t="2426"/>
          <a:stretch/>
        </p:blipFill>
        <p:spPr>
          <a:xfrm>
            <a:off x="645250" y="5565175"/>
            <a:ext cx="1333500" cy="476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grpSp>
        <p:nvGrpSpPr>
          <p:cNvPr id="211" name="Google Shape;211;p20"/>
          <p:cNvGrpSpPr/>
          <p:nvPr/>
        </p:nvGrpSpPr>
        <p:grpSpPr>
          <a:xfrm>
            <a:off x="288774" y="375215"/>
            <a:ext cx="7422944" cy="4956245"/>
            <a:chOff x="846575" y="1876125"/>
            <a:chExt cx="6765352" cy="4517175"/>
          </a:xfrm>
        </p:grpSpPr>
        <p:pic>
          <p:nvPicPr>
            <p:cNvPr id="212" name="Google Shape;212;p20" title="Screenshot 2026-10-13 021017.png"/>
            <p:cNvPicPr preferRelativeResize="0"/>
            <p:nvPr/>
          </p:nvPicPr>
          <p:blipFill rotWithShape="1">
            <a:blip r:embed="rId3">
              <a:alphaModFix/>
            </a:blip>
            <a:srcRect b="0" l="4889" r="0" t="0"/>
            <a:stretch/>
          </p:blipFill>
          <p:spPr>
            <a:xfrm>
              <a:off x="846575" y="2718700"/>
              <a:ext cx="6765350" cy="3674600"/>
            </a:xfrm>
            <a:prstGeom prst="rect">
              <a:avLst/>
            </a:prstGeom>
            <a:noFill/>
            <a:ln>
              <a:noFill/>
            </a:ln>
          </p:spPr>
        </p:pic>
        <p:pic>
          <p:nvPicPr>
            <p:cNvPr id="213" name="Google Shape;213;p20" title="Screenshot 2026-10-13 021046.png"/>
            <p:cNvPicPr preferRelativeResize="0"/>
            <p:nvPr/>
          </p:nvPicPr>
          <p:blipFill rotWithShape="1">
            <a:blip r:embed="rId4">
              <a:alphaModFix/>
            </a:blip>
            <a:srcRect b="0" l="0" r="4407" t="75076"/>
            <a:stretch/>
          </p:blipFill>
          <p:spPr>
            <a:xfrm>
              <a:off x="846575" y="1876125"/>
              <a:ext cx="6765352" cy="915850"/>
            </a:xfrm>
            <a:prstGeom prst="rect">
              <a:avLst/>
            </a:prstGeom>
            <a:noFill/>
            <a:ln>
              <a:noFill/>
            </a:ln>
          </p:spPr>
        </p:pic>
      </p:grpSp>
      <p:grpSp>
        <p:nvGrpSpPr>
          <p:cNvPr id="214" name="Google Shape;214;p20"/>
          <p:cNvGrpSpPr/>
          <p:nvPr/>
        </p:nvGrpSpPr>
        <p:grpSpPr>
          <a:xfrm>
            <a:off x="7711723" y="879688"/>
            <a:ext cx="4210707" cy="2981145"/>
            <a:chOff x="7729900" y="677750"/>
            <a:chExt cx="4362975" cy="3088950"/>
          </a:xfrm>
        </p:grpSpPr>
        <p:pic>
          <p:nvPicPr>
            <p:cNvPr id="215" name="Google Shape;215;p20" title="Screenshot 2026-10-13 021058.png"/>
            <p:cNvPicPr preferRelativeResize="0"/>
            <p:nvPr/>
          </p:nvPicPr>
          <p:blipFill rotWithShape="1">
            <a:blip r:embed="rId5">
              <a:alphaModFix/>
            </a:blip>
            <a:srcRect b="0" l="39456" r="0" t="16206"/>
            <a:stretch/>
          </p:blipFill>
          <p:spPr>
            <a:xfrm>
              <a:off x="7729900" y="677750"/>
              <a:ext cx="4338552" cy="3088950"/>
            </a:xfrm>
            <a:prstGeom prst="rect">
              <a:avLst/>
            </a:prstGeom>
            <a:noFill/>
            <a:ln>
              <a:noFill/>
            </a:ln>
          </p:spPr>
        </p:pic>
        <p:pic>
          <p:nvPicPr>
            <p:cNvPr id="216" name="Google Shape;216;p20" title="Screenshot 2026-10-13 021046.png"/>
            <p:cNvPicPr preferRelativeResize="0"/>
            <p:nvPr/>
          </p:nvPicPr>
          <p:blipFill rotWithShape="1">
            <a:blip r:embed="rId4">
              <a:alphaModFix/>
            </a:blip>
            <a:srcRect b="36983" l="39117" r="0" t="3183"/>
            <a:stretch/>
          </p:blipFill>
          <p:spPr>
            <a:xfrm>
              <a:off x="7729900" y="1498450"/>
              <a:ext cx="4362975" cy="2226075"/>
            </a:xfrm>
            <a:prstGeom prst="rect">
              <a:avLst/>
            </a:prstGeom>
            <a:noFill/>
            <a:ln>
              <a:noFill/>
            </a:ln>
          </p:spPr>
        </p:pic>
      </p:grpSp>
      <p:pic>
        <p:nvPicPr>
          <p:cNvPr id="217" name="Google Shape;217;p20" title="Screenshot 2026-10-13 at 11.49.10 PM.png"/>
          <p:cNvPicPr preferRelativeResize="0"/>
          <p:nvPr/>
        </p:nvPicPr>
        <p:blipFill rotWithShape="1">
          <a:blip r:embed="rId6">
            <a:alphaModFix/>
          </a:blip>
          <a:srcRect b="0" l="0" r="0" t="21599"/>
          <a:stretch/>
        </p:blipFill>
        <p:spPr>
          <a:xfrm>
            <a:off x="8068434" y="3860910"/>
            <a:ext cx="3497662" cy="1975240"/>
          </a:xfrm>
          <a:prstGeom prst="rect">
            <a:avLst/>
          </a:prstGeom>
          <a:noFill/>
          <a:ln>
            <a:noFill/>
          </a:ln>
        </p:spPr>
      </p:pic>
      <p:pic>
        <p:nvPicPr>
          <p:cNvPr id="218" name="Google Shape;218;p20"/>
          <p:cNvPicPr preferRelativeResize="0"/>
          <p:nvPr/>
        </p:nvPicPr>
        <p:blipFill rotWithShape="1">
          <a:blip r:embed="rId7">
            <a:alphaModFix/>
          </a:blip>
          <a:srcRect b="2417" l="0" r="0" t="2426"/>
          <a:stretch/>
        </p:blipFill>
        <p:spPr>
          <a:xfrm>
            <a:off x="250100" y="6087825"/>
            <a:ext cx="1333500" cy="476400"/>
          </a:xfrm>
          <a:prstGeom prst="rect">
            <a:avLst/>
          </a:prstGeom>
          <a:noFill/>
          <a:ln>
            <a:noFill/>
          </a:ln>
        </p:spPr>
      </p:pic>
      <p:sp>
        <p:nvSpPr>
          <p:cNvPr id="219" name="Google Shape;219;p20"/>
          <p:cNvSpPr txBox="1"/>
          <p:nvPr/>
        </p:nvSpPr>
        <p:spPr>
          <a:xfrm>
            <a:off x="1655759" y="375225"/>
            <a:ext cx="92364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800">
                <a:solidFill>
                  <a:schemeClr val="dk1"/>
                </a:solidFill>
              </a:rPr>
              <a:t>Map of Los Angeles County with areas indicating their IAQ sensitivity percentile</a:t>
            </a:r>
            <a:endParaRPr b="1" sz="1800">
              <a:solidFill>
                <a:schemeClr val="dk1"/>
              </a:solidFill>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23" name="Shape 223"/>
        <p:cNvGrpSpPr/>
        <p:nvPr/>
      </p:nvGrpSpPr>
      <p:grpSpPr>
        <a:xfrm>
          <a:off x="0" y="0"/>
          <a:ext cx="0" cy="0"/>
          <a:chOff x="0" y="0"/>
          <a:chExt cx="0" cy="0"/>
        </a:xfrm>
      </p:grpSpPr>
      <p:sp>
        <p:nvSpPr>
          <p:cNvPr id="224" name="Google Shape;224;p21"/>
          <p:cNvSpPr/>
          <p:nvPr/>
        </p:nvSpPr>
        <p:spPr>
          <a:xfrm>
            <a:off x="6877050" y="1911154"/>
            <a:ext cx="4553100" cy="3501300"/>
          </a:xfrm>
          <a:prstGeom prst="roundRect">
            <a:avLst>
              <a:gd fmla="val 5852"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21"/>
          <p:cNvSpPr txBox="1"/>
          <p:nvPr/>
        </p:nvSpPr>
        <p:spPr>
          <a:xfrm>
            <a:off x="762000" y="533400"/>
            <a:ext cx="11430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CONTEXT &amp; SCOPE</a:t>
            </a:r>
            <a:endParaRPr/>
          </a:p>
        </p:txBody>
      </p:sp>
      <p:sp>
        <p:nvSpPr>
          <p:cNvPr id="226" name="Google Shape;226;p21"/>
          <p:cNvSpPr txBox="1"/>
          <p:nvPr/>
        </p:nvSpPr>
        <p:spPr>
          <a:xfrm>
            <a:off x="696800" y="944100"/>
            <a:ext cx="114300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0F172A"/>
                </a:solidFill>
                <a:latin typeface="Plus Jakarta Sans"/>
                <a:ea typeface="Plus Jakarta Sans"/>
                <a:cs typeface="Plus Jakarta Sans"/>
                <a:sym typeface="Plus Jakarta Sans"/>
              </a:rPr>
              <a:t>Indoor Air Quality Is an Environmental Justice Issue </a:t>
            </a:r>
            <a:endParaRPr/>
          </a:p>
        </p:txBody>
      </p:sp>
      <p:sp>
        <p:nvSpPr>
          <p:cNvPr id="227" name="Google Shape;227;p21"/>
          <p:cNvSpPr txBox="1"/>
          <p:nvPr/>
        </p:nvSpPr>
        <p:spPr>
          <a:xfrm>
            <a:off x="696800" y="1955950"/>
            <a:ext cx="5976000" cy="2020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lang="en-US" sz="1750">
                <a:solidFill>
                  <a:srgbClr val="1E293B"/>
                </a:solidFill>
                <a:latin typeface="Plus Jakarta Sans"/>
                <a:ea typeface="Plus Jakarta Sans"/>
                <a:cs typeface="Plus Jakarta Sans"/>
                <a:sym typeface="Plus Jakarta Sans"/>
              </a:rPr>
              <a:t>Communities across Los Angeles County may face overlapping environmental, socioeconomic, and health challenges that increase their vulnerability to poor air quality. Understanding IAQ sensitivity at the community level can help public agencies and community organizations make more informed decisions</a:t>
            </a:r>
            <a:endParaRPr sz="1200"/>
          </a:p>
        </p:txBody>
      </p:sp>
      <p:sp>
        <p:nvSpPr>
          <p:cNvPr id="228" name="Google Shape;228;p21"/>
          <p:cNvSpPr txBox="1"/>
          <p:nvPr/>
        </p:nvSpPr>
        <p:spPr>
          <a:xfrm>
            <a:off x="7229475" y="2263564"/>
            <a:ext cx="48102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50">
                <a:solidFill>
                  <a:srgbClr val="64748B"/>
                </a:solidFill>
                <a:latin typeface="Plus Jakarta Sans"/>
                <a:ea typeface="Plus Jakarta Sans"/>
                <a:cs typeface="Plus Jakarta Sans"/>
                <a:sym typeface="Plus Jakarta Sans"/>
              </a:rPr>
              <a:t>Primary Stakeholder</a:t>
            </a:r>
            <a:endParaRPr/>
          </a:p>
        </p:txBody>
      </p:sp>
      <p:sp>
        <p:nvSpPr>
          <p:cNvPr id="229" name="Google Shape;229;p21"/>
          <p:cNvSpPr txBox="1"/>
          <p:nvPr/>
        </p:nvSpPr>
        <p:spPr>
          <a:xfrm>
            <a:off x="7229475" y="3418800"/>
            <a:ext cx="3943200" cy="661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300">
                <a:solidFill>
                  <a:srgbClr val="0284C7"/>
                </a:solidFill>
                <a:latin typeface="Plus Jakarta Sans"/>
                <a:ea typeface="Plus Jakarta Sans"/>
                <a:cs typeface="Plus Jakarta Sans"/>
                <a:sym typeface="Plus Jakarta Sans"/>
              </a:rPr>
              <a:t>United Nations</a:t>
            </a:r>
            <a:endParaRPr sz="100"/>
          </a:p>
        </p:txBody>
      </p:sp>
      <p:sp>
        <p:nvSpPr>
          <p:cNvPr id="230" name="Google Shape;230;p21"/>
          <p:cNvSpPr txBox="1"/>
          <p:nvPr/>
        </p:nvSpPr>
        <p:spPr>
          <a:xfrm>
            <a:off x="7229475" y="4256989"/>
            <a:ext cx="48102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0F172A"/>
                </a:solidFill>
                <a:latin typeface="Plus Jakarta Sans"/>
                <a:ea typeface="Plus Jakarta Sans"/>
                <a:cs typeface="Plus Jakarta Sans"/>
                <a:sym typeface="Plus Jakarta Sans"/>
              </a:rPr>
              <a:t>Department of Economic and Social Affairs</a:t>
            </a:r>
            <a:endParaRPr/>
          </a:p>
        </p:txBody>
      </p:sp>
      <p:sp>
        <p:nvSpPr>
          <p:cNvPr id="231" name="Google Shape;231;p21"/>
          <p:cNvSpPr txBox="1"/>
          <p:nvPr/>
        </p:nvSpPr>
        <p:spPr>
          <a:xfrm>
            <a:off x="7229475" y="4552264"/>
            <a:ext cx="39432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lang="en-US" sz="1350">
                <a:solidFill>
                  <a:srgbClr val="64748B"/>
                </a:solidFill>
                <a:latin typeface="Plus Jakarta Sans"/>
                <a:ea typeface="Plus Jakarta Sans"/>
                <a:cs typeface="Plus Jakarta Sans"/>
                <a:sym typeface="Plus Jakarta Sans"/>
              </a:rPr>
              <a:t>Sustainable Development</a:t>
            </a:r>
            <a:endParaRPr/>
          </a:p>
        </p:txBody>
      </p:sp>
      <p:sp>
        <p:nvSpPr>
          <p:cNvPr id="232" name="Google Shape;232;p21"/>
          <p:cNvSpPr txBox="1"/>
          <p:nvPr/>
        </p:nvSpPr>
        <p:spPr>
          <a:xfrm>
            <a:off x="696800" y="4264294"/>
            <a:ext cx="72153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lang="en-US" sz="1350">
                <a:solidFill>
                  <a:srgbClr val="0F172A"/>
                </a:solidFill>
                <a:latin typeface="Plus Jakarta Sans"/>
                <a:ea typeface="Plus Jakarta Sans"/>
                <a:cs typeface="Plus Jakarta Sans"/>
                <a:sym typeface="Plus Jakarta Sans"/>
              </a:rPr>
              <a:t>Stakeholders</a:t>
            </a:r>
            <a:endParaRPr/>
          </a:p>
        </p:txBody>
      </p:sp>
      <p:sp>
        <p:nvSpPr>
          <p:cNvPr id="233" name="Google Shape;233;p21"/>
          <p:cNvSpPr txBox="1"/>
          <p:nvPr/>
        </p:nvSpPr>
        <p:spPr>
          <a:xfrm>
            <a:off x="653325" y="4472200"/>
            <a:ext cx="5835300" cy="8043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US" sz="1750">
                <a:solidFill>
                  <a:srgbClr val="1E293B"/>
                </a:solidFill>
                <a:latin typeface="Plus Jakarta Sans"/>
                <a:ea typeface="Plus Jakarta Sans"/>
                <a:cs typeface="Plus Jakarta Sans"/>
                <a:sym typeface="Plus Jakarta Sans"/>
              </a:rPr>
              <a:t>Local public health agencies, environmental agencies, and community organizations</a:t>
            </a:r>
            <a:endParaRPr/>
          </a:p>
        </p:txBody>
      </p:sp>
      <p:pic>
        <p:nvPicPr>
          <p:cNvPr id="234" name="Google Shape;234;p21"/>
          <p:cNvPicPr preferRelativeResize="0"/>
          <p:nvPr/>
        </p:nvPicPr>
        <p:blipFill rotWithShape="1">
          <a:blip r:embed="rId3">
            <a:alphaModFix/>
          </a:blip>
          <a:srcRect b="2417" l="0" r="0" t="2426"/>
          <a:stretch/>
        </p:blipFill>
        <p:spPr>
          <a:xfrm>
            <a:off x="645250" y="5565175"/>
            <a:ext cx="1333500" cy="476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8" name="Shape 238"/>
        <p:cNvGrpSpPr/>
        <p:nvPr/>
      </p:nvGrpSpPr>
      <p:grpSpPr>
        <a:xfrm>
          <a:off x="0" y="0"/>
          <a:ext cx="0" cy="0"/>
          <a:chOff x="0" y="0"/>
          <a:chExt cx="0" cy="0"/>
        </a:xfrm>
      </p:grpSpPr>
      <p:sp>
        <p:nvSpPr>
          <p:cNvPr id="239" name="Google Shape;239;p22"/>
          <p:cNvSpPr/>
          <p:nvPr/>
        </p:nvSpPr>
        <p:spPr>
          <a:xfrm>
            <a:off x="0" y="0"/>
            <a:ext cx="76200" cy="68580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40" name="Google Shape;240;p22"/>
          <p:cNvGrpSpPr/>
          <p:nvPr/>
        </p:nvGrpSpPr>
        <p:grpSpPr>
          <a:xfrm>
            <a:off x="952500" y="1905000"/>
            <a:ext cx="10287000" cy="3238500"/>
            <a:chOff x="0" y="0"/>
            <a:chExt cx="10287000" cy="3238500"/>
          </a:xfrm>
        </p:grpSpPr>
        <p:sp>
          <p:nvSpPr>
            <p:cNvPr id="241" name="Google Shape;241;p22"/>
            <p:cNvSpPr txBox="1"/>
            <p:nvPr/>
          </p:nvSpPr>
          <p:spPr>
            <a:xfrm>
              <a:off x="0" y="0"/>
              <a:ext cx="10287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1200">
                <a:solidFill>
                  <a:srgbClr val="0284C7"/>
                </a:solidFill>
                <a:latin typeface="Plus Jakarta Sans"/>
                <a:ea typeface="Plus Jakarta Sans"/>
                <a:cs typeface="Plus Jakarta Sans"/>
                <a:sym typeface="Plus Jakarta Sans"/>
              </a:endParaRPr>
            </a:p>
          </p:txBody>
        </p:sp>
        <p:sp>
          <p:nvSpPr>
            <p:cNvPr id="242" name="Google Shape;242;p22"/>
            <p:cNvSpPr txBox="1"/>
            <p:nvPr/>
          </p:nvSpPr>
          <p:spPr>
            <a:xfrm>
              <a:off x="0" y="428625"/>
              <a:ext cx="10287000" cy="15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4400">
                  <a:solidFill>
                    <a:srgbClr val="0F172A"/>
                  </a:solidFill>
                  <a:latin typeface="Plus Jakarta Sans"/>
                  <a:ea typeface="Plus Jakarta Sans"/>
                  <a:cs typeface="Plus Jakarta Sans"/>
                  <a:sym typeface="Plus Jakarta Sans"/>
                </a:rPr>
                <a:t>Key Findings &amp; Data Analysis</a:t>
              </a:r>
              <a:endParaRPr b="1" sz="4400">
                <a:solidFill>
                  <a:srgbClr val="0F172A"/>
                </a:solidFill>
                <a:latin typeface="Plus Jakarta Sans"/>
                <a:ea typeface="Plus Jakarta Sans"/>
                <a:cs typeface="Plus Jakarta Sans"/>
                <a:sym typeface="Plus Jakarta Sans"/>
              </a:endParaRPr>
            </a:p>
          </p:txBody>
        </p:sp>
        <p:cxnSp>
          <p:nvCxnSpPr>
            <p:cNvPr id="243" name="Google Shape;243;p22"/>
            <p:cNvCxnSpPr/>
            <p:nvPr/>
          </p:nvCxnSpPr>
          <p:spPr>
            <a:xfrm>
              <a:off x="0" y="2190750"/>
              <a:ext cx="1143000" cy="0"/>
            </a:xfrm>
            <a:prstGeom prst="straightConnector1">
              <a:avLst/>
            </a:prstGeom>
            <a:solidFill>
              <a:srgbClr val="FFFFFF"/>
            </a:solidFill>
            <a:ln cap="rnd" cmpd="sng" w="38100">
              <a:solidFill>
                <a:srgbClr val="0284C7"/>
              </a:solidFill>
              <a:prstDash val="solid"/>
              <a:round/>
              <a:headEnd len="sm" w="sm" type="none"/>
              <a:tailEnd len="sm" w="sm" type="none"/>
            </a:ln>
          </p:spPr>
        </p:cxnSp>
        <p:sp>
          <p:nvSpPr>
            <p:cNvPr id="244" name="Google Shape;244;p22"/>
            <p:cNvSpPr txBox="1"/>
            <p:nvPr/>
          </p:nvSpPr>
          <p:spPr>
            <a:xfrm>
              <a:off x="0" y="2476500"/>
              <a:ext cx="8572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600">
                  <a:solidFill>
                    <a:srgbClr val="475569"/>
                  </a:solidFill>
                  <a:latin typeface="Plus Jakarta Sans"/>
                  <a:ea typeface="Plus Jakarta Sans"/>
                  <a:cs typeface="Plus Jakarta Sans"/>
                  <a:sym typeface="Plus Jakarta Sans"/>
                </a:rPr>
                <a:t>Exploring the spatial distribution of indoor air quality indicators and compound environmental burdens across Los Angeles County communities.</a:t>
              </a:r>
              <a:endParaRPr b="0" sz="1600">
                <a:solidFill>
                  <a:srgbClr val="475569"/>
                </a:solidFill>
                <a:latin typeface="Plus Jakarta Sans"/>
                <a:ea typeface="Plus Jakarta Sans"/>
                <a:cs typeface="Plus Jakarta Sans"/>
                <a:sym typeface="Plus Jakarta Sans"/>
              </a:endParaRPr>
            </a:p>
          </p:txBody>
        </p:sp>
      </p:grpSp>
      <p:sp>
        <p:nvSpPr>
          <p:cNvPr id="245" name="Google Shape;245;p22"/>
          <p:cNvSpPr txBox="1"/>
          <p:nvPr/>
        </p:nvSpPr>
        <p:spPr>
          <a:xfrm>
            <a:off x="2116025" y="3416250"/>
            <a:ext cx="73425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pic>
        <p:nvPicPr>
          <p:cNvPr id="246" name="Google Shape;246;p22"/>
          <p:cNvPicPr preferRelativeResize="0"/>
          <p:nvPr/>
        </p:nvPicPr>
        <p:blipFill rotWithShape="1">
          <a:blip r:embed="rId4">
            <a:alphaModFix/>
          </a:blip>
          <a:srcRect b="2417" l="0" r="0" t="2426"/>
          <a:stretch/>
        </p:blipFill>
        <p:spPr>
          <a:xfrm>
            <a:off x="762000" y="5905500"/>
            <a:ext cx="1333500" cy="476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3"/>
          <p:cNvSpPr/>
          <p:nvPr/>
        </p:nvSpPr>
        <p:spPr>
          <a:xfrm>
            <a:off x="0" y="0"/>
            <a:ext cx="76200" cy="68580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52" name="Google Shape;252;p23"/>
          <p:cNvGrpSpPr/>
          <p:nvPr/>
        </p:nvGrpSpPr>
        <p:grpSpPr>
          <a:xfrm>
            <a:off x="952500" y="2095500"/>
            <a:ext cx="10287000" cy="2429025"/>
            <a:chOff x="0" y="0"/>
            <a:chExt cx="10287000" cy="2429025"/>
          </a:xfrm>
        </p:grpSpPr>
        <p:sp>
          <p:nvSpPr>
            <p:cNvPr id="253" name="Google Shape;253;p23"/>
            <p:cNvSpPr txBox="1"/>
            <p:nvPr/>
          </p:nvSpPr>
          <p:spPr>
            <a:xfrm>
              <a:off x="0" y="0"/>
              <a:ext cx="102870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284C7"/>
                  </a:solidFill>
                  <a:latin typeface="Plus Jakarta Sans"/>
                  <a:ea typeface="Plus Jakarta Sans"/>
                  <a:cs typeface="Plus Jakarta Sans"/>
                  <a:sym typeface="Plus Jakarta Sans"/>
                </a:rPr>
                <a:t>Insight #01</a:t>
              </a:r>
              <a:endParaRPr b="1" sz="1300">
                <a:solidFill>
                  <a:srgbClr val="0284C7"/>
                </a:solidFill>
                <a:latin typeface="Plus Jakarta Sans"/>
                <a:ea typeface="Plus Jakarta Sans"/>
                <a:cs typeface="Plus Jakarta Sans"/>
                <a:sym typeface="Plus Jakarta Sans"/>
              </a:endParaRPr>
            </a:p>
          </p:txBody>
        </p:sp>
        <p:sp>
          <p:nvSpPr>
            <p:cNvPr id="254" name="Google Shape;254;p23"/>
            <p:cNvSpPr txBox="1"/>
            <p:nvPr/>
          </p:nvSpPr>
          <p:spPr>
            <a:xfrm>
              <a:off x="0" y="428625"/>
              <a:ext cx="102870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5200">
                  <a:solidFill>
                    <a:srgbClr val="0F172A"/>
                  </a:solidFill>
                  <a:latin typeface="Plus Jakarta Sans ExtraBold"/>
                  <a:ea typeface="Plus Jakarta Sans ExtraBold"/>
                  <a:cs typeface="Plus Jakarta Sans ExtraBold"/>
                  <a:sym typeface="Plus Jakarta Sans ExtraBold"/>
                </a:rPr>
                <a:t>Pollutants</a:t>
              </a:r>
              <a:endParaRPr b="0" sz="5200">
                <a:solidFill>
                  <a:srgbClr val="0F172A"/>
                </a:solidFill>
                <a:latin typeface="Plus Jakarta Sans ExtraBold"/>
                <a:ea typeface="Plus Jakarta Sans ExtraBold"/>
                <a:cs typeface="Plus Jakarta Sans ExtraBold"/>
                <a:sym typeface="Plus Jakarta Sans ExtraBold"/>
              </a:endParaRPr>
            </a:p>
          </p:txBody>
        </p:sp>
        <p:cxnSp>
          <p:nvCxnSpPr>
            <p:cNvPr id="255" name="Google Shape;255;p23"/>
            <p:cNvCxnSpPr/>
            <p:nvPr/>
          </p:nvCxnSpPr>
          <p:spPr>
            <a:xfrm>
              <a:off x="0" y="1714500"/>
              <a:ext cx="952500" cy="0"/>
            </a:xfrm>
            <a:prstGeom prst="straightConnector1">
              <a:avLst/>
            </a:prstGeom>
            <a:solidFill>
              <a:srgbClr val="FFFFFF"/>
            </a:solidFill>
            <a:ln cap="rnd" cmpd="sng" w="38100">
              <a:solidFill>
                <a:srgbClr val="0284C7"/>
              </a:solidFill>
              <a:prstDash val="solid"/>
              <a:round/>
              <a:headEnd len="sm" w="sm" type="none"/>
              <a:tailEnd len="sm" w="sm" type="none"/>
            </a:ln>
          </p:spPr>
        </p:cxnSp>
        <p:sp>
          <p:nvSpPr>
            <p:cNvPr id="256" name="Google Shape;256;p23"/>
            <p:cNvSpPr txBox="1"/>
            <p:nvPr/>
          </p:nvSpPr>
          <p:spPr>
            <a:xfrm>
              <a:off x="0" y="1952625"/>
              <a:ext cx="8572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800">
                  <a:solidFill>
                    <a:srgbClr val="475569"/>
                  </a:solidFill>
                  <a:latin typeface="Plus Jakarta Sans Medium"/>
                  <a:ea typeface="Plus Jakarta Sans Medium"/>
                  <a:cs typeface="Plus Jakarta Sans Medium"/>
                  <a:sym typeface="Plus Jakarta Sans Medium"/>
                </a:rPr>
                <a:t>Analyst: Cynthia</a:t>
              </a:r>
              <a:endParaRPr b="0" sz="1800">
                <a:solidFill>
                  <a:srgbClr val="475569"/>
                </a:solidFill>
                <a:latin typeface="Plus Jakarta Sans Medium"/>
                <a:ea typeface="Plus Jakarta Sans Medium"/>
                <a:cs typeface="Plus Jakarta Sans Medium"/>
                <a:sym typeface="Plus Jakarta Sans Medium"/>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60" name="Shape 260"/>
        <p:cNvGrpSpPr/>
        <p:nvPr/>
      </p:nvGrpSpPr>
      <p:grpSpPr>
        <a:xfrm>
          <a:off x="0" y="0"/>
          <a:ext cx="0" cy="0"/>
          <a:chOff x="0" y="0"/>
          <a:chExt cx="0" cy="0"/>
        </a:xfrm>
      </p:grpSpPr>
      <p:sp>
        <p:nvSpPr>
          <p:cNvPr id="261" name="Google Shape;261;p24"/>
          <p:cNvSpPr/>
          <p:nvPr/>
        </p:nvSpPr>
        <p:spPr>
          <a:xfrm>
            <a:off x="762000" y="2728912"/>
            <a:ext cx="10668000" cy="152400"/>
          </a:xfrm>
          <a:prstGeom prst="roundRect">
            <a:avLst>
              <a:gd fmla="val 50000" name="adj"/>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2" name="Google Shape;262;p24"/>
          <p:cNvSpPr/>
          <p:nvPr/>
        </p:nvSpPr>
        <p:spPr>
          <a:xfrm>
            <a:off x="762000" y="3290887"/>
            <a:ext cx="10668000" cy="152400"/>
          </a:xfrm>
          <a:prstGeom prst="roundRect">
            <a:avLst>
              <a:gd fmla="val 50000" name="adj"/>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24"/>
          <p:cNvSpPr/>
          <p:nvPr/>
        </p:nvSpPr>
        <p:spPr>
          <a:xfrm>
            <a:off x="762000" y="3852862"/>
            <a:ext cx="10668000" cy="152400"/>
          </a:xfrm>
          <a:prstGeom prst="roundRect">
            <a:avLst>
              <a:gd fmla="val 50000" name="adj"/>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4" name="Google Shape;264;p24"/>
          <p:cNvSpPr/>
          <p:nvPr/>
        </p:nvSpPr>
        <p:spPr>
          <a:xfrm>
            <a:off x="762000" y="4414837"/>
            <a:ext cx="10668000" cy="152400"/>
          </a:xfrm>
          <a:prstGeom prst="roundRect">
            <a:avLst>
              <a:gd fmla="val 50000" name="adj"/>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24"/>
          <p:cNvSpPr/>
          <p:nvPr/>
        </p:nvSpPr>
        <p:spPr>
          <a:xfrm>
            <a:off x="762000" y="2728912"/>
            <a:ext cx="4288482" cy="152400"/>
          </a:xfrm>
          <a:prstGeom prst="roundRect">
            <a:avLst>
              <a:gd fmla="val 50000" name="adj"/>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6" name="Google Shape;266;p24"/>
          <p:cNvSpPr/>
          <p:nvPr/>
        </p:nvSpPr>
        <p:spPr>
          <a:xfrm>
            <a:off x="762000" y="3290887"/>
            <a:ext cx="3381672" cy="152400"/>
          </a:xfrm>
          <a:prstGeom prst="roundRect">
            <a:avLst>
              <a:gd fmla="val 50000" name="adj"/>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7" name="Google Shape;267;p24"/>
          <p:cNvSpPr/>
          <p:nvPr/>
        </p:nvSpPr>
        <p:spPr>
          <a:xfrm>
            <a:off x="762000" y="3852862"/>
            <a:ext cx="1824186" cy="1524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8" name="Google Shape;268;p24"/>
          <p:cNvSpPr/>
          <p:nvPr/>
        </p:nvSpPr>
        <p:spPr>
          <a:xfrm>
            <a:off x="762000" y="4414837"/>
            <a:ext cx="1344066" cy="152400"/>
          </a:xfrm>
          <a:prstGeom prst="roundRect">
            <a:avLst>
              <a:gd fmla="val 50000" name="adj"/>
            </a:avLst>
          </a:prstGeom>
          <a:solidFill>
            <a:srgbClr val="7DD3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9" name="Google Shape;269;p24"/>
          <p:cNvSpPr txBox="1"/>
          <p:nvPr/>
        </p:nvSpPr>
        <p:spPr>
          <a:xfrm>
            <a:off x="762000" y="533400"/>
            <a:ext cx="114300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DATA INSIGHTS • CYNTHIA'S ANALYSIS</a:t>
            </a:r>
            <a:endParaRPr/>
          </a:p>
        </p:txBody>
      </p:sp>
      <p:sp>
        <p:nvSpPr>
          <p:cNvPr id="270" name="Google Shape;270;p24"/>
          <p:cNvSpPr txBox="1"/>
          <p:nvPr/>
        </p:nvSpPr>
        <p:spPr>
          <a:xfrm>
            <a:off x="762000" y="781050"/>
            <a:ext cx="11430000" cy="428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Plus Jakarta Sans"/>
                <a:ea typeface="Plus Jakarta Sans"/>
                <a:cs typeface="Plus Jakarta Sans"/>
                <a:sym typeface="Plus Jakarta Sans"/>
              </a:rPr>
              <a:t>90th Percentile Pollutant Exceedances (n=246)</a:t>
            </a:r>
            <a:endParaRPr/>
          </a:p>
        </p:txBody>
      </p:sp>
      <p:sp>
        <p:nvSpPr>
          <p:cNvPr id="271" name="Google Shape;271;p24"/>
          <p:cNvSpPr txBox="1"/>
          <p:nvPr/>
        </p:nvSpPr>
        <p:spPr>
          <a:xfrm>
            <a:off x="762000" y="2443162"/>
            <a:ext cx="2393156"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Nitrogen Dioxide (NO₂)</a:t>
            </a:r>
            <a:endParaRPr/>
          </a:p>
        </p:txBody>
      </p:sp>
      <p:sp>
        <p:nvSpPr>
          <p:cNvPr id="272" name="Google Shape;272;p24"/>
          <p:cNvSpPr txBox="1"/>
          <p:nvPr/>
        </p:nvSpPr>
        <p:spPr>
          <a:xfrm>
            <a:off x="10058400" y="2443162"/>
            <a:ext cx="17145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284C7"/>
                </a:solidFill>
                <a:latin typeface="Plus Jakarta Sans"/>
                <a:ea typeface="Plus Jakarta Sans"/>
                <a:cs typeface="Plus Jakarta Sans"/>
                <a:sym typeface="Plus Jakarta Sans"/>
              </a:rPr>
              <a:t>99 Communities</a:t>
            </a:r>
            <a:endParaRPr/>
          </a:p>
        </p:txBody>
      </p:sp>
      <p:sp>
        <p:nvSpPr>
          <p:cNvPr id="273" name="Google Shape;273;p24"/>
          <p:cNvSpPr txBox="1"/>
          <p:nvPr/>
        </p:nvSpPr>
        <p:spPr>
          <a:xfrm>
            <a:off x="762000" y="3014662"/>
            <a:ext cx="2333625"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PM2.5 Fine Particulate</a:t>
            </a:r>
            <a:endParaRPr/>
          </a:p>
        </p:txBody>
      </p:sp>
      <p:sp>
        <p:nvSpPr>
          <p:cNvPr id="274" name="Google Shape;274;p24"/>
          <p:cNvSpPr txBox="1"/>
          <p:nvPr/>
        </p:nvSpPr>
        <p:spPr>
          <a:xfrm>
            <a:off x="10067925" y="3014662"/>
            <a:ext cx="1702593"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284C7"/>
                </a:solidFill>
                <a:latin typeface="Plus Jakarta Sans"/>
                <a:ea typeface="Plus Jakarta Sans"/>
                <a:cs typeface="Plus Jakarta Sans"/>
                <a:sym typeface="Plus Jakarta Sans"/>
              </a:rPr>
              <a:t>78 Communities</a:t>
            </a:r>
            <a:endParaRPr/>
          </a:p>
        </p:txBody>
      </p:sp>
      <p:sp>
        <p:nvSpPr>
          <p:cNvPr id="275" name="Google Shape;275;p24"/>
          <p:cNvSpPr txBox="1"/>
          <p:nvPr/>
        </p:nvSpPr>
        <p:spPr>
          <a:xfrm>
            <a:off x="762000" y="3576637"/>
            <a:ext cx="2536031"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Diesel Particulate Matter</a:t>
            </a:r>
            <a:endParaRPr/>
          </a:p>
        </p:txBody>
      </p:sp>
      <p:sp>
        <p:nvSpPr>
          <p:cNvPr id="276" name="Google Shape;276;p24"/>
          <p:cNvSpPr txBox="1"/>
          <p:nvPr/>
        </p:nvSpPr>
        <p:spPr>
          <a:xfrm>
            <a:off x="10048875" y="3576637"/>
            <a:ext cx="1726406"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284C7"/>
                </a:solidFill>
                <a:latin typeface="Plus Jakarta Sans"/>
                <a:ea typeface="Plus Jakarta Sans"/>
                <a:cs typeface="Plus Jakarta Sans"/>
                <a:sym typeface="Plus Jakarta Sans"/>
              </a:rPr>
              <a:t>42 Communities</a:t>
            </a:r>
            <a:endParaRPr/>
          </a:p>
        </p:txBody>
      </p:sp>
      <p:sp>
        <p:nvSpPr>
          <p:cNvPr id="277" name="Google Shape;277;p24"/>
          <p:cNvSpPr txBox="1"/>
          <p:nvPr/>
        </p:nvSpPr>
        <p:spPr>
          <a:xfrm>
            <a:off x="762000" y="4138612"/>
            <a:ext cx="2321718"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Facility Toxic Releases</a:t>
            </a:r>
            <a:endParaRPr/>
          </a:p>
        </p:txBody>
      </p:sp>
      <p:sp>
        <p:nvSpPr>
          <p:cNvPr id="278" name="Google Shape;278;p24"/>
          <p:cNvSpPr txBox="1"/>
          <p:nvPr/>
        </p:nvSpPr>
        <p:spPr>
          <a:xfrm>
            <a:off x="10096500" y="4138612"/>
            <a:ext cx="1666875"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284C7"/>
                </a:solidFill>
                <a:latin typeface="Plus Jakarta Sans"/>
                <a:ea typeface="Plus Jakarta Sans"/>
                <a:cs typeface="Plus Jakarta Sans"/>
                <a:sym typeface="Plus Jakarta Sans"/>
              </a:rPr>
              <a:t>31 Communities</a:t>
            </a:r>
            <a:endParaRPr/>
          </a:p>
        </p:txBody>
      </p:sp>
      <p:sp>
        <p:nvSpPr>
          <p:cNvPr id="279" name="Google Shape;279;p24"/>
          <p:cNvSpPr/>
          <p:nvPr/>
        </p:nvSpPr>
        <p:spPr>
          <a:xfrm>
            <a:off x="762000" y="4976812"/>
            <a:ext cx="10668000" cy="152400"/>
          </a:xfrm>
          <a:prstGeom prst="roundRect">
            <a:avLst>
              <a:gd fmla="val 50000" name="adj"/>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0" name="Google Shape;280;p24"/>
          <p:cNvSpPr/>
          <p:nvPr/>
        </p:nvSpPr>
        <p:spPr>
          <a:xfrm>
            <a:off x="762000" y="4976803"/>
            <a:ext cx="95400" cy="152400"/>
          </a:xfrm>
          <a:prstGeom prst="roundRect">
            <a:avLst>
              <a:gd fmla="val 50000" name="adj"/>
            </a:avLst>
          </a:prstGeom>
          <a:solidFill>
            <a:srgbClr val="9FC5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24"/>
          <p:cNvSpPr txBox="1"/>
          <p:nvPr/>
        </p:nvSpPr>
        <p:spPr>
          <a:xfrm>
            <a:off x="762000" y="4700587"/>
            <a:ext cx="23217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350">
                <a:solidFill>
                  <a:srgbClr val="0F172A"/>
                </a:solidFill>
                <a:latin typeface="Plus Jakarta Sans"/>
                <a:ea typeface="Plus Jakarta Sans"/>
                <a:cs typeface="Plus Jakarta Sans"/>
                <a:sym typeface="Plus Jakarta Sans"/>
              </a:rPr>
              <a:t>Ground-Level Ozone</a:t>
            </a:r>
            <a:endParaRPr/>
          </a:p>
        </p:txBody>
      </p:sp>
      <p:sp>
        <p:nvSpPr>
          <p:cNvPr id="282" name="Google Shape;282;p24"/>
          <p:cNvSpPr txBox="1"/>
          <p:nvPr/>
        </p:nvSpPr>
        <p:spPr>
          <a:xfrm>
            <a:off x="10096500" y="4700587"/>
            <a:ext cx="16668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284C7"/>
                </a:solidFill>
                <a:latin typeface="Plus Jakarta Sans"/>
                <a:ea typeface="Plus Jakarta Sans"/>
                <a:cs typeface="Plus Jakarta Sans"/>
                <a:sym typeface="Plus Jakarta Sans"/>
              </a:rPr>
              <a:t>1 Communit</a:t>
            </a:r>
            <a:r>
              <a:rPr b="1" lang="en-US" sz="1350">
                <a:solidFill>
                  <a:srgbClr val="0284C7"/>
                </a:solidFill>
                <a:latin typeface="Plus Jakarta Sans"/>
                <a:ea typeface="Plus Jakarta Sans"/>
                <a:cs typeface="Plus Jakarta Sans"/>
                <a:sym typeface="Plus Jakarta Sans"/>
              </a:rPr>
              <a:t>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5"/>
          <p:cNvSpPr txBox="1"/>
          <p:nvPr/>
        </p:nvSpPr>
        <p:spPr>
          <a:xfrm>
            <a:off x="762000" y="533400"/>
            <a:ext cx="11430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DATA INSIGHTS • CYNTHIA'S ANALYSIS</a:t>
            </a:r>
            <a:endParaRPr/>
          </a:p>
        </p:txBody>
      </p:sp>
      <p:sp>
        <p:nvSpPr>
          <p:cNvPr id="288" name="Google Shape;288;p25"/>
          <p:cNvSpPr txBox="1"/>
          <p:nvPr/>
        </p:nvSpPr>
        <p:spPr>
          <a:xfrm>
            <a:off x="762000" y="781050"/>
            <a:ext cx="114300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Plus Jakarta Sans"/>
                <a:ea typeface="Plus Jakarta Sans"/>
                <a:cs typeface="Plus Jakarta Sans"/>
                <a:sym typeface="Plus Jakarta Sans"/>
              </a:rPr>
              <a:t>90th Percentile Pollutant Exceedances (n=246)</a:t>
            </a:r>
            <a:endParaRPr/>
          </a:p>
        </p:txBody>
      </p:sp>
      <p:pic>
        <p:nvPicPr>
          <p:cNvPr id="289" name="Google Shape;289;p25"/>
          <p:cNvPicPr preferRelativeResize="0"/>
          <p:nvPr/>
        </p:nvPicPr>
        <p:blipFill rotWithShape="1">
          <a:blip r:embed="rId3">
            <a:alphaModFix/>
          </a:blip>
          <a:srcRect b="0" l="865" r="855" t="0"/>
          <a:stretch/>
        </p:blipFill>
        <p:spPr>
          <a:xfrm>
            <a:off x="2195375" y="1282500"/>
            <a:ext cx="6905375" cy="4579350"/>
          </a:xfrm>
          <a:prstGeom prst="rect">
            <a:avLst/>
          </a:prstGeom>
          <a:noFill/>
          <a:ln>
            <a:noFill/>
          </a:ln>
        </p:spPr>
      </p:pic>
      <p:sp>
        <p:nvSpPr>
          <p:cNvPr id="290" name="Google Shape;290;p25"/>
          <p:cNvSpPr/>
          <p:nvPr/>
        </p:nvSpPr>
        <p:spPr>
          <a:xfrm>
            <a:off x="762000" y="5947812"/>
            <a:ext cx="10668000" cy="523800"/>
          </a:xfrm>
          <a:prstGeom prst="roundRect">
            <a:avLst>
              <a:gd fmla="val 18181"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25"/>
          <p:cNvSpPr/>
          <p:nvPr/>
        </p:nvSpPr>
        <p:spPr>
          <a:xfrm>
            <a:off x="762000" y="5947812"/>
            <a:ext cx="38100" cy="52380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2" name="Google Shape;292;p25"/>
          <p:cNvSpPr txBox="1"/>
          <p:nvPr/>
        </p:nvSpPr>
        <p:spPr>
          <a:xfrm>
            <a:off x="1028700" y="6100212"/>
            <a:ext cx="111633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1E293B"/>
                </a:solidFill>
                <a:latin typeface="Plus Jakarta Sans"/>
                <a:ea typeface="Plus Jakarta Sans"/>
                <a:cs typeface="Plus Jakarta Sans"/>
                <a:sym typeface="Plus Jakarta Sans"/>
              </a:rPr>
              <a:t>Hotspot Insight:</a:t>
            </a:r>
            <a:r>
              <a:rPr b="0" i="0" lang="en-US" sz="1350" u="none" cap="none" strike="noStrike">
                <a:solidFill>
                  <a:srgbClr val="1E293B"/>
                </a:solidFill>
                <a:latin typeface="Plus Jakarta Sans"/>
                <a:ea typeface="Plus Jakarta Sans"/>
                <a:cs typeface="Plus Jakarta Sans"/>
                <a:sym typeface="Plus Jakarta Sans"/>
              </a:rPr>
              <a:t> City of Compton leads all areas with 4 overlapping pollutant cutoffs exceeded.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6" name="Shape 296"/>
        <p:cNvGrpSpPr/>
        <p:nvPr/>
      </p:nvGrpSpPr>
      <p:grpSpPr>
        <a:xfrm>
          <a:off x="0" y="0"/>
          <a:ext cx="0" cy="0"/>
          <a:chOff x="0" y="0"/>
          <a:chExt cx="0" cy="0"/>
        </a:xfrm>
      </p:grpSpPr>
      <p:sp>
        <p:nvSpPr>
          <p:cNvPr id="297" name="Google Shape;297;p26"/>
          <p:cNvSpPr/>
          <p:nvPr/>
        </p:nvSpPr>
        <p:spPr>
          <a:xfrm>
            <a:off x="762000" y="2636639"/>
            <a:ext cx="5534025" cy="2565796"/>
          </a:xfrm>
          <a:prstGeom prst="roundRect">
            <a:avLst>
              <a:gd fmla="val 5939"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8" name="Google Shape;298;p26"/>
          <p:cNvSpPr/>
          <p:nvPr/>
        </p:nvSpPr>
        <p:spPr>
          <a:xfrm>
            <a:off x="6677025" y="2553890"/>
            <a:ext cx="4752975" cy="1270396"/>
          </a:xfrm>
          <a:prstGeom prst="roundRect">
            <a:avLst>
              <a:gd fmla="val 8997"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9" name="Google Shape;299;p26"/>
          <p:cNvSpPr/>
          <p:nvPr/>
        </p:nvSpPr>
        <p:spPr>
          <a:xfrm>
            <a:off x="6677025" y="4014787"/>
            <a:ext cx="4752975" cy="1270396"/>
          </a:xfrm>
          <a:prstGeom prst="roundRect">
            <a:avLst>
              <a:gd fmla="val 8997"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0" name="Google Shape;300;p26"/>
          <p:cNvSpPr txBox="1"/>
          <p:nvPr/>
        </p:nvSpPr>
        <p:spPr>
          <a:xfrm>
            <a:off x="762000" y="533400"/>
            <a:ext cx="114300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SOCIOECONOMIC CONVERGENCE</a:t>
            </a:r>
            <a:endParaRPr/>
          </a:p>
        </p:txBody>
      </p:sp>
      <p:sp>
        <p:nvSpPr>
          <p:cNvPr id="301" name="Google Shape;301;p26"/>
          <p:cNvSpPr txBox="1"/>
          <p:nvPr/>
        </p:nvSpPr>
        <p:spPr>
          <a:xfrm>
            <a:off x="762000" y="781050"/>
            <a:ext cx="11430000" cy="428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Plus Jakarta Sans"/>
                <a:ea typeface="Plus Jakarta Sans"/>
                <a:cs typeface="Plus Jakarta Sans"/>
                <a:sym typeface="Plus Jakarta Sans"/>
              </a:rPr>
              <a:t>Environmental Burden Meets High Poverty</a:t>
            </a:r>
            <a:endParaRPr/>
          </a:p>
        </p:txBody>
      </p:sp>
      <p:sp>
        <p:nvSpPr>
          <p:cNvPr id="302" name="Google Shape;302;p26"/>
          <p:cNvSpPr txBox="1"/>
          <p:nvPr/>
        </p:nvSpPr>
        <p:spPr>
          <a:xfrm>
            <a:off x="558403" y="3027164"/>
            <a:ext cx="5941218" cy="838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6600" u="none" cap="none" strike="noStrike">
                <a:solidFill>
                  <a:srgbClr val="E11D48"/>
                </a:solidFill>
                <a:latin typeface="Plus Jakarta Sans"/>
                <a:ea typeface="Plus Jakarta Sans"/>
                <a:cs typeface="Plus Jakarta Sans"/>
                <a:sym typeface="Plus Jakarta Sans"/>
              </a:rPr>
              <a:t>52.4%</a:t>
            </a:r>
            <a:endParaRPr/>
          </a:p>
        </p:txBody>
      </p:sp>
      <p:sp>
        <p:nvSpPr>
          <p:cNvPr id="303" name="Google Shape;303;p26"/>
          <p:cNvSpPr txBox="1"/>
          <p:nvPr/>
        </p:nvSpPr>
        <p:spPr>
          <a:xfrm>
            <a:off x="558403" y="4017764"/>
            <a:ext cx="5941218" cy="2381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High-Poverty Communities</a:t>
            </a:r>
            <a:endParaRPr/>
          </a:p>
        </p:txBody>
      </p:sp>
      <p:sp>
        <p:nvSpPr>
          <p:cNvPr id="304" name="Google Shape;304;p26"/>
          <p:cNvSpPr txBox="1"/>
          <p:nvPr/>
        </p:nvSpPr>
        <p:spPr>
          <a:xfrm>
            <a:off x="558403" y="4332089"/>
            <a:ext cx="5941218" cy="479821"/>
          </a:xfrm>
          <a:prstGeom prst="rect">
            <a:avLst/>
          </a:prstGeom>
          <a:noFill/>
          <a:ln>
            <a:noFill/>
          </a:ln>
        </p:spPr>
        <p:txBody>
          <a:bodyPr anchorCtr="0" anchor="t" bIns="0" lIns="0" spcFirstLastPara="1" rIns="0" wrap="square" tIns="0">
            <a:spAutoFit/>
          </a:bodyPr>
          <a:lstStyle/>
          <a:p>
            <a:pPr indent="0" lvl="0" marL="0" marR="0" rtl="0" algn="ctr">
              <a:lnSpc>
                <a:spcPct val="139925"/>
              </a:lnSpc>
              <a:spcBef>
                <a:spcPts val="0"/>
              </a:spcBef>
              <a:spcAft>
                <a:spcPts val="0"/>
              </a:spcAft>
              <a:buNone/>
            </a:pPr>
            <a:r>
              <a:rPr b="0" i="0" lang="en-US" sz="1350" u="none" cap="none" strike="noStrike">
                <a:solidFill>
                  <a:srgbClr val="64748B"/>
                </a:solidFill>
                <a:latin typeface="Plus Jakarta Sans"/>
                <a:ea typeface="Plus Jakarta Sans"/>
                <a:cs typeface="Plus Jakarta Sans"/>
                <a:sym typeface="Plus Jakarta Sans"/>
              </a:rPr>
              <a:t>Over half of sensitive tracts exceed the 64.6% poverty cutoff.</a:t>
            </a:r>
            <a:endParaRPr/>
          </a:p>
        </p:txBody>
      </p:sp>
      <p:sp>
        <p:nvSpPr>
          <p:cNvPr id="305" name="Google Shape;305;p26"/>
          <p:cNvSpPr txBox="1"/>
          <p:nvPr/>
        </p:nvSpPr>
        <p:spPr>
          <a:xfrm>
            <a:off x="6915150" y="2792015"/>
            <a:ext cx="5276850"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89 Compounded Communities</a:t>
            </a:r>
            <a:endParaRPr/>
          </a:p>
        </p:txBody>
      </p:sp>
      <p:sp>
        <p:nvSpPr>
          <p:cNvPr id="306" name="Google Shape;306;p26"/>
          <p:cNvSpPr txBox="1"/>
          <p:nvPr/>
        </p:nvSpPr>
        <p:spPr>
          <a:xfrm>
            <a:off x="6915150" y="3106340"/>
            <a:ext cx="4371975" cy="479821"/>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Face both severe air pollution and acute poverty rates.</a:t>
            </a:r>
            <a:endParaRPr/>
          </a:p>
        </p:txBody>
      </p:sp>
      <p:sp>
        <p:nvSpPr>
          <p:cNvPr id="307" name="Google Shape;307;p26"/>
          <p:cNvSpPr txBox="1"/>
          <p:nvPr/>
        </p:nvSpPr>
        <p:spPr>
          <a:xfrm>
            <a:off x="6915150" y="4252912"/>
            <a:ext cx="5276850"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Vermont Vista Hotspot</a:t>
            </a:r>
            <a:endParaRPr/>
          </a:p>
        </p:txBody>
      </p:sp>
      <p:sp>
        <p:nvSpPr>
          <p:cNvPr id="308" name="Google Shape;308;p26"/>
          <p:cNvSpPr txBox="1"/>
          <p:nvPr/>
        </p:nvSpPr>
        <p:spPr>
          <a:xfrm>
            <a:off x="6915150" y="4567237"/>
            <a:ext cx="4371975" cy="479821"/>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Highest combined poverty rate and sensitivity index in LA.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7"/>
          <p:cNvSpPr/>
          <p:nvPr/>
        </p:nvSpPr>
        <p:spPr>
          <a:xfrm>
            <a:off x="0" y="0"/>
            <a:ext cx="76200" cy="68580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14" name="Google Shape;314;p27"/>
          <p:cNvGrpSpPr/>
          <p:nvPr/>
        </p:nvGrpSpPr>
        <p:grpSpPr>
          <a:xfrm>
            <a:off x="952500" y="2000250"/>
            <a:ext cx="10287000" cy="2762250"/>
            <a:chOff x="0" y="0"/>
            <a:chExt cx="10287000" cy="2762250"/>
          </a:xfrm>
        </p:grpSpPr>
        <p:sp>
          <p:nvSpPr>
            <p:cNvPr id="315" name="Google Shape;315;p27"/>
            <p:cNvSpPr txBox="1"/>
            <p:nvPr/>
          </p:nvSpPr>
          <p:spPr>
            <a:xfrm>
              <a:off x="0" y="0"/>
              <a:ext cx="10287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300">
                  <a:solidFill>
                    <a:srgbClr val="0284C7"/>
                  </a:solidFill>
                  <a:latin typeface="Plus Jakarta Sans"/>
                  <a:ea typeface="Plus Jakarta Sans"/>
                  <a:cs typeface="Plus Jakarta Sans"/>
                  <a:sym typeface="Plus Jakarta Sans"/>
                </a:rPr>
                <a:t>INSIGHT </a:t>
              </a:r>
              <a:r>
                <a:rPr b="1" lang="en-US" sz="1300">
                  <a:solidFill>
                    <a:srgbClr val="0284C7"/>
                  </a:solidFill>
                  <a:latin typeface="Plus Jakarta Sans"/>
                  <a:ea typeface="Plus Jakarta Sans"/>
                  <a:cs typeface="Plus Jakarta Sans"/>
                  <a:sym typeface="Plus Jakarta Sans"/>
                </a:rPr>
                <a:t>#02</a:t>
              </a:r>
              <a:endParaRPr b="1" i="0" sz="1300">
                <a:solidFill>
                  <a:srgbClr val="0284C7"/>
                </a:solidFill>
                <a:latin typeface="Plus Jakarta Sans"/>
                <a:ea typeface="Plus Jakarta Sans"/>
                <a:cs typeface="Plus Jakarta Sans"/>
                <a:sym typeface="Plus Jakarta Sans"/>
              </a:endParaRPr>
            </a:p>
          </p:txBody>
        </p:sp>
        <p:sp>
          <p:nvSpPr>
            <p:cNvPr id="316" name="Google Shape;316;p27"/>
            <p:cNvSpPr txBox="1"/>
            <p:nvPr/>
          </p:nvSpPr>
          <p:spPr>
            <a:xfrm>
              <a:off x="0" y="381000"/>
              <a:ext cx="10287000" cy="133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US" sz="4800">
                  <a:solidFill>
                    <a:srgbClr val="0F172A"/>
                  </a:solidFill>
                  <a:latin typeface="Plus Jakarta Sans ExtraBold"/>
                  <a:ea typeface="Plus Jakarta Sans ExtraBold"/>
                  <a:cs typeface="Plus Jakarta Sans ExtraBold"/>
                  <a:sym typeface="Plus Jakarta Sans ExtraBold"/>
                </a:rPr>
                <a:t>Education &amp; Unemployment</a:t>
              </a:r>
              <a:endParaRPr b="0" i="0" sz="4800">
                <a:solidFill>
                  <a:srgbClr val="0F172A"/>
                </a:solidFill>
                <a:latin typeface="Plus Jakarta Sans ExtraBold"/>
                <a:ea typeface="Plus Jakarta Sans ExtraBold"/>
                <a:cs typeface="Plus Jakarta Sans ExtraBold"/>
                <a:sym typeface="Plus Jakarta Sans ExtraBold"/>
              </a:endParaRPr>
            </a:p>
          </p:txBody>
        </p:sp>
        <p:cxnSp>
          <p:nvCxnSpPr>
            <p:cNvPr id="317" name="Google Shape;317;p27"/>
            <p:cNvCxnSpPr/>
            <p:nvPr/>
          </p:nvCxnSpPr>
          <p:spPr>
            <a:xfrm>
              <a:off x="0" y="1952625"/>
              <a:ext cx="1143000" cy="0"/>
            </a:xfrm>
            <a:prstGeom prst="straightConnector1">
              <a:avLst/>
            </a:prstGeom>
            <a:solidFill>
              <a:srgbClr val="FFFFFF"/>
            </a:solidFill>
            <a:ln cap="rnd" cmpd="sng" w="38100">
              <a:solidFill>
                <a:srgbClr val="0284C7"/>
              </a:solidFill>
              <a:prstDash val="solid"/>
              <a:round/>
              <a:headEnd len="sm" w="sm" type="none"/>
              <a:tailEnd len="sm" w="sm" type="none"/>
            </a:ln>
          </p:spPr>
        </p:cxnSp>
        <p:sp>
          <p:nvSpPr>
            <p:cNvPr id="318" name="Google Shape;318;p27"/>
            <p:cNvSpPr txBox="1"/>
            <p:nvPr/>
          </p:nvSpPr>
          <p:spPr>
            <a:xfrm>
              <a:off x="0" y="2190750"/>
              <a:ext cx="8572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US" sz="1800">
                  <a:solidFill>
                    <a:srgbClr val="475569"/>
                  </a:solidFill>
                  <a:latin typeface="Plus Jakarta Sans Medium"/>
                  <a:ea typeface="Plus Jakarta Sans Medium"/>
                  <a:cs typeface="Plus Jakarta Sans Medium"/>
                  <a:sym typeface="Plus Jakarta Sans Medium"/>
                </a:rPr>
                <a:t>Analyst: Arsh</a:t>
              </a:r>
              <a:endParaRPr b="0" i="0" sz="1800">
                <a:solidFill>
                  <a:srgbClr val="475569"/>
                </a:solidFill>
                <a:latin typeface="Plus Jakarta Sans Medium"/>
                <a:ea typeface="Plus Jakarta Sans Medium"/>
                <a:cs typeface="Plus Jakarta Sans Medium"/>
                <a:sym typeface="Plus Jakarta Sans Medium"/>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8"/>
          <p:cNvSpPr/>
          <p:nvPr/>
        </p:nvSpPr>
        <p:spPr>
          <a:xfrm>
            <a:off x="8431925" y="3604025"/>
            <a:ext cx="3396300" cy="1034100"/>
          </a:xfrm>
          <a:prstGeom prst="roundRect">
            <a:avLst>
              <a:gd fmla="val 8997" name="adj"/>
            </a:avLst>
          </a:prstGeom>
          <a:solidFill>
            <a:srgbClr val="F8FAFC"/>
          </a:solidFill>
          <a:ln cap="flat" cmpd="sng" w="7175">
            <a:solidFill>
              <a:srgbClr val="E2E8F0"/>
            </a:solidFill>
            <a:prstDash val="solid"/>
            <a:round/>
            <a:headEnd len="sm" w="sm" type="none"/>
            <a:tailEnd len="sm" w="sm" type="none"/>
          </a:ln>
        </p:spPr>
        <p:txBody>
          <a:bodyPr anchorCtr="0" anchor="ctr" bIns="34625" lIns="69325" spcFirstLastPara="1" rIns="69325" wrap="square" tIns="34625">
            <a:noAutofit/>
          </a:bodyPr>
          <a:lstStyle/>
          <a:p>
            <a:pPr indent="0" lvl="0" marL="0" marR="0" rtl="0" algn="ctr">
              <a:spcBef>
                <a:spcPts val="0"/>
              </a:spcBef>
              <a:spcAft>
                <a:spcPts val="0"/>
              </a:spcAft>
              <a:buNone/>
            </a:pPr>
            <a:r>
              <a:t/>
            </a:r>
            <a:endParaRPr b="0" i="0" sz="1366" u="none" cap="none" strike="noStrike">
              <a:solidFill>
                <a:schemeClr val="dk1"/>
              </a:solidFill>
              <a:latin typeface="Calibri"/>
              <a:ea typeface="Calibri"/>
              <a:cs typeface="Calibri"/>
              <a:sym typeface="Calibri"/>
            </a:endParaRPr>
          </a:p>
        </p:txBody>
      </p:sp>
      <p:sp>
        <p:nvSpPr>
          <p:cNvPr id="324" name="Google Shape;324;p28"/>
          <p:cNvSpPr txBox="1"/>
          <p:nvPr/>
        </p:nvSpPr>
        <p:spPr>
          <a:xfrm>
            <a:off x="8612588" y="3784700"/>
            <a:ext cx="4003200" cy="23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95">
                <a:solidFill>
                  <a:srgbClr val="0F172A"/>
                </a:solidFill>
                <a:latin typeface="Plus Jakarta Sans"/>
                <a:ea typeface="Plus Jakarta Sans"/>
                <a:cs typeface="Plus Jakarta Sans"/>
                <a:sym typeface="Plus Jakarta Sans"/>
              </a:rPr>
              <a:t>Educational disadvantage</a:t>
            </a:r>
            <a:endParaRPr sz="1420"/>
          </a:p>
        </p:txBody>
      </p:sp>
      <p:sp>
        <p:nvSpPr>
          <p:cNvPr id="325" name="Google Shape;325;p28"/>
          <p:cNvSpPr txBox="1"/>
          <p:nvPr/>
        </p:nvSpPr>
        <p:spPr>
          <a:xfrm>
            <a:off x="8576265" y="4101834"/>
            <a:ext cx="3317100" cy="372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10">
                <a:solidFill>
                  <a:srgbClr val="475569"/>
                </a:solidFill>
                <a:latin typeface="Plus Jakarta Sans"/>
                <a:ea typeface="Plus Jakarta Sans"/>
                <a:cs typeface="Plus Jakarta Sans"/>
                <a:sym typeface="Plus Jakarta Sans"/>
              </a:rPr>
              <a:t>measured as the percentage of adults over age 25 without a high school diploma</a:t>
            </a:r>
            <a:endParaRPr sz="1248"/>
          </a:p>
        </p:txBody>
      </p:sp>
      <p:sp>
        <p:nvSpPr>
          <p:cNvPr id="326" name="Google Shape;326;p28"/>
          <p:cNvSpPr txBox="1"/>
          <p:nvPr/>
        </p:nvSpPr>
        <p:spPr>
          <a:xfrm>
            <a:off x="624100" y="763550"/>
            <a:ext cx="11206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t>Do communities with higher educational disadvantage also tend to have higher IAQ sensitivity? </a:t>
            </a:r>
            <a:endParaRPr sz="1600"/>
          </a:p>
        </p:txBody>
      </p:sp>
      <p:sp>
        <p:nvSpPr>
          <p:cNvPr id="327" name="Google Shape;327;p28"/>
          <p:cNvSpPr/>
          <p:nvPr/>
        </p:nvSpPr>
        <p:spPr>
          <a:xfrm>
            <a:off x="8431950" y="4895650"/>
            <a:ext cx="3396300" cy="1034100"/>
          </a:xfrm>
          <a:prstGeom prst="roundRect">
            <a:avLst>
              <a:gd fmla="val 8997" name="adj"/>
            </a:avLst>
          </a:prstGeom>
          <a:solidFill>
            <a:srgbClr val="F8FAFC"/>
          </a:solidFill>
          <a:ln cap="flat" cmpd="sng" w="7175">
            <a:solidFill>
              <a:srgbClr val="E2E8F0"/>
            </a:solidFill>
            <a:prstDash val="solid"/>
            <a:round/>
            <a:headEnd len="sm" w="sm" type="none"/>
            <a:tailEnd len="sm" w="sm" type="none"/>
          </a:ln>
        </p:spPr>
        <p:txBody>
          <a:bodyPr anchorCtr="0" anchor="ctr" bIns="34625" lIns="69325" spcFirstLastPara="1" rIns="69325" wrap="square" tIns="34625">
            <a:noAutofit/>
          </a:bodyPr>
          <a:lstStyle/>
          <a:p>
            <a:pPr indent="0" lvl="0" marL="0" marR="0" rtl="0" algn="ctr">
              <a:spcBef>
                <a:spcPts val="0"/>
              </a:spcBef>
              <a:spcAft>
                <a:spcPts val="0"/>
              </a:spcAft>
              <a:buNone/>
            </a:pPr>
            <a:r>
              <a:t/>
            </a:r>
            <a:endParaRPr b="0" i="0" sz="1366" u="none" cap="none" strike="noStrike">
              <a:solidFill>
                <a:schemeClr val="dk1"/>
              </a:solidFill>
              <a:latin typeface="Calibri"/>
              <a:ea typeface="Calibri"/>
              <a:cs typeface="Calibri"/>
              <a:sym typeface="Calibri"/>
            </a:endParaRPr>
          </a:p>
        </p:txBody>
      </p:sp>
      <p:sp>
        <p:nvSpPr>
          <p:cNvPr id="328" name="Google Shape;328;p28"/>
          <p:cNvSpPr txBox="1"/>
          <p:nvPr/>
        </p:nvSpPr>
        <p:spPr>
          <a:xfrm>
            <a:off x="8612615" y="5076327"/>
            <a:ext cx="4003200" cy="670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130"/>
              </a:spcBef>
              <a:spcAft>
                <a:spcPts val="0"/>
              </a:spcAft>
              <a:buSzPts val="1036"/>
              <a:buNone/>
            </a:pPr>
            <a:r>
              <a:rPr b="1" lang="en-US" sz="1495">
                <a:solidFill>
                  <a:srgbClr val="0F172A"/>
                </a:solidFill>
                <a:latin typeface="Plus Jakarta Sans"/>
                <a:ea typeface="Plus Jakarta Sans"/>
                <a:cs typeface="Plus Jakarta Sans"/>
                <a:sym typeface="Plus Jakarta Sans"/>
              </a:rPr>
              <a:t>Percentiles</a:t>
            </a:r>
            <a:endParaRPr b="1" sz="1495">
              <a:solidFill>
                <a:srgbClr val="0F172A"/>
              </a:solidFill>
              <a:latin typeface="Plus Jakarta Sans"/>
              <a:ea typeface="Plus Jakarta Sans"/>
              <a:cs typeface="Plus Jakarta Sans"/>
              <a:sym typeface="Plus Jakarta Sans"/>
            </a:endParaRPr>
          </a:p>
          <a:p>
            <a:pPr indent="0" lvl="0" marL="0" marR="0" rtl="0" algn="l">
              <a:spcBef>
                <a:spcPts val="1130"/>
              </a:spcBef>
              <a:spcAft>
                <a:spcPts val="0"/>
              </a:spcAft>
              <a:buNone/>
            </a:pPr>
            <a:r>
              <a:t/>
            </a:r>
            <a:endParaRPr b="1" sz="1695">
              <a:solidFill>
                <a:srgbClr val="0F172A"/>
              </a:solidFill>
              <a:latin typeface="Plus Jakarta Sans"/>
              <a:ea typeface="Plus Jakarta Sans"/>
              <a:cs typeface="Plus Jakarta Sans"/>
              <a:sym typeface="Plus Jakarta Sans"/>
            </a:endParaRPr>
          </a:p>
        </p:txBody>
      </p:sp>
      <p:sp>
        <p:nvSpPr>
          <p:cNvPr id="329" name="Google Shape;329;p28"/>
          <p:cNvSpPr txBox="1"/>
          <p:nvPr/>
        </p:nvSpPr>
        <p:spPr>
          <a:xfrm>
            <a:off x="8576313" y="5393470"/>
            <a:ext cx="3317100" cy="703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1130"/>
              </a:spcBef>
              <a:spcAft>
                <a:spcPts val="0"/>
              </a:spcAft>
              <a:buSzPts val="1036"/>
              <a:buNone/>
            </a:pPr>
            <a:r>
              <a:rPr lang="en-US" sz="1210">
                <a:solidFill>
                  <a:srgbClr val="475569"/>
                </a:solidFill>
                <a:latin typeface="Plus Jakarta Sans"/>
                <a:ea typeface="Plus Jakarta Sans"/>
                <a:cs typeface="Plus Jakarta Sans"/>
                <a:sym typeface="Plus Jakarta Sans"/>
              </a:rPr>
              <a:t>represent relative rankings across Los Angeles County census tracts</a:t>
            </a:r>
            <a:endParaRPr sz="1210">
              <a:solidFill>
                <a:srgbClr val="475569"/>
              </a:solidFill>
              <a:latin typeface="Plus Jakarta Sans"/>
              <a:ea typeface="Plus Jakarta Sans"/>
              <a:cs typeface="Plus Jakarta Sans"/>
              <a:sym typeface="Plus Jakarta Sans"/>
            </a:endParaRPr>
          </a:p>
          <a:p>
            <a:pPr indent="0" lvl="0" marL="0" marR="0" rtl="0" algn="l">
              <a:lnSpc>
                <a:spcPct val="100000"/>
              </a:lnSpc>
              <a:spcBef>
                <a:spcPts val="1130"/>
              </a:spcBef>
              <a:spcAft>
                <a:spcPts val="0"/>
              </a:spcAft>
              <a:buNone/>
            </a:pPr>
            <a:r>
              <a:t/>
            </a:r>
            <a:endParaRPr sz="1210">
              <a:solidFill>
                <a:srgbClr val="475569"/>
              </a:solidFill>
              <a:latin typeface="Plus Jakarta Sans"/>
              <a:ea typeface="Plus Jakarta Sans"/>
              <a:cs typeface="Plus Jakarta Sans"/>
              <a:sym typeface="Plus Jakarta Sans"/>
            </a:endParaRPr>
          </a:p>
        </p:txBody>
      </p:sp>
      <p:sp>
        <p:nvSpPr>
          <p:cNvPr id="330" name="Google Shape;330;p28"/>
          <p:cNvSpPr txBox="1"/>
          <p:nvPr/>
        </p:nvSpPr>
        <p:spPr>
          <a:xfrm>
            <a:off x="762000" y="533400"/>
            <a:ext cx="114300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1050">
                <a:solidFill>
                  <a:srgbClr val="0284C7"/>
                </a:solidFill>
                <a:latin typeface="Plus Jakarta Sans"/>
                <a:ea typeface="Plus Jakarta Sans"/>
                <a:cs typeface="Plus Jakarta Sans"/>
                <a:sym typeface="Plus Jakarta Sans"/>
              </a:rPr>
              <a:t>DATA INSIGHTS •  SOCIOECONOMIC ANALYSIS   </a:t>
            </a:r>
            <a:endParaRPr>
              <a:solidFill>
                <a:schemeClr val="dk1"/>
              </a:solidFill>
            </a:endParaRPr>
          </a:p>
          <a:p>
            <a:pPr indent="0" lvl="0" marL="0" marR="0" rtl="0" algn="l">
              <a:spcBef>
                <a:spcPts val="0"/>
              </a:spcBef>
              <a:spcAft>
                <a:spcPts val="0"/>
              </a:spcAft>
              <a:buNone/>
            </a:pPr>
            <a:r>
              <a:t/>
            </a:r>
            <a:endParaRPr b="1" sz="1050">
              <a:solidFill>
                <a:srgbClr val="0284C7"/>
              </a:solidFill>
              <a:latin typeface="Plus Jakarta Sans"/>
              <a:ea typeface="Plus Jakarta Sans"/>
              <a:cs typeface="Plus Jakarta Sans"/>
              <a:sym typeface="Plus Jakarta Sans"/>
            </a:endParaRPr>
          </a:p>
        </p:txBody>
      </p:sp>
      <p:sp>
        <p:nvSpPr>
          <p:cNvPr id="331" name="Google Shape;331;p28"/>
          <p:cNvSpPr/>
          <p:nvPr/>
        </p:nvSpPr>
        <p:spPr>
          <a:xfrm>
            <a:off x="8431932" y="1867303"/>
            <a:ext cx="3396300" cy="1487100"/>
          </a:xfrm>
          <a:prstGeom prst="roundRect">
            <a:avLst>
              <a:gd fmla="val 5939"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2" name="Google Shape;332;p28"/>
          <p:cNvSpPr txBox="1"/>
          <p:nvPr/>
        </p:nvSpPr>
        <p:spPr>
          <a:xfrm>
            <a:off x="8594926" y="2338311"/>
            <a:ext cx="3250200" cy="80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300">
                <a:solidFill>
                  <a:srgbClr val="0284C7"/>
                </a:solidFill>
                <a:latin typeface="Plus Jakarta Sans"/>
                <a:ea typeface="Plus Jakarta Sans"/>
                <a:cs typeface="Plus Jakarta Sans"/>
                <a:sym typeface="Plus Jakarta Sans"/>
              </a:rPr>
              <a:t>Flat trendline with widely scattered points suggests weaker association</a:t>
            </a:r>
            <a:endParaRPr b="1" sz="1300">
              <a:solidFill>
                <a:srgbClr val="0284C7"/>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None/>
            </a:pPr>
            <a:r>
              <a:t/>
            </a:r>
            <a:endParaRPr b="1" sz="1300">
              <a:solidFill>
                <a:srgbClr val="0284C7"/>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None/>
            </a:pPr>
            <a:r>
              <a:t/>
            </a:r>
            <a:endParaRPr b="1" sz="1300">
              <a:solidFill>
                <a:srgbClr val="0284C7"/>
              </a:solidFill>
              <a:latin typeface="Plus Jakarta Sans"/>
              <a:ea typeface="Plus Jakarta Sans"/>
              <a:cs typeface="Plus Jakarta Sans"/>
              <a:sym typeface="Plus Jakarta Sans"/>
            </a:endParaRPr>
          </a:p>
        </p:txBody>
      </p:sp>
      <p:sp>
        <p:nvSpPr>
          <p:cNvPr id="333" name="Google Shape;333;p28"/>
          <p:cNvSpPr txBox="1"/>
          <p:nvPr/>
        </p:nvSpPr>
        <p:spPr>
          <a:xfrm>
            <a:off x="8594935" y="1995985"/>
            <a:ext cx="3646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a:solidFill>
                  <a:srgbClr val="0F172A"/>
                </a:solidFill>
                <a:latin typeface="Plus Jakarta Sans"/>
                <a:ea typeface="Plus Jakarta Sans"/>
                <a:cs typeface="Plus Jakarta Sans"/>
                <a:sym typeface="Plus Jakarta Sans"/>
              </a:rPr>
              <a:t>Trend Direction</a:t>
            </a:r>
            <a:endParaRPr sz="1300"/>
          </a:p>
        </p:txBody>
      </p:sp>
      <p:sp>
        <p:nvSpPr>
          <p:cNvPr id="334" name="Google Shape;334;p28"/>
          <p:cNvSpPr txBox="1"/>
          <p:nvPr/>
        </p:nvSpPr>
        <p:spPr>
          <a:xfrm>
            <a:off x="8594935" y="2828455"/>
            <a:ext cx="3114600" cy="334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1088">
                <a:solidFill>
                  <a:srgbClr val="475569"/>
                </a:solidFill>
                <a:latin typeface="Plus Jakarta Sans"/>
                <a:ea typeface="Plus Jakarta Sans"/>
                <a:cs typeface="Plus Jakarta Sans"/>
                <a:sym typeface="Plus Jakarta Sans"/>
              </a:rPr>
              <a:t>Each dot represents one community/observation.</a:t>
            </a:r>
            <a:endParaRPr/>
          </a:p>
        </p:txBody>
      </p:sp>
      <p:pic>
        <p:nvPicPr>
          <p:cNvPr id="335" name="Google Shape;335;p28" title="Chart"/>
          <p:cNvPicPr preferRelativeResize="0"/>
          <p:nvPr/>
        </p:nvPicPr>
        <p:blipFill>
          <a:blip r:embed="rId3">
            <a:alphaModFix/>
          </a:blip>
          <a:stretch>
            <a:fillRect/>
          </a:stretch>
        </p:blipFill>
        <p:spPr>
          <a:xfrm>
            <a:off x="293451" y="1465250"/>
            <a:ext cx="7687898" cy="475446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9"/>
          <p:cNvSpPr/>
          <p:nvPr/>
        </p:nvSpPr>
        <p:spPr>
          <a:xfrm>
            <a:off x="8431925" y="3604025"/>
            <a:ext cx="3396300" cy="1034100"/>
          </a:xfrm>
          <a:prstGeom prst="roundRect">
            <a:avLst>
              <a:gd fmla="val 8997" name="adj"/>
            </a:avLst>
          </a:prstGeom>
          <a:solidFill>
            <a:srgbClr val="F8FAFC"/>
          </a:solidFill>
          <a:ln cap="flat" cmpd="sng" w="7175">
            <a:solidFill>
              <a:srgbClr val="E2E8F0"/>
            </a:solidFill>
            <a:prstDash val="solid"/>
            <a:round/>
            <a:headEnd len="sm" w="sm" type="none"/>
            <a:tailEnd len="sm" w="sm" type="none"/>
          </a:ln>
        </p:spPr>
        <p:txBody>
          <a:bodyPr anchorCtr="0" anchor="ctr" bIns="34625" lIns="69325" spcFirstLastPara="1" rIns="69325" wrap="square" tIns="34625">
            <a:noAutofit/>
          </a:bodyPr>
          <a:lstStyle/>
          <a:p>
            <a:pPr indent="0" lvl="0" marL="0" marR="0" rtl="0" algn="ctr">
              <a:spcBef>
                <a:spcPts val="0"/>
              </a:spcBef>
              <a:spcAft>
                <a:spcPts val="0"/>
              </a:spcAft>
              <a:buNone/>
            </a:pPr>
            <a:r>
              <a:t/>
            </a:r>
            <a:endParaRPr b="0" i="0" sz="1366" u="none" cap="none" strike="noStrike">
              <a:solidFill>
                <a:schemeClr val="dk1"/>
              </a:solidFill>
              <a:latin typeface="Calibri"/>
              <a:ea typeface="Calibri"/>
              <a:cs typeface="Calibri"/>
              <a:sym typeface="Calibri"/>
            </a:endParaRPr>
          </a:p>
        </p:txBody>
      </p:sp>
      <p:sp>
        <p:nvSpPr>
          <p:cNvPr id="341" name="Google Shape;341;p29"/>
          <p:cNvSpPr txBox="1"/>
          <p:nvPr/>
        </p:nvSpPr>
        <p:spPr>
          <a:xfrm>
            <a:off x="8576263" y="3784712"/>
            <a:ext cx="4003200" cy="23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95">
                <a:solidFill>
                  <a:srgbClr val="0F172A"/>
                </a:solidFill>
                <a:latin typeface="Plus Jakarta Sans"/>
                <a:ea typeface="Plus Jakarta Sans"/>
                <a:cs typeface="Plus Jakarta Sans"/>
                <a:sym typeface="Plus Jakarta Sans"/>
              </a:rPr>
              <a:t>Discrepancy</a:t>
            </a:r>
            <a:r>
              <a:rPr b="1" lang="en-US" sz="1495">
                <a:solidFill>
                  <a:srgbClr val="0F172A"/>
                </a:solidFill>
                <a:latin typeface="Plus Jakarta Sans"/>
                <a:ea typeface="Plus Jakarta Sans"/>
                <a:cs typeface="Plus Jakarta Sans"/>
                <a:sym typeface="Plus Jakarta Sans"/>
              </a:rPr>
              <a:t> </a:t>
            </a:r>
            <a:endParaRPr sz="1420"/>
          </a:p>
        </p:txBody>
      </p:sp>
      <p:sp>
        <p:nvSpPr>
          <p:cNvPr id="342" name="Google Shape;342;p29"/>
          <p:cNvSpPr txBox="1"/>
          <p:nvPr/>
        </p:nvSpPr>
        <p:spPr>
          <a:xfrm>
            <a:off x="8576265" y="4101834"/>
            <a:ext cx="3317100" cy="40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310">
                <a:solidFill>
                  <a:srgbClr val="0284C7"/>
                </a:solidFill>
                <a:latin typeface="Plus Jakarta Sans"/>
                <a:ea typeface="Plus Jakarta Sans"/>
                <a:cs typeface="Plus Jakarta Sans"/>
                <a:sym typeface="Plus Jakarta Sans"/>
              </a:rPr>
              <a:t>Willowbrook has the highest average  unemployment rate of 27%</a:t>
            </a:r>
            <a:endParaRPr b="1" sz="1348">
              <a:solidFill>
                <a:srgbClr val="0284C7"/>
              </a:solidFill>
            </a:endParaRPr>
          </a:p>
        </p:txBody>
      </p:sp>
      <p:sp>
        <p:nvSpPr>
          <p:cNvPr id="343" name="Google Shape;343;p29"/>
          <p:cNvSpPr txBox="1"/>
          <p:nvPr/>
        </p:nvSpPr>
        <p:spPr>
          <a:xfrm>
            <a:off x="624100" y="763550"/>
            <a:ext cx="11206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t>Do communities with </a:t>
            </a:r>
            <a:r>
              <a:rPr lang="en-US" sz="1600"/>
              <a:t>higher unemployment rates</a:t>
            </a:r>
            <a:r>
              <a:rPr lang="en-US" sz="1600"/>
              <a:t> also tend to have higher IAQ sensitivity? </a:t>
            </a:r>
            <a:endParaRPr sz="1600"/>
          </a:p>
        </p:txBody>
      </p:sp>
      <p:sp>
        <p:nvSpPr>
          <p:cNvPr id="344" name="Google Shape;344;p29"/>
          <p:cNvSpPr/>
          <p:nvPr/>
        </p:nvSpPr>
        <p:spPr>
          <a:xfrm>
            <a:off x="8431950" y="4895650"/>
            <a:ext cx="3396300" cy="1034100"/>
          </a:xfrm>
          <a:prstGeom prst="roundRect">
            <a:avLst>
              <a:gd fmla="val 8997" name="adj"/>
            </a:avLst>
          </a:prstGeom>
          <a:solidFill>
            <a:srgbClr val="F8FAFC"/>
          </a:solidFill>
          <a:ln cap="flat" cmpd="sng" w="7175">
            <a:solidFill>
              <a:srgbClr val="E2E8F0"/>
            </a:solidFill>
            <a:prstDash val="solid"/>
            <a:round/>
            <a:headEnd len="sm" w="sm" type="none"/>
            <a:tailEnd len="sm" w="sm" type="none"/>
          </a:ln>
        </p:spPr>
        <p:txBody>
          <a:bodyPr anchorCtr="0" anchor="ctr" bIns="34625" lIns="69325" spcFirstLastPara="1" rIns="69325" wrap="square" tIns="34625">
            <a:noAutofit/>
          </a:bodyPr>
          <a:lstStyle/>
          <a:p>
            <a:pPr indent="0" lvl="0" marL="0" marR="0" rtl="0" algn="ctr">
              <a:spcBef>
                <a:spcPts val="0"/>
              </a:spcBef>
              <a:spcAft>
                <a:spcPts val="0"/>
              </a:spcAft>
              <a:buNone/>
            </a:pPr>
            <a:r>
              <a:t/>
            </a:r>
            <a:endParaRPr b="0" i="0" sz="1366" u="none" cap="none" strike="noStrike">
              <a:solidFill>
                <a:schemeClr val="dk1"/>
              </a:solidFill>
              <a:latin typeface="Calibri"/>
              <a:ea typeface="Calibri"/>
              <a:cs typeface="Calibri"/>
              <a:sym typeface="Calibri"/>
            </a:endParaRPr>
          </a:p>
        </p:txBody>
      </p:sp>
      <p:sp>
        <p:nvSpPr>
          <p:cNvPr id="345" name="Google Shape;345;p29"/>
          <p:cNvSpPr txBox="1"/>
          <p:nvPr/>
        </p:nvSpPr>
        <p:spPr>
          <a:xfrm>
            <a:off x="8612615" y="5076327"/>
            <a:ext cx="4003200" cy="670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130"/>
              </a:spcBef>
              <a:spcAft>
                <a:spcPts val="0"/>
              </a:spcAft>
              <a:buSzPts val="1036"/>
              <a:buNone/>
            </a:pPr>
            <a:r>
              <a:rPr b="1" lang="en-US" sz="1495">
                <a:solidFill>
                  <a:srgbClr val="0F172A"/>
                </a:solidFill>
                <a:latin typeface="Plus Jakarta Sans"/>
                <a:ea typeface="Plus Jakarta Sans"/>
                <a:cs typeface="Plus Jakarta Sans"/>
                <a:sym typeface="Plus Jakarta Sans"/>
              </a:rPr>
              <a:t>Percentiles</a:t>
            </a:r>
            <a:endParaRPr b="1" sz="1495">
              <a:solidFill>
                <a:srgbClr val="0F172A"/>
              </a:solidFill>
              <a:latin typeface="Plus Jakarta Sans"/>
              <a:ea typeface="Plus Jakarta Sans"/>
              <a:cs typeface="Plus Jakarta Sans"/>
              <a:sym typeface="Plus Jakarta Sans"/>
            </a:endParaRPr>
          </a:p>
          <a:p>
            <a:pPr indent="0" lvl="0" marL="0" marR="0" rtl="0" algn="l">
              <a:spcBef>
                <a:spcPts val="1130"/>
              </a:spcBef>
              <a:spcAft>
                <a:spcPts val="0"/>
              </a:spcAft>
              <a:buNone/>
            </a:pPr>
            <a:r>
              <a:t/>
            </a:r>
            <a:endParaRPr b="1" sz="1695">
              <a:solidFill>
                <a:srgbClr val="0F172A"/>
              </a:solidFill>
              <a:latin typeface="Plus Jakarta Sans"/>
              <a:ea typeface="Plus Jakarta Sans"/>
              <a:cs typeface="Plus Jakarta Sans"/>
              <a:sym typeface="Plus Jakarta Sans"/>
            </a:endParaRPr>
          </a:p>
        </p:txBody>
      </p:sp>
      <p:sp>
        <p:nvSpPr>
          <p:cNvPr id="346" name="Google Shape;346;p29"/>
          <p:cNvSpPr txBox="1"/>
          <p:nvPr/>
        </p:nvSpPr>
        <p:spPr>
          <a:xfrm>
            <a:off x="8576313" y="5393470"/>
            <a:ext cx="3317100" cy="703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1130"/>
              </a:spcBef>
              <a:spcAft>
                <a:spcPts val="0"/>
              </a:spcAft>
              <a:buSzPts val="1036"/>
              <a:buNone/>
            </a:pPr>
            <a:r>
              <a:rPr lang="en-US" sz="1210">
                <a:solidFill>
                  <a:srgbClr val="475569"/>
                </a:solidFill>
                <a:latin typeface="Plus Jakarta Sans"/>
                <a:ea typeface="Plus Jakarta Sans"/>
                <a:cs typeface="Plus Jakarta Sans"/>
                <a:sym typeface="Plus Jakarta Sans"/>
              </a:rPr>
              <a:t>represent relative rankings across Los Angeles County census tracts</a:t>
            </a:r>
            <a:endParaRPr sz="1210">
              <a:solidFill>
                <a:srgbClr val="475569"/>
              </a:solidFill>
              <a:latin typeface="Plus Jakarta Sans"/>
              <a:ea typeface="Plus Jakarta Sans"/>
              <a:cs typeface="Plus Jakarta Sans"/>
              <a:sym typeface="Plus Jakarta Sans"/>
            </a:endParaRPr>
          </a:p>
          <a:p>
            <a:pPr indent="0" lvl="0" marL="0" marR="0" rtl="0" algn="l">
              <a:lnSpc>
                <a:spcPct val="100000"/>
              </a:lnSpc>
              <a:spcBef>
                <a:spcPts val="1130"/>
              </a:spcBef>
              <a:spcAft>
                <a:spcPts val="0"/>
              </a:spcAft>
              <a:buNone/>
            </a:pPr>
            <a:r>
              <a:t/>
            </a:r>
            <a:endParaRPr sz="1210">
              <a:solidFill>
                <a:srgbClr val="475569"/>
              </a:solidFill>
              <a:latin typeface="Plus Jakarta Sans"/>
              <a:ea typeface="Plus Jakarta Sans"/>
              <a:cs typeface="Plus Jakarta Sans"/>
              <a:sym typeface="Plus Jakarta Sans"/>
            </a:endParaRPr>
          </a:p>
        </p:txBody>
      </p:sp>
      <p:sp>
        <p:nvSpPr>
          <p:cNvPr id="347" name="Google Shape;347;p29"/>
          <p:cNvSpPr txBox="1"/>
          <p:nvPr/>
        </p:nvSpPr>
        <p:spPr>
          <a:xfrm>
            <a:off x="762000" y="533400"/>
            <a:ext cx="11430000" cy="4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b="1" lang="en-US" sz="1050">
                <a:solidFill>
                  <a:srgbClr val="0284C7"/>
                </a:solidFill>
                <a:latin typeface="Plus Jakarta Sans"/>
                <a:ea typeface="Plus Jakarta Sans"/>
                <a:cs typeface="Plus Jakarta Sans"/>
                <a:sym typeface="Plus Jakarta Sans"/>
              </a:rPr>
              <a:t>DATA INSIGHTS •  SOCIOECONOMIC ANALYSIS   </a:t>
            </a:r>
            <a:endParaRPr>
              <a:solidFill>
                <a:schemeClr val="dk1"/>
              </a:solidFill>
            </a:endParaRPr>
          </a:p>
          <a:p>
            <a:pPr indent="0" lvl="0" marL="0" rtl="0" algn="l">
              <a:spcBef>
                <a:spcPts val="0"/>
              </a:spcBef>
              <a:spcAft>
                <a:spcPts val="0"/>
              </a:spcAft>
              <a:buNone/>
            </a:pPr>
            <a:r>
              <a:t/>
            </a:r>
            <a:endParaRPr b="1" sz="1050">
              <a:solidFill>
                <a:srgbClr val="0284C7"/>
              </a:solidFill>
              <a:latin typeface="Plus Jakarta Sans"/>
              <a:ea typeface="Plus Jakarta Sans"/>
              <a:cs typeface="Plus Jakarta Sans"/>
              <a:sym typeface="Plus Jakarta Sans"/>
            </a:endParaRPr>
          </a:p>
          <a:p>
            <a:pPr indent="0" lvl="0" marL="0" marR="0" rtl="0" algn="l">
              <a:spcBef>
                <a:spcPts val="0"/>
              </a:spcBef>
              <a:spcAft>
                <a:spcPts val="0"/>
              </a:spcAft>
              <a:buNone/>
            </a:pPr>
            <a:r>
              <a:t/>
            </a:r>
            <a:endParaRPr b="1" sz="1050">
              <a:solidFill>
                <a:srgbClr val="0284C7"/>
              </a:solidFill>
              <a:latin typeface="Plus Jakarta Sans"/>
              <a:ea typeface="Plus Jakarta Sans"/>
              <a:cs typeface="Plus Jakarta Sans"/>
              <a:sym typeface="Plus Jakarta Sans"/>
            </a:endParaRPr>
          </a:p>
        </p:txBody>
      </p:sp>
      <p:sp>
        <p:nvSpPr>
          <p:cNvPr id="348" name="Google Shape;348;p29"/>
          <p:cNvSpPr/>
          <p:nvPr/>
        </p:nvSpPr>
        <p:spPr>
          <a:xfrm>
            <a:off x="8431925" y="1867300"/>
            <a:ext cx="3396300" cy="1564500"/>
          </a:xfrm>
          <a:prstGeom prst="roundRect">
            <a:avLst>
              <a:gd fmla="val 5939"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9" name="Google Shape;349;p29"/>
          <p:cNvSpPr txBox="1"/>
          <p:nvPr/>
        </p:nvSpPr>
        <p:spPr>
          <a:xfrm>
            <a:off x="8609725" y="2302400"/>
            <a:ext cx="3250200" cy="80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300">
                <a:solidFill>
                  <a:srgbClr val="0284C7"/>
                </a:solidFill>
                <a:latin typeface="Plus Jakarta Sans"/>
                <a:ea typeface="Plus Jakarta Sans"/>
                <a:cs typeface="Plus Jakarta Sans"/>
                <a:sym typeface="Plus Jakarta Sans"/>
              </a:rPr>
              <a:t>Flat trend line with</a:t>
            </a:r>
            <a:r>
              <a:rPr b="1" lang="en-US" sz="1300">
                <a:solidFill>
                  <a:srgbClr val="0284C7"/>
                </a:solidFill>
                <a:latin typeface="Plus Jakarta Sans"/>
                <a:ea typeface="Plus Jakarta Sans"/>
                <a:cs typeface="Plus Jakarta Sans"/>
                <a:sym typeface="Plus Jakarta Sans"/>
              </a:rPr>
              <a:t> scattered points </a:t>
            </a:r>
            <a:r>
              <a:rPr b="1" lang="en-US" sz="1300">
                <a:solidFill>
                  <a:srgbClr val="0284C7"/>
                </a:solidFill>
                <a:latin typeface="Plus Jakarta Sans"/>
                <a:ea typeface="Plus Jakarta Sans"/>
                <a:cs typeface="Plus Jakarta Sans"/>
                <a:sym typeface="Plus Jakarta Sans"/>
              </a:rPr>
              <a:t>leaning</a:t>
            </a:r>
            <a:r>
              <a:rPr b="1" lang="en-US" sz="1300">
                <a:solidFill>
                  <a:srgbClr val="0284C7"/>
                </a:solidFill>
                <a:latin typeface="Plus Jakarta Sans"/>
                <a:ea typeface="Plus Jakarta Sans"/>
                <a:cs typeface="Plus Jakarta Sans"/>
                <a:sym typeface="Plus Jakarta Sans"/>
              </a:rPr>
              <a:t> toward 10% average unemployment rate </a:t>
            </a:r>
            <a:endParaRPr b="1" sz="1300">
              <a:solidFill>
                <a:srgbClr val="0284C7"/>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None/>
            </a:pPr>
            <a:r>
              <a:t/>
            </a:r>
            <a:endParaRPr b="1" sz="1300">
              <a:solidFill>
                <a:srgbClr val="0284C7"/>
              </a:solidFill>
              <a:latin typeface="Plus Jakarta Sans"/>
              <a:ea typeface="Plus Jakarta Sans"/>
              <a:cs typeface="Plus Jakarta Sans"/>
              <a:sym typeface="Plus Jakarta Sans"/>
            </a:endParaRPr>
          </a:p>
        </p:txBody>
      </p:sp>
      <p:sp>
        <p:nvSpPr>
          <p:cNvPr id="350" name="Google Shape;350;p29"/>
          <p:cNvSpPr txBox="1"/>
          <p:nvPr/>
        </p:nvSpPr>
        <p:spPr>
          <a:xfrm>
            <a:off x="8594935" y="1995985"/>
            <a:ext cx="3646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a:solidFill>
                  <a:srgbClr val="0F172A"/>
                </a:solidFill>
                <a:latin typeface="Plus Jakarta Sans"/>
                <a:ea typeface="Plus Jakarta Sans"/>
                <a:cs typeface="Plus Jakarta Sans"/>
                <a:sym typeface="Plus Jakarta Sans"/>
              </a:rPr>
              <a:t>Trend Direction</a:t>
            </a:r>
            <a:endParaRPr sz="1300"/>
          </a:p>
        </p:txBody>
      </p:sp>
      <p:sp>
        <p:nvSpPr>
          <p:cNvPr id="351" name="Google Shape;351;p29"/>
          <p:cNvSpPr txBox="1"/>
          <p:nvPr/>
        </p:nvSpPr>
        <p:spPr>
          <a:xfrm>
            <a:off x="8612635" y="2989205"/>
            <a:ext cx="3114600" cy="334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1088">
                <a:solidFill>
                  <a:srgbClr val="475569"/>
                </a:solidFill>
                <a:latin typeface="Plus Jakarta Sans"/>
                <a:ea typeface="Plus Jakarta Sans"/>
                <a:cs typeface="Plus Jakarta Sans"/>
                <a:sym typeface="Plus Jakarta Sans"/>
              </a:rPr>
              <a:t>Each dot represents one community/observation.</a:t>
            </a:r>
            <a:endParaRPr/>
          </a:p>
        </p:txBody>
      </p:sp>
      <p:pic>
        <p:nvPicPr>
          <p:cNvPr id="352" name="Google Shape;352;p29" title="Chart"/>
          <p:cNvPicPr preferRelativeResize="0"/>
          <p:nvPr/>
        </p:nvPicPr>
        <p:blipFill>
          <a:blip r:embed="rId3">
            <a:alphaModFix/>
          </a:blip>
          <a:stretch>
            <a:fillRect/>
          </a:stretch>
        </p:blipFill>
        <p:spPr>
          <a:xfrm>
            <a:off x="250225" y="1387637"/>
            <a:ext cx="8127126" cy="502422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p30" title="Chart"/>
          <p:cNvPicPr preferRelativeResize="0"/>
          <p:nvPr/>
        </p:nvPicPr>
        <p:blipFill>
          <a:blip r:embed="rId3">
            <a:alphaModFix/>
          </a:blip>
          <a:stretch>
            <a:fillRect/>
          </a:stretch>
        </p:blipFill>
        <p:spPr>
          <a:xfrm>
            <a:off x="240406" y="1257725"/>
            <a:ext cx="8066567" cy="4989200"/>
          </a:xfrm>
          <a:prstGeom prst="rect">
            <a:avLst/>
          </a:prstGeom>
          <a:noFill/>
          <a:ln>
            <a:noFill/>
          </a:ln>
        </p:spPr>
      </p:pic>
      <p:sp>
        <p:nvSpPr>
          <p:cNvPr id="358" name="Google Shape;358;p30"/>
          <p:cNvSpPr txBox="1"/>
          <p:nvPr/>
        </p:nvSpPr>
        <p:spPr>
          <a:xfrm>
            <a:off x="624100" y="763550"/>
            <a:ext cx="11206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t>Which communities have relatively high educational disadvantage, unemployment, and IAQ sensitivity at the same time?</a:t>
            </a:r>
            <a:endParaRPr sz="1600"/>
          </a:p>
        </p:txBody>
      </p:sp>
      <p:sp>
        <p:nvSpPr>
          <p:cNvPr id="359" name="Google Shape;359;p30"/>
          <p:cNvSpPr txBox="1"/>
          <p:nvPr/>
        </p:nvSpPr>
        <p:spPr>
          <a:xfrm>
            <a:off x="762000" y="533400"/>
            <a:ext cx="11430000" cy="4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b="1" lang="en-US" sz="1050">
                <a:solidFill>
                  <a:srgbClr val="0284C7"/>
                </a:solidFill>
                <a:latin typeface="Plus Jakarta Sans"/>
                <a:ea typeface="Plus Jakarta Sans"/>
                <a:cs typeface="Plus Jakarta Sans"/>
                <a:sym typeface="Plus Jakarta Sans"/>
              </a:rPr>
              <a:t>DATA INSIGHTS •  SOCIOECONOMIC ANALYSIS   </a:t>
            </a:r>
            <a:endParaRPr>
              <a:solidFill>
                <a:schemeClr val="dk1"/>
              </a:solidFill>
            </a:endParaRPr>
          </a:p>
          <a:p>
            <a:pPr indent="0" lvl="0" marL="0" rtl="0" algn="l">
              <a:spcBef>
                <a:spcPts val="0"/>
              </a:spcBef>
              <a:spcAft>
                <a:spcPts val="0"/>
              </a:spcAft>
              <a:buNone/>
            </a:pPr>
            <a:r>
              <a:t/>
            </a:r>
            <a:endParaRPr b="1" sz="1050">
              <a:solidFill>
                <a:srgbClr val="0284C7"/>
              </a:solidFill>
              <a:latin typeface="Plus Jakarta Sans"/>
              <a:ea typeface="Plus Jakarta Sans"/>
              <a:cs typeface="Plus Jakarta Sans"/>
              <a:sym typeface="Plus Jakarta Sans"/>
            </a:endParaRPr>
          </a:p>
          <a:p>
            <a:pPr indent="0" lvl="0" marL="0" marR="0" rtl="0" algn="l">
              <a:spcBef>
                <a:spcPts val="0"/>
              </a:spcBef>
              <a:spcAft>
                <a:spcPts val="0"/>
              </a:spcAft>
              <a:buNone/>
            </a:pPr>
            <a:r>
              <a:t/>
            </a:r>
            <a:endParaRPr b="1" sz="1050">
              <a:solidFill>
                <a:srgbClr val="0284C7"/>
              </a:solidFill>
              <a:latin typeface="Plus Jakarta Sans"/>
              <a:ea typeface="Plus Jakarta Sans"/>
              <a:cs typeface="Plus Jakarta Sans"/>
              <a:sym typeface="Plus Jakarta Sans"/>
            </a:endParaRPr>
          </a:p>
        </p:txBody>
      </p:sp>
      <p:sp>
        <p:nvSpPr>
          <p:cNvPr id="360" name="Google Shape;360;p30"/>
          <p:cNvSpPr/>
          <p:nvPr/>
        </p:nvSpPr>
        <p:spPr>
          <a:xfrm>
            <a:off x="8431932" y="1867303"/>
            <a:ext cx="3396300" cy="1487100"/>
          </a:xfrm>
          <a:prstGeom prst="roundRect">
            <a:avLst>
              <a:gd fmla="val 5939"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30"/>
          <p:cNvSpPr txBox="1"/>
          <p:nvPr/>
        </p:nvSpPr>
        <p:spPr>
          <a:xfrm>
            <a:off x="8594926" y="2338311"/>
            <a:ext cx="3250200" cy="600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300">
                <a:solidFill>
                  <a:srgbClr val="0284C7"/>
                </a:solidFill>
                <a:latin typeface="Plus Jakarta Sans"/>
                <a:ea typeface="Plus Jakarta Sans"/>
                <a:cs typeface="Plus Jakarta Sans"/>
                <a:sym typeface="Plus Jakarta Sans"/>
              </a:rPr>
              <a:t>Vermont Vista, Willowbrook,</a:t>
            </a:r>
            <a:endParaRPr b="1" sz="1300">
              <a:solidFill>
                <a:srgbClr val="0284C7"/>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None/>
            </a:pPr>
            <a:r>
              <a:rPr b="1" lang="en-US" sz="1300">
                <a:solidFill>
                  <a:srgbClr val="0284C7"/>
                </a:solidFill>
                <a:latin typeface="Plus Jakarta Sans"/>
                <a:ea typeface="Plus Jakarta Sans"/>
                <a:cs typeface="Plus Jakarta Sans"/>
                <a:sym typeface="Plus Jakarta Sans"/>
              </a:rPr>
              <a:t>Green Meadows</a:t>
            </a:r>
            <a:endParaRPr b="1" sz="1300">
              <a:solidFill>
                <a:srgbClr val="0284C7"/>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None/>
            </a:pPr>
            <a:r>
              <a:t/>
            </a:r>
            <a:endParaRPr b="1" sz="1300">
              <a:solidFill>
                <a:srgbClr val="0284C7"/>
              </a:solidFill>
              <a:latin typeface="Plus Jakarta Sans"/>
              <a:ea typeface="Plus Jakarta Sans"/>
              <a:cs typeface="Plus Jakarta Sans"/>
              <a:sym typeface="Plus Jakarta Sans"/>
            </a:endParaRPr>
          </a:p>
        </p:txBody>
      </p:sp>
      <p:sp>
        <p:nvSpPr>
          <p:cNvPr id="362" name="Google Shape;362;p30"/>
          <p:cNvSpPr txBox="1"/>
          <p:nvPr/>
        </p:nvSpPr>
        <p:spPr>
          <a:xfrm>
            <a:off x="8594935" y="1995985"/>
            <a:ext cx="3646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a:solidFill>
                  <a:srgbClr val="0F172A"/>
                </a:solidFill>
                <a:latin typeface="Plus Jakarta Sans"/>
                <a:ea typeface="Plus Jakarta Sans"/>
                <a:cs typeface="Plus Jakarta Sans"/>
                <a:sym typeface="Plus Jakarta Sans"/>
              </a:rPr>
              <a:t>Highest </a:t>
            </a:r>
            <a:r>
              <a:rPr b="1" lang="en-US">
                <a:solidFill>
                  <a:srgbClr val="0F172A"/>
                </a:solidFill>
                <a:latin typeface="Plus Jakarta Sans"/>
                <a:ea typeface="Plus Jakarta Sans"/>
                <a:cs typeface="Plus Jakarta Sans"/>
                <a:sym typeface="Plus Jakarta Sans"/>
              </a:rPr>
              <a:t> Rankings</a:t>
            </a:r>
            <a:endParaRPr sz="1300"/>
          </a:p>
        </p:txBody>
      </p:sp>
      <p:sp>
        <p:nvSpPr>
          <p:cNvPr id="363" name="Google Shape;363;p30"/>
          <p:cNvSpPr txBox="1"/>
          <p:nvPr/>
        </p:nvSpPr>
        <p:spPr>
          <a:xfrm>
            <a:off x="8594935" y="2828455"/>
            <a:ext cx="3114600" cy="401700"/>
          </a:xfrm>
          <a:prstGeom prst="rect">
            <a:avLst/>
          </a:prstGeom>
          <a:noFill/>
          <a:ln>
            <a:noFill/>
          </a:ln>
        </p:spPr>
        <p:txBody>
          <a:bodyPr anchorCtr="0" anchor="t" bIns="0" lIns="0" spcFirstLastPara="1" rIns="0" wrap="square" tIns="0">
            <a:spAutoFit/>
          </a:bodyPr>
          <a:lstStyle/>
          <a:p>
            <a:pPr indent="0" lvl="0" marL="0" rtl="0" algn="l">
              <a:lnSpc>
                <a:spcPct val="139925"/>
              </a:lnSpc>
              <a:spcBef>
                <a:spcPts val="0"/>
              </a:spcBef>
              <a:spcAft>
                <a:spcPts val="0"/>
              </a:spcAft>
              <a:buClr>
                <a:schemeClr val="dk1"/>
              </a:buClr>
              <a:buFont typeface="Arial"/>
              <a:buNone/>
            </a:pPr>
            <a:r>
              <a:rPr lang="en-US" sz="1088">
                <a:solidFill>
                  <a:srgbClr val="475569"/>
                </a:solidFill>
                <a:latin typeface="Plus Jakarta Sans"/>
                <a:ea typeface="Plus Jakarta Sans"/>
                <a:cs typeface="Plus Jakarta Sans"/>
                <a:sym typeface="Plus Jakarta Sans"/>
              </a:rPr>
              <a:t>have all three factors very high, each  passing the 80th percentile ranking </a:t>
            </a:r>
            <a:endParaRPr/>
          </a:p>
        </p:txBody>
      </p:sp>
      <p:sp>
        <p:nvSpPr>
          <p:cNvPr id="364" name="Google Shape;364;p30"/>
          <p:cNvSpPr/>
          <p:nvPr/>
        </p:nvSpPr>
        <p:spPr>
          <a:xfrm>
            <a:off x="8449288" y="3486603"/>
            <a:ext cx="3396300" cy="2316000"/>
          </a:xfrm>
          <a:prstGeom prst="roundRect">
            <a:avLst>
              <a:gd fmla="val 5939"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5" name="Google Shape;365;p30"/>
          <p:cNvSpPr txBox="1"/>
          <p:nvPr/>
        </p:nvSpPr>
        <p:spPr>
          <a:xfrm>
            <a:off x="8527113" y="4052741"/>
            <a:ext cx="32502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500">
                <a:solidFill>
                  <a:srgbClr val="0284C7"/>
                </a:solidFill>
                <a:latin typeface="Plus Jakarta Sans"/>
                <a:ea typeface="Plus Jakarta Sans"/>
                <a:cs typeface="Plus Jakarta Sans"/>
                <a:sym typeface="Plus Jakarta Sans"/>
              </a:rPr>
              <a:t>Educational dis.: 59th percentile</a:t>
            </a:r>
            <a:endParaRPr b="1" sz="1500">
              <a:solidFill>
                <a:srgbClr val="0284C7"/>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None/>
            </a:pPr>
            <a:r>
              <a:rPr b="1" lang="en-US" sz="1500">
                <a:solidFill>
                  <a:srgbClr val="0284C7"/>
                </a:solidFill>
                <a:latin typeface="Plus Jakarta Sans"/>
                <a:ea typeface="Plus Jakarta Sans"/>
                <a:cs typeface="Plus Jakarta Sans"/>
                <a:sym typeface="Plus Jakarta Sans"/>
              </a:rPr>
              <a:t>Unemployment: 87th percentile</a:t>
            </a:r>
            <a:endParaRPr b="1" sz="1500">
              <a:solidFill>
                <a:srgbClr val="0284C7"/>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None/>
            </a:pPr>
            <a:r>
              <a:rPr b="1" lang="en-US" sz="1500">
                <a:solidFill>
                  <a:srgbClr val="0284C7"/>
                </a:solidFill>
                <a:latin typeface="Plus Jakarta Sans"/>
                <a:ea typeface="Plus Jakarta Sans"/>
                <a:cs typeface="Plus Jakarta Sans"/>
                <a:sym typeface="Plus Jakarta Sans"/>
              </a:rPr>
              <a:t>IAQ sensitivity: 98th percentile</a:t>
            </a:r>
            <a:endParaRPr b="1" sz="1500">
              <a:solidFill>
                <a:srgbClr val="0284C7"/>
              </a:solidFill>
              <a:latin typeface="Plus Jakarta Sans"/>
              <a:ea typeface="Plus Jakarta Sans"/>
              <a:cs typeface="Plus Jakarta Sans"/>
              <a:sym typeface="Plus Jakarta Sans"/>
            </a:endParaRPr>
          </a:p>
        </p:txBody>
      </p:sp>
      <p:sp>
        <p:nvSpPr>
          <p:cNvPr id="366" name="Google Shape;366;p30"/>
          <p:cNvSpPr txBox="1"/>
          <p:nvPr/>
        </p:nvSpPr>
        <p:spPr>
          <a:xfrm>
            <a:off x="8324338" y="3680509"/>
            <a:ext cx="36462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500">
                <a:solidFill>
                  <a:srgbClr val="0F172A"/>
                </a:solidFill>
                <a:latin typeface="Plus Jakarta Sans"/>
                <a:ea typeface="Plus Jakarta Sans"/>
                <a:cs typeface="Plus Jakarta Sans"/>
                <a:sym typeface="Plus Jakarta Sans"/>
              </a:rPr>
              <a:t>Lancaster: A mixed ranking pattern</a:t>
            </a:r>
            <a:endParaRPr/>
          </a:p>
        </p:txBody>
      </p:sp>
      <p:sp>
        <p:nvSpPr>
          <p:cNvPr id="367" name="Google Shape;367;p30"/>
          <p:cNvSpPr txBox="1"/>
          <p:nvPr/>
        </p:nvSpPr>
        <p:spPr>
          <a:xfrm>
            <a:off x="8522338" y="4886703"/>
            <a:ext cx="3250200" cy="636000"/>
          </a:xfrm>
          <a:prstGeom prst="rect">
            <a:avLst/>
          </a:prstGeom>
          <a:noFill/>
          <a:ln>
            <a:noFill/>
          </a:ln>
        </p:spPr>
        <p:txBody>
          <a:bodyPr anchorCtr="0" anchor="t" bIns="0" lIns="0" spcFirstLastPara="1" rIns="0" wrap="square" tIns="0">
            <a:spAutoFit/>
          </a:bodyPr>
          <a:lstStyle/>
          <a:p>
            <a:pPr indent="0" lvl="0" marL="0" rtl="0" algn="l">
              <a:lnSpc>
                <a:spcPct val="139925"/>
              </a:lnSpc>
              <a:spcBef>
                <a:spcPts val="0"/>
              </a:spcBef>
              <a:spcAft>
                <a:spcPts val="0"/>
              </a:spcAft>
              <a:buNone/>
            </a:pPr>
            <a:r>
              <a:rPr lang="en-US" sz="1088">
                <a:solidFill>
                  <a:srgbClr val="475569"/>
                </a:solidFill>
                <a:latin typeface="Plus Jakarta Sans"/>
                <a:ea typeface="Plus Jakarta Sans"/>
                <a:cs typeface="Plus Jakarta Sans"/>
                <a:sym typeface="Plus Jakarta Sans"/>
              </a:rPr>
              <a:t>High IAQ sensitivity does not always coincide with equally high rankings across every socioeconomic measure.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1"/>
          <p:cNvSpPr/>
          <p:nvPr/>
        </p:nvSpPr>
        <p:spPr>
          <a:xfrm>
            <a:off x="0" y="0"/>
            <a:ext cx="76200" cy="68580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31"/>
          <p:cNvSpPr txBox="1"/>
          <p:nvPr/>
        </p:nvSpPr>
        <p:spPr>
          <a:xfrm>
            <a:off x="952500" y="1905000"/>
            <a:ext cx="10287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284C7"/>
                </a:solidFill>
                <a:latin typeface="Plus Jakarta Sans"/>
                <a:ea typeface="Plus Jakarta Sans"/>
                <a:cs typeface="Plus Jakarta Sans"/>
                <a:sym typeface="Plus Jakarta Sans"/>
              </a:rPr>
              <a:t>INSIGHT #03</a:t>
            </a:r>
            <a:endParaRPr b="1" sz="1400">
              <a:solidFill>
                <a:srgbClr val="0284C7"/>
              </a:solidFill>
              <a:latin typeface="Plus Jakarta Sans"/>
              <a:ea typeface="Plus Jakarta Sans"/>
              <a:cs typeface="Plus Jakarta Sans"/>
              <a:sym typeface="Plus Jakarta Sans"/>
            </a:endParaRPr>
          </a:p>
        </p:txBody>
      </p:sp>
      <p:sp>
        <p:nvSpPr>
          <p:cNvPr id="374" name="Google Shape;374;p31"/>
          <p:cNvSpPr txBox="1"/>
          <p:nvPr/>
        </p:nvSpPr>
        <p:spPr>
          <a:xfrm>
            <a:off x="952500" y="2286000"/>
            <a:ext cx="10287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5200">
                <a:solidFill>
                  <a:srgbClr val="0F172A"/>
                </a:solidFill>
                <a:latin typeface="Plus Jakarta Sans"/>
                <a:ea typeface="Plus Jakarta Sans"/>
                <a:cs typeface="Plus Jakarta Sans"/>
                <a:sym typeface="Plus Jakarta Sans"/>
              </a:rPr>
              <a:t>Housing</a:t>
            </a:r>
            <a:endParaRPr b="1" sz="5200">
              <a:solidFill>
                <a:srgbClr val="0F172A"/>
              </a:solidFill>
              <a:latin typeface="Plus Jakarta Sans"/>
              <a:ea typeface="Plus Jakarta Sans"/>
              <a:cs typeface="Plus Jakarta Sans"/>
              <a:sym typeface="Plus Jakarta Sans"/>
            </a:endParaRPr>
          </a:p>
        </p:txBody>
      </p:sp>
      <p:cxnSp>
        <p:nvCxnSpPr>
          <p:cNvPr id="375" name="Google Shape;375;p31"/>
          <p:cNvCxnSpPr/>
          <p:nvPr/>
        </p:nvCxnSpPr>
        <p:spPr>
          <a:xfrm>
            <a:off x="952500" y="3667125"/>
            <a:ext cx="1143000" cy="0"/>
          </a:xfrm>
          <a:prstGeom prst="straightConnector1">
            <a:avLst/>
          </a:prstGeom>
          <a:solidFill>
            <a:srgbClr val="FFFFFF"/>
          </a:solidFill>
          <a:ln cap="rnd" cmpd="sng" w="38100">
            <a:solidFill>
              <a:srgbClr val="0284C7"/>
            </a:solidFill>
            <a:prstDash val="solid"/>
            <a:round/>
            <a:headEnd len="sm" w="sm" type="none"/>
            <a:tailEnd len="sm" w="sm" type="none"/>
          </a:ln>
        </p:spPr>
      </p:cxnSp>
      <p:sp>
        <p:nvSpPr>
          <p:cNvPr id="376" name="Google Shape;376;p31"/>
          <p:cNvSpPr txBox="1"/>
          <p:nvPr/>
        </p:nvSpPr>
        <p:spPr>
          <a:xfrm>
            <a:off x="952500" y="3952875"/>
            <a:ext cx="8572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800">
                <a:solidFill>
                  <a:srgbClr val="475569"/>
                </a:solidFill>
                <a:latin typeface="Plus Jakarta Sans Medium"/>
                <a:ea typeface="Plus Jakarta Sans Medium"/>
                <a:cs typeface="Plus Jakarta Sans Medium"/>
                <a:sym typeface="Plus Jakarta Sans Medium"/>
              </a:rPr>
              <a:t>Analyst: Thomas</a:t>
            </a:r>
            <a:endParaRPr b="0" sz="1800">
              <a:solidFill>
                <a:srgbClr val="475569"/>
              </a:solidFill>
              <a:latin typeface="Plus Jakarta Sans Medium"/>
              <a:ea typeface="Plus Jakarta Sans Medium"/>
              <a:cs typeface="Plus Jakarta Sans Medium"/>
              <a:sym typeface="Plus Jakarta Sans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0" name="Shape 380"/>
        <p:cNvGrpSpPr/>
        <p:nvPr/>
      </p:nvGrpSpPr>
      <p:grpSpPr>
        <a:xfrm>
          <a:off x="0" y="0"/>
          <a:ext cx="0" cy="0"/>
          <a:chOff x="0" y="0"/>
          <a:chExt cx="0" cy="0"/>
        </a:xfrm>
      </p:grpSpPr>
      <p:sp>
        <p:nvSpPr>
          <p:cNvPr id="381" name="Google Shape;381;p32"/>
          <p:cNvSpPr/>
          <p:nvPr/>
        </p:nvSpPr>
        <p:spPr>
          <a:xfrm>
            <a:off x="762000" y="1613075"/>
            <a:ext cx="2860200" cy="1293300"/>
          </a:xfrm>
          <a:prstGeom prst="roundRect">
            <a:avLst>
              <a:gd fmla="val 6370"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2" name="Google Shape;382;p32"/>
          <p:cNvSpPr/>
          <p:nvPr/>
        </p:nvSpPr>
        <p:spPr>
          <a:xfrm>
            <a:off x="4803500" y="1464563"/>
            <a:ext cx="6915300" cy="4371900"/>
          </a:xfrm>
          <a:prstGeom prst="roundRect">
            <a:avLst>
              <a:gd fmla="val 0" name="adj"/>
            </a:avLst>
          </a:prstGeom>
          <a:solidFill>
            <a:schemeClr val="accent1"/>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Google Shape;383;p32"/>
          <p:cNvSpPr txBox="1"/>
          <p:nvPr/>
        </p:nvSpPr>
        <p:spPr>
          <a:xfrm>
            <a:off x="762000" y="533400"/>
            <a:ext cx="11430000" cy="163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50">
                <a:solidFill>
                  <a:srgbClr val="0284C7"/>
                </a:solidFill>
                <a:latin typeface="Plus Jakarta Sans"/>
                <a:ea typeface="Plus Jakarta Sans"/>
                <a:cs typeface="Plus Jakarta Sans"/>
                <a:sym typeface="Plus Jakarta Sans"/>
              </a:rPr>
              <a:t>DATA INSIGHTS • HOUSING CHARACTERISTIC SCORE</a:t>
            </a:r>
            <a:endParaRPr/>
          </a:p>
        </p:txBody>
      </p:sp>
      <p:sp>
        <p:nvSpPr>
          <p:cNvPr id="384" name="Google Shape;384;p32"/>
          <p:cNvSpPr txBox="1"/>
          <p:nvPr/>
        </p:nvSpPr>
        <p:spPr>
          <a:xfrm>
            <a:off x="762000" y="781050"/>
            <a:ext cx="11430000" cy="413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0F172A"/>
                </a:solidFill>
                <a:latin typeface="Plus Jakarta Sans"/>
                <a:ea typeface="Plus Jakarta Sans"/>
                <a:cs typeface="Plus Jakarta Sans"/>
                <a:sym typeface="Plus Jakarta Sans"/>
              </a:rPr>
              <a:t>Children’s Lead Risk compared to Unit Age</a:t>
            </a:r>
            <a:endParaRPr/>
          </a:p>
        </p:txBody>
      </p:sp>
      <p:sp>
        <p:nvSpPr>
          <p:cNvPr id="385" name="Google Shape;385;p32"/>
          <p:cNvSpPr txBox="1"/>
          <p:nvPr/>
        </p:nvSpPr>
        <p:spPr>
          <a:xfrm>
            <a:off x="929400" y="1807713"/>
            <a:ext cx="23568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a:t>Older = More Risk</a:t>
            </a:r>
            <a:endParaRPr b="1"/>
          </a:p>
        </p:txBody>
      </p:sp>
      <p:sp>
        <p:nvSpPr>
          <p:cNvPr id="386" name="Google Shape;386;p32"/>
          <p:cNvSpPr txBox="1"/>
          <p:nvPr/>
        </p:nvSpPr>
        <p:spPr>
          <a:xfrm>
            <a:off x="929399" y="2087875"/>
            <a:ext cx="2446200" cy="6723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Clr>
                <a:srgbClr val="000000"/>
              </a:buClr>
              <a:buFont typeface="Arial"/>
              <a:buNone/>
            </a:pPr>
            <a:r>
              <a:rPr lang="en-US" sz="1150">
                <a:solidFill>
                  <a:srgbClr val="475569"/>
                </a:solidFill>
                <a:latin typeface="Plus Jakarta Sans"/>
                <a:ea typeface="Plus Jakarta Sans"/>
                <a:cs typeface="Plus Jakarta Sans"/>
                <a:sym typeface="Plus Jakarta Sans"/>
              </a:rPr>
              <a:t>Clear correlation between older building scores and Children’s Lead Risk.</a:t>
            </a:r>
            <a:endParaRPr sz="1200"/>
          </a:p>
        </p:txBody>
      </p:sp>
      <p:pic>
        <p:nvPicPr>
          <p:cNvPr id="387" name="Google Shape;387;p32" title="Chart"/>
          <p:cNvPicPr preferRelativeResize="0"/>
          <p:nvPr/>
        </p:nvPicPr>
        <p:blipFill>
          <a:blip r:embed="rId3">
            <a:alphaModFix/>
          </a:blip>
          <a:stretch>
            <a:fillRect/>
          </a:stretch>
        </p:blipFill>
        <p:spPr>
          <a:xfrm>
            <a:off x="4933613" y="1650800"/>
            <a:ext cx="6655060" cy="3999425"/>
          </a:xfrm>
          <a:prstGeom prst="rect">
            <a:avLst/>
          </a:prstGeom>
          <a:noFill/>
          <a:ln>
            <a:noFill/>
          </a:ln>
        </p:spPr>
      </p:pic>
      <p:sp>
        <p:nvSpPr>
          <p:cNvPr id="388" name="Google Shape;388;p32"/>
          <p:cNvSpPr/>
          <p:nvPr/>
        </p:nvSpPr>
        <p:spPr>
          <a:xfrm>
            <a:off x="762000" y="3142475"/>
            <a:ext cx="2860200" cy="1154700"/>
          </a:xfrm>
          <a:prstGeom prst="roundRect">
            <a:avLst>
              <a:gd fmla="val 6370"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9" name="Google Shape;389;p32"/>
          <p:cNvSpPr txBox="1"/>
          <p:nvPr/>
        </p:nvSpPr>
        <p:spPr>
          <a:xfrm>
            <a:off x="929400" y="3337113"/>
            <a:ext cx="23568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a:t>Highest Regional Scores</a:t>
            </a:r>
            <a:endParaRPr b="1"/>
          </a:p>
        </p:txBody>
      </p:sp>
      <p:sp>
        <p:nvSpPr>
          <p:cNvPr id="390" name="Google Shape;390;p32"/>
          <p:cNvSpPr txBox="1"/>
          <p:nvPr/>
        </p:nvSpPr>
        <p:spPr>
          <a:xfrm>
            <a:off x="929399" y="3617275"/>
            <a:ext cx="2446200" cy="435600"/>
          </a:xfrm>
          <a:prstGeom prst="rect">
            <a:avLst/>
          </a:prstGeom>
          <a:noFill/>
          <a:ln>
            <a:noFill/>
          </a:ln>
        </p:spPr>
        <p:txBody>
          <a:bodyPr anchorCtr="0" anchor="t" bIns="0" lIns="0" spcFirstLastPara="1" rIns="0" wrap="square" tIns="0">
            <a:spAutoFit/>
          </a:bodyPr>
          <a:lstStyle/>
          <a:p>
            <a:pPr indent="-304800" lvl="0" marL="457200" marR="0" rtl="0" algn="l">
              <a:lnSpc>
                <a:spcPct val="139925"/>
              </a:lnSpc>
              <a:spcBef>
                <a:spcPts val="0"/>
              </a:spcBef>
              <a:spcAft>
                <a:spcPts val="0"/>
              </a:spcAft>
              <a:buSzPts val="1200"/>
              <a:buChar char="●"/>
            </a:pPr>
            <a:r>
              <a:rPr lang="en-US" sz="1150">
                <a:solidFill>
                  <a:srgbClr val="475569"/>
                </a:solidFill>
                <a:latin typeface="Plus Jakarta Sans"/>
                <a:ea typeface="Plus Jakarta Sans"/>
                <a:cs typeface="Plus Jakarta Sans"/>
                <a:sym typeface="Plus Jakarta Sans"/>
              </a:rPr>
              <a:t>SPA 6 (South) </a:t>
            </a:r>
            <a:r>
              <a:rPr b="1" lang="en-US" sz="1150">
                <a:solidFill>
                  <a:srgbClr val="0284C7"/>
                </a:solidFill>
                <a:latin typeface="Plus Jakarta Sans"/>
                <a:ea typeface="Plus Jakarta Sans"/>
                <a:cs typeface="Plus Jakarta Sans"/>
                <a:sym typeface="Plus Jakarta Sans"/>
              </a:rPr>
              <a:t>(7.02)</a:t>
            </a:r>
            <a:endParaRPr b="1" sz="1150">
              <a:solidFill>
                <a:srgbClr val="0284C7"/>
              </a:solidFill>
              <a:latin typeface="Plus Jakarta Sans"/>
              <a:ea typeface="Plus Jakarta Sans"/>
              <a:cs typeface="Plus Jakarta Sans"/>
              <a:sym typeface="Plus Jakarta Sans"/>
            </a:endParaRPr>
          </a:p>
          <a:p>
            <a:pPr indent="-301625" lvl="0" marL="457200" marR="0" rtl="0" algn="l">
              <a:lnSpc>
                <a:spcPct val="139925"/>
              </a:lnSpc>
              <a:spcBef>
                <a:spcPts val="0"/>
              </a:spcBef>
              <a:spcAft>
                <a:spcPts val="0"/>
              </a:spcAft>
              <a:buClr>
                <a:srgbClr val="475569"/>
              </a:buClr>
              <a:buSzPts val="1150"/>
              <a:buFont typeface="Plus Jakarta Sans"/>
              <a:buChar char="●"/>
            </a:pPr>
            <a:r>
              <a:rPr lang="en-US" sz="1150">
                <a:solidFill>
                  <a:srgbClr val="475569"/>
                </a:solidFill>
                <a:latin typeface="Plus Jakarta Sans"/>
                <a:ea typeface="Plus Jakarta Sans"/>
                <a:cs typeface="Plus Jakarta Sans"/>
                <a:sym typeface="Plus Jakarta Sans"/>
              </a:rPr>
              <a:t>SPA 7 (East)</a:t>
            </a:r>
            <a:r>
              <a:rPr lang="en-US" sz="1150">
                <a:solidFill>
                  <a:srgbClr val="0284C7"/>
                </a:solidFill>
                <a:latin typeface="Plus Jakarta Sans"/>
                <a:ea typeface="Plus Jakarta Sans"/>
                <a:cs typeface="Plus Jakarta Sans"/>
                <a:sym typeface="Plus Jakarta Sans"/>
              </a:rPr>
              <a:t> </a:t>
            </a:r>
            <a:r>
              <a:rPr b="1" lang="en-US" sz="1150">
                <a:solidFill>
                  <a:srgbClr val="0284C7"/>
                </a:solidFill>
                <a:latin typeface="Plus Jakarta Sans"/>
                <a:ea typeface="Plus Jakarta Sans"/>
                <a:cs typeface="Plus Jakarta Sans"/>
                <a:sym typeface="Plus Jakarta Sans"/>
              </a:rPr>
              <a:t>(7.00)</a:t>
            </a:r>
            <a:endParaRPr b="1" sz="1150">
              <a:solidFill>
                <a:srgbClr val="0284C7"/>
              </a:solidFill>
              <a:latin typeface="Plus Jakarta Sans"/>
              <a:ea typeface="Plus Jakarta Sans"/>
              <a:cs typeface="Plus Jakarta Sans"/>
              <a:sym typeface="Plus Jakarta Sans"/>
            </a:endParaRPr>
          </a:p>
        </p:txBody>
      </p:sp>
      <p:sp>
        <p:nvSpPr>
          <p:cNvPr id="391" name="Google Shape;391;p32"/>
          <p:cNvSpPr/>
          <p:nvPr/>
        </p:nvSpPr>
        <p:spPr>
          <a:xfrm>
            <a:off x="762000" y="4533275"/>
            <a:ext cx="2860200" cy="1154700"/>
          </a:xfrm>
          <a:prstGeom prst="roundRect">
            <a:avLst>
              <a:gd fmla="val 6370"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2" name="Google Shape;392;p32"/>
          <p:cNvSpPr txBox="1"/>
          <p:nvPr/>
        </p:nvSpPr>
        <p:spPr>
          <a:xfrm>
            <a:off x="929400" y="4727913"/>
            <a:ext cx="23568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a:t>Newer Housing Stock</a:t>
            </a:r>
            <a:endParaRPr b="1"/>
          </a:p>
        </p:txBody>
      </p:sp>
      <p:sp>
        <p:nvSpPr>
          <p:cNvPr id="393" name="Google Shape;393;p32"/>
          <p:cNvSpPr txBox="1"/>
          <p:nvPr/>
        </p:nvSpPr>
        <p:spPr>
          <a:xfrm>
            <a:off x="929398" y="5008075"/>
            <a:ext cx="2606100" cy="435600"/>
          </a:xfrm>
          <a:prstGeom prst="rect">
            <a:avLst/>
          </a:prstGeom>
          <a:noFill/>
          <a:ln>
            <a:noFill/>
          </a:ln>
        </p:spPr>
        <p:txBody>
          <a:bodyPr anchorCtr="0" anchor="t" bIns="0" lIns="0" spcFirstLastPara="1" rIns="0" wrap="square" tIns="0">
            <a:spAutoFit/>
          </a:bodyPr>
          <a:lstStyle/>
          <a:p>
            <a:pPr indent="-304800" lvl="0" marL="457200" marR="0" rtl="0" algn="l">
              <a:lnSpc>
                <a:spcPct val="139925"/>
              </a:lnSpc>
              <a:spcBef>
                <a:spcPts val="0"/>
              </a:spcBef>
              <a:spcAft>
                <a:spcPts val="0"/>
              </a:spcAft>
              <a:buSzPts val="1200"/>
              <a:buChar char="●"/>
            </a:pPr>
            <a:r>
              <a:rPr lang="en-US" sz="1150">
                <a:solidFill>
                  <a:srgbClr val="475569"/>
                </a:solidFill>
                <a:latin typeface="Plus Jakarta Sans"/>
                <a:ea typeface="Plus Jakarta Sans"/>
                <a:cs typeface="Plus Jakarta Sans"/>
                <a:sym typeface="Plus Jakarta Sans"/>
              </a:rPr>
              <a:t>SPA 2</a:t>
            </a:r>
            <a:r>
              <a:rPr lang="en-US" sz="1150">
                <a:solidFill>
                  <a:srgbClr val="475569"/>
                </a:solidFill>
                <a:latin typeface="Plus Jakarta Sans"/>
                <a:ea typeface="Plus Jakarta Sans"/>
                <a:cs typeface="Plus Jakarta Sans"/>
                <a:sym typeface="Plus Jakarta Sans"/>
              </a:rPr>
              <a:t> (San Fernando) </a:t>
            </a:r>
            <a:r>
              <a:rPr b="1" lang="en-US" sz="1150">
                <a:solidFill>
                  <a:srgbClr val="0284C7"/>
                </a:solidFill>
                <a:latin typeface="Plus Jakarta Sans"/>
                <a:ea typeface="Plus Jakarta Sans"/>
                <a:cs typeface="Plus Jakarta Sans"/>
                <a:sym typeface="Plus Jakarta Sans"/>
              </a:rPr>
              <a:t>(5.27)</a:t>
            </a:r>
            <a:endParaRPr b="1" sz="1150">
              <a:solidFill>
                <a:srgbClr val="0284C7"/>
              </a:solidFill>
              <a:latin typeface="Plus Jakarta Sans"/>
              <a:ea typeface="Plus Jakarta Sans"/>
              <a:cs typeface="Plus Jakarta Sans"/>
              <a:sym typeface="Plus Jakarta Sans"/>
            </a:endParaRPr>
          </a:p>
          <a:p>
            <a:pPr indent="-301625" lvl="0" marL="457200" marR="0" rtl="0" algn="l">
              <a:lnSpc>
                <a:spcPct val="139925"/>
              </a:lnSpc>
              <a:spcBef>
                <a:spcPts val="0"/>
              </a:spcBef>
              <a:spcAft>
                <a:spcPts val="0"/>
              </a:spcAft>
              <a:buClr>
                <a:srgbClr val="475569"/>
              </a:buClr>
              <a:buSzPts val="1150"/>
              <a:buFont typeface="Plus Jakarta Sans"/>
              <a:buChar char="●"/>
            </a:pPr>
            <a:r>
              <a:rPr lang="en-US" sz="1150">
                <a:solidFill>
                  <a:srgbClr val="475569"/>
                </a:solidFill>
                <a:latin typeface="Plus Jakarta Sans"/>
                <a:ea typeface="Plus Jakarta Sans"/>
                <a:cs typeface="Plus Jakarta Sans"/>
                <a:sym typeface="Plus Jakarta Sans"/>
              </a:rPr>
              <a:t>SPA 1 (Antelope Valley)</a:t>
            </a:r>
            <a:r>
              <a:rPr lang="en-US" sz="1150">
                <a:solidFill>
                  <a:srgbClr val="0284C7"/>
                </a:solidFill>
                <a:latin typeface="Plus Jakarta Sans"/>
                <a:ea typeface="Plus Jakarta Sans"/>
                <a:cs typeface="Plus Jakarta Sans"/>
                <a:sym typeface="Plus Jakarta Sans"/>
              </a:rPr>
              <a:t> </a:t>
            </a:r>
            <a:r>
              <a:rPr b="1" lang="en-US" sz="1150">
                <a:solidFill>
                  <a:srgbClr val="0284C7"/>
                </a:solidFill>
                <a:latin typeface="Plus Jakarta Sans"/>
                <a:ea typeface="Plus Jakarta Sans"/>
                <a:cs typeface="Plus Jakarta Sans"/>
                <a:sym typeface="Plus Jakarta Sans"/>
              </a:rPr>
              <a:t>(5.33)</a:t>
            </a:r>
            <a:endParaRPr b="1" sz="1150">
              <a:solidFill>
                <a:srgbClr val="0284C7"/>
              </a:solidFill>
              <a:latin typeface="Plus Jakarta Sans"/>
              <a:ea typeface="Plus Jakarta Sans"/>
              <a:cs typeface="Plus Jakarta Sans"/>
              <a:sym typeface="Plus Jakarta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7" name="Shape 397"/>
        <p:cNvGrpSpPr/>
        <p:nvPr/>
      </p:nvGrpSpPr>
      <p:grpSpPr>
        <a:xfrm>
          <a:off x="0" y="0"/>
          <a:ext cx="0" cy="0"/>
          <a:chOff x="0" y="0"/>
          <a:chExt cx="0" cy="0"/>
        </a:xfrm>
      </p:grpSpPr>
      <p:sp>
        <p:nvSpPr>
          <p:cNvPr id="398" name="Google Shape;398;p33"/>
          <p:cNvSpPr/>
          <p:nvPr/>
        </p:nvSpPr>
        <p:spPr>
          <a:xfrm>
            <a:off x="2127752" y="1282500"/>
            <a:ext cx="7936500" cy="5165700"/>
          </a:xfrm>
          <a:prstGeom prst="roundRect">
            <a:avLst>
              <a:gd fmla="val 0" name="adj"/>
            </a:avLst>
          </a:prstGeom>
          <a:solidFill>
            <a:schemeClr val="accent1"/>
          </a:solidFill>
          <a:ln cap="flat" cmpd="sng" w="11250">
            <a:solidFill>
              <a:srgbClr val="E2E8F0"/>
            </a:solidFill>
            <a:prstDash val="solid"/>
            <a:round/>
            <a:headEnd len="sm" w="sm" type="none"/>
            <a:tailEnd len="sm" w="sm" type="none"/>
          </a:ln>
        </p:spPr>
        <p:txBody>
          <a:bodyPr anchorCtr="0" anchor="ctr" bIns="54000" lIns="108025" spcFirstLastPara="1" rIns="108025" wrap="square" tIns="54000">
            <a:noAutofit/>
          </a:bodyPr>
          <a:lstStyle/>
          <a:p>
            <a:pPr indent="0" lvl="0" marL="0" marR="0" rtl="0" algn="ctr">
              <a:spcBef>
                <a:spcPts val="0"/>
              </a:spcBef>
              <a:spcAft>
                <a:spcPts val="0"/>
              </a:spcAft>
              <a:buNone/>
            </a:pPr>
            <a:r>
              <a:t/>
            </a:r>
            <a:endParaRPr b="0" i="0" sz="2127" u="none" cap="none" strike="noStrike">
              <a:solidFill>
                <a:schemeClr val="dk1"/>
              </a:solidFill>
              <a:latin typeface="Calibri"/>
              <a:ea typeface="Calibri"/>
              <a:cs typeface="Calibri"/>
              <a:sym typeface="Calibri"/>
            </a:endParaRPr>
          </a:p>
        </p:txBody>
      </p:sp>
      <p:sp>
        <p:nvSpPr>
          <p:cNvPr id="399" name="Google Shape;399;p33"/>
          <p:cNvSpPr txBox="1"/>
          <p:nvPr/>
        </p:nvSpPr>
        <p:spPr>
          <a:xfrm>
            <a:off x="762000" y="533400"/>
            <a:ext cx="11430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50">
                <a:solidFill>
                  <a:srgbClr val="0284C7"/>
                </a:solidFill>
                <a:latin typeface="Plus Jakarta Sans"/>
                <a:ea typeface="Plus Jakarta Sans"/>
                <a:cs typeface="Plus Jakarta Sans"/>
                <a:sym typeface="Plus Jakarta Sans"/>
              </a:rPr>
              <a:t>DATA INSIGHTS • HOUSING CHARACTERISTIC SCORE</a:t>
            </a:r>
            <a:endParaRPr/>
          </a:p>
        </p:txBody>
      </p:sp>
      <p:sp>
        <p:nvSpPr>
          <p:cNvPr id="400" name="Google Shape;400;p33"/>
          <p:cNvSpPr txBox="1"/>
          <p:nvPr/>
        </p:nvSpPr>
        <p:spPr>
          <a:xfrm>
            <a:off x="762000" y="781050"/>
            <a:ext cx="114300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0F172A"/>
                </a:solidFill>
                <a:latin typeface="Plus Jakarta Sans"/>
                <a:ea typeface="Plus Jakarta Sans"/>
                <a:cs typeface="Plus Jakarta Sans"/>
                <a:sym typeface="Plus Jakarta Sans"/>
              </a:rPr>
              <a:t>Renter % Data</a:t>
            </a:r>
            <a:endParaRPr/>
          </a:p>
        </p:txBody>
      </p:sp>
      <p:pic>
        <p:nvPicPr>
          <p:cNvPr id="401" name="Google Shape;401;p33"/>
          <p:cNvPicPr preferRelativeResize="0"/>
          <p:nvPr/>
        </p:nvPicPr>
        <p:blipFill>
          <a:blip r:embed="rId3">
            <a:alphaModFix/>
          </a:blip>
          <a:stretch>
            <a:fillRect/>
          </a:stretch>
        </p:blipFill>
        <p:spPr>
          <a:xfrm>
            <a:off x="2319733" y="1418015"/>
            <a:ext cx="7552488" cy="489481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5" name="Shape 405"/>
        <p:cNvGrpSpPr/>
        <p:nvPr/>
      </p:nvGrpSpPr>
      <p:grpSpPr>
        <a:xfrm>
          <a:off x="0" y="0"/>
          <a:ext cx="0" cy="0"/>
          <a:chOff x="0" y="0"/>
          <a:chExt cx="0" cy="0"/>
        </a:xfrm>
      </p:grpSpPr>
      <p:sp>
        <p:nvSpPr>
          <p:cNvPr id="406" name="Google Shape;406;p34"/>
          <p:cNvSpPr/>
          <p:nvPr/>
        </p:nvSpPr>
        <p:spPr>
          <a:xfrm>
            <a:off x="8621125" y="2684663"/>
            <a:ext cx="2860200" cy="565800"/>
          </a:xfrm>
          <a:prstGeom prst="roundRect">
            <a:avLst>
              <a:gd fmla="val 6370"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0"/>
              </a:spcBef>
              <a:spcAft>
                <a:spcPts val="0"/>
              </a:spcAft>
              <a:buSzPts val="1100"/>
              <a:buNone/>
            </a:pPr>
            <a:r>
              <a:t/>
            </a:r>
            <a:endParaRPr b="1" sz="1100">
              <a:solidFill>
                <a:schemeClr val="dk1"/>
              </a:solidFill>
              <a:highlight>
                <a:srgbClr val="F4CCCC"/>
              </a:highlight>
            </a:endParaRPr>
          </a:p>
          <a:p>
            <a:pPr indent="0" lvl="0" marL="0" rtl="0" algn="l">
              <a:lnSpc>
                <a:spcPct val="115000"/>
              </a:lnSpc>
              <a:spcBef>
                <a:spcPts val="0"/>
              </a:spcBef>
              <a:spcAft>
                <a:spcPts val="0"/>
              </a:spcAft>
              <a:buSzPts val="1100"/>
              <a:buNone/>
            </a:pPr>
            <a:r>
              <a:t/>
            </a:r>
            <a:endParaRPr b="1" sz="1100">
              <a:solidFill>
                <a:schemeClr val="dk1"/>
              </a:solidFill>
              <a:highlight>
                <a:srgbClr val="F4CCCC"/>
              </a:highlight>
            </a:endParaRPr>
          </a:p>
          <a:p>
            <a:pPr indent="0" lvl="0" marL="0" rtl="0" algn="l">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p34"/>
          <p:cNvSpPr/>
          <p:nvPr/>
        </p:nvSpPr>
        <p:spPr>
          <a:xfrm>
            <a:off x="762000" y="1613063"/>
            <a:ext cx="6915300" cy="4371900"/>
          </a:xfrm>
          <a:prstGeom prst="roundRect">
            <a:avLst>
              <a:gd fmla="val 0" name="adj"/>
            </a:avLst>
          </a:prstGeom>
          <a:solidFill>
            <a:schemeClr val="accent1"/>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8" name="Google Shape;408;p34"/>
          <p:cNvSpPr txBox="1"/>
          <p:nvPr/>
        </p:nvSpPr>
        <p:spPr>
          <a:xfrm>
            <a:off x="762000" y="533400"/>
            <a:ext cx="11430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50">
                <a:solidFill>
                  <a:srgbClr val="0284C7"/>
                </a:solidFill>
                <a:latin typeface="Plus Jakarta Sans"/>
                <a:ea typeface="Plus Jakarta Sans"/>
                <a:cs typeface="Plus Jakarta Sans"/>
                <a:sym typeface="Plus Jakarta Sans"/>
              </a:rPr>
              <a:t>DATA INSIGHTS • HOUSING CHARACTERISTIC SCORE</a:t>
            </a:r>
            <a:endParaRPr/>
          </a:p>
        </p:txBody>
      </p:sp>
      <p:sp>
        <p:nvSpPr>
          <p:cNvPr id="409" name="Google Shape;409;p34"/>
          <p:cNvSpPr txBox="1"/>
          <p:nvPr/>
        </p:nvSpPr>
        <p:spPr>
          <a:xfrm>
            <a:off x="762000" y="781050"/>
            <a:ext cx="114300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0F172A"/>
                </a:solidFill>
                <a:latin typeface="Plus Jakarta Sans"/>
                <a:ea typeface="Plus Jakarta Sans"/>
                <a:cs typeface="Plus Jakarta Sans"/>
                <a:sym typeface="Plus Jakarta Sans"/>
              </a:rPr>
              <a:t>More Space, More Problems?</a:t>
            </a:r>
            <a:endParaRPr/>
          </a:p>
        </p:txBody>
      </p:sp>
      <p:sp>
        <p:nvSpPr>
          <p:cNvPr id="410" name="Google Shape;410;p34"/>
          <p:cNvSpPr txBox="1"/>
          <p:nvPr/>
        </p:nvSpPr>
        <p:spPr>
          <a:xfrm>
            <a:off x="8748175" y="2837504"/>
            <a:ext cx="26061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a:t>Larger Average </a:t>
            </a:r>
            <a:r>
              <a:rPr b="1" lang="en-US"/>
              <a:t>= Lower Score</a:t>
            </a:r>
            <a:endParaRPr b="1"/>
          </a:p>
        </p:txBody>
      </p:sp>
      <p:pic>
        <p:nvPicPr>
          <p:cNvPr id="411" name="Google Shape;411;p34"/>
          <p:cNvPicPr preferRelativeResize="0"/>
          <p:nvPr/>
        </p:nvPicPr>
        <p:blipFill>
          <a:blip r:embed="rId3">
            <a:alphaModFix/>
          </a:blip>
          <a:stretch>
            <a:fillRect/>
          </a:stretch>
        </p:blipFill>
        <p:spPr>
          <a:xfrm>
            <a:off x="902950" y="1857050"/>
            <a:ext cx="6633399" cy="3883949"/>
          </a:xfrm>
          <a:prstGeom prst="rect">
            <a:avLst/>
          </a:prstGeom>
          <a:noFill/>
          <a:ln>
            <a:noFill/>
          </a:ln>
        </p:spPr>
      </p:pic>
      <p:sp>
        <p:nvSpPr>
          <p:cNvPr id="412" name="Google Shape;412;p34"/>
          <p:cNvSpPr/>
          <p:nvPr/>
        </p:nvSpPr>
        <p:spPr>
          <a:xfrm>
            <a:off x="8627475" y="3893388"/>
            <a:ext cx="2860200" cy="1020000"/>
          </a:xfrm>
          <a:prstGeom prst="roundRect">
            <a:avLst>
              <a:gd fmla="val 6370"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0"/>
              </a:spcBef>
              <a:spcAft>
                <a:spcPts val="0"/>
              </a:spcAft>
              <a:buSzPts val="1100"/>
              <a:buNone/>
            </a:pPr>
            <a:r>
              <a:t/>
            </a:r>
            <a:endParaRPr b="1" sz="1100">
              <a:solidFill>
                <a:schemeClr val="dk1"/>
              </a:solidFill>
              <a:highlight>
                <a:srgbClr val="F4CCCC"/>
              </a:highlight>
            </a:endParaRPr>
          </a:p>
          <a:p>
            <a:pPr indent="0" lvl="0" marL="0" rtl="0" algn="l">
              <a:lnSpc>
                <a:spcPct val="115000"/>
              </a:lnSpc>
              <a:spcBef>
                <a:spcPts val="0"/>
              </a:spcBef>
              <a:spcAft>
                <a:spcPts val="0"/>
              </a:spcAft>
              <a:buSzPts val="1100"/>
              <a:buNone/>
            </a:pPr>
            <a:r>
              <a:t/>
            </a:r>
            <a:endParaRPr b="1" sz="1100">
              <a:solidFill>
                <a:schemeClr val="dk1"/>
              </a:solidFill>
              <a:highlight>
                <a:srgbClr val="F4CCCC"/>
              </a:highlight>
            </a:endParaRPr>
          </a:p>
          <a:p>
            <a:pPr indent="0" lvl="0" marL="0" rtl="0" algn="l">
              <a:lnSpc>
                <a:spcPct val="115000"/>
              </a:lnSpc>
              <a:spcBef>
                <a:spcPts val="0"/>
              </a:spcBef>
              <a:spcAft>
                <a:spcPts val="0"/>
              </a:spcAft>
              <a:buSzPts val="1100"/>
              <a:buNone/>
            </a:pPr>
            <a:r>
              <a:t/>
            </a:r>
            <a:endParaRPr b="0" i="0" sz="1800" u="none" cap="none" strike="noStrike">
              <a:solidFill>
                <a:schemeClr val="dk1"/>
              </a:solidFill>
              <a:latin typeface="Calibri"/>
              <a:ea typeface="Calibri"/>
              <a:cs typeface="Calibri"/>
              <a:sym typeface="Calibri"/>
            </a:endParaRPr>
          </a:p>
        </p:txBody>
      </p:sp>
      <p:sp>
        <p:nvSpPr>
          <p:cNvPr id="413" name="Google Shape;413;p34"/>
          <p:cNvSpPr txBox="1"/>
          <p:nvPr/>
        </p:nvSpPr>
        <p:spPr>
          <a:xfrm>
            <a:off x="8754525" y="4372904"/>
            <a:ext cx="2606100" cy="431100"/>
          </a:xfrm>
          <a:prstGeom prst="rect">
            <a:avLst/>
          </a:prstGeom>
          <a:noFill/>
          <a:ln>
            <a:noFill/>
          </a:ln>
        </p:spPr>
        <p:txBody>
          <a:bodyPr anchorCtr="0" anchor="t" bIns="0" lIns="0" spcFirstLastPara="1" rIns="0" wrap="square" tIns="0">
            <a:spAutoFit/>
          </a:bodyPr>
          <a:lstStyle/>
          <a:p>
            <a:pPr indent="-317500" lvl="0" marL="457200" marR="0" rtl="0" algn="l">
              <a:spcBef>
                <a:spcPts val="0"/>
              </a:spcBef>
              <a:spcAft>
                <a:spcPts val="0"/>
              </a:spcAft>
              <a:buSzPts val="1400"/>
              <a:buChar char="-"/>
            </a:pPr>
            <a:r>
              <a:rPr b="1" lang="en-US"/>
              <a:t>SPA 6 - South</a:t>
            </a:r>
            <a:endParaRPr b="1"/>
          </a:p>
          <a:p>
            <a:pPr indent="-317500" lvl="0" marL="457200" marR="0" rtl="0" algn="l">
              <a:spcBef>
                <a:spcPts val="0"/>
              </a:spcBef>
              <a:spcAft>
                <a:spcPts val="0"/>
              </a:spcAft>
              <a:buSzPts val="1400"/>
              <a:buChar char="-"/>
            </a:pPr>
            <a:r>
              <a:rPr b="1" lang="en-US"/>
              <a:t>SPA 4 - Metro</a:t>
            </a:r>
            <a:endParaRPr b="1"/>
          </a:p>
        </p:txBody>
      </p:sp>
      <p:sp>
        <p:nvSpPr>
          <p:cNvPr id="414" name="Google Shape;414;p34"/>
          <p:cNvSpPr txBox="1"/>
          <p:nvPr/>
        </p:nvSpPr>
        <p:spPr>
          <a:xfrm>
            <a:off x="8692525" y="4046988"/>
            <a:ext cx="2717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a:t>Notable Service Planning Areas</a:t>
            </a:r>
            <a:endParaRPr b="1"/>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5"/>
          <p:cNvSpPr/>
          <p:nvPr/>
        </p:nvSpPr>
        <p:spPr>
          <a:xfrm>
            <a:off x="0" y="0"/>
            <a:ext cx="76200" cy="68580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0" name="Google Shape;420;p35"/>
          <p:cNvSpPr txBox="1"/>
          <p:nvPr/>
        </p:nvSpPr>
        <p:spPr>
          <a:xfrm>
            <a:off x="952500" y="1905000"/>
            <a:ext cx="10287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400">
                <a:solidFill>
                  <a:srgbClr val="0284C7"/>
                </a:solidFill>
                <a:latin typeface="Plus Jakarta Sans"/>
                <a:ea typeface="Plus Jakarta Sans"/>
                <a:cs typeface="Plus Jakarta Sans"/>
                <a:sym typeface="Plus Jakarta Sans"/>
              </a:rPr>
              <a:t>INSIGHT #04</a:t>
            </a:r>
            <a:endParaRPr b="1" i="0" sz="1400">
              <a:solidFill>
                <a:srgbClr val="0284C7"/>
              </a:solidFill>
              <a:latin typeface="Plus Jakarta Sans"/>
              <a:ea typeface="Plus Jakarta Sans"/>
              <a:cs typeface="Plus Jakarta Sans"/>
              <a:sym typeface="Plus Jakarta Sans"/>
            </a:endParaRPr>
          </a:p>
        </p:txBody>
      </p:sp>
      <p:sp>
        <p:nvSpPr>
          <p:cNvPr id="421" name="Google Shape;421;p35"/>
          <p:cNvSpPr txBox="1"/>
          <p:nvPr/>
        </p:nvSpPr>
        <p:spPr>
          <a:xfrm>
            <a:off x="952500" y="2286000"/>
            <a:ext cx="102870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5200">
                <a:solidFill>
                  <a:srgbClr val="0F172A"/>
                </a:solidFill>
                <a:latin typeface="Plus Jakarta Sans"/>
                <a:ea typeface="Plus Jakarta Sans"/>
                <a:cs typeface="Plus Jakarta Sans"/>
                <a:sym typeface="Plus Jakarta Sans"/>
              </a:rPr>
              <a:t>Access to Healthcare</a:t>
            </a:r>
            <a:endParaRPr b="1" i="0" sz="5200">
              <a:solidFill>
                <a:srgbClr val="0F172A"/>
              </a:solidFill>
              <a:latin typeface="Plus Jakarta Sans"/>
              <a:ea typeface="Plus Jakarta Sans"/>
              <a:cs typeface="Plus Jakarta Sans"/>
              <a:sym typeface="Plus Jakarta Sans"/>
            </a:endParaRPr>
          </a:p>
        </p:txBody>
      </p:sp>
      <p:cxnSp>
        <p:nvCxnSpPr>
          <p:cNvPr id="422" name="Google Shape;422;p35"/>
          <p:cNvCxnSpPr/>
          <p:nvPr/>
        </p:nvCxnSpPr>
        <p:spPr>
          <a:xfrm>
            <a:off x="952500" y="3667125"/>
            <a:ext cx="1143000" cy="0"/>
          </a:xfrm>
          <a:prstGeom prst="straightConnector1">
            <a:avLst/>
          </a:prstGeom>
          <a:solidFill>
            <a:srgbClr val="FFFFFF"/>
          </a:solidFill>
          <a:ln cap="rnd" cmpd="sng" w="38100">
            <a:solidFill>
              <a:srgbClr val="0284C7"/>
            </a:solidFill>
            <a:prstDash val="solid"/>
            <a:round/>
            <a:headEnd len="sm" w="sm" type="none"/>
            <a:tailEnd len="sm" w="sm" type="none"/>
          </a:ln>
        </p:spPr>
      </p:cxnSp>
      <p:sp>
        <p:nvSpPr>
          <p:cNvPr id="423" name="Google Shape;423;p35"/>
          <p:cNvSpPr txBox="1"/>
          <p:nvPr/>
        </p:nvSpPr>
        <p:spPr>
          <a:xfrm>
            <a:off x="952500" y="3952875"/>
            <a:ext cx="8572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US" sz="1800">
                <a:solidFill>
                  <a:srgbClr val="475569"/>
                </a:solidFill>
                <a:latin typeface="Plus Jakarta Sans Medium"/>
                <a:ea typeface="Plus Jakarta Sans Medium"/>
                <a:cs typeface="Plus Jakarta Sans Medium"/>
                <a:sym typeface="Plus Jakarta Sans Medium"/>
              </a:rPr>
              <a:t>Analyst: Jazmine G.</a:t>
            </a:r>
            <a:endParaRPr b="0" i="0" sz="1800">
              <a:solidFill>
                <a:srgbClr val="475569"/>
              </a:solidFill>
              <a:latin typeface="Plus Jakarta Sans Medium"/>
              <a:ea typeface="Plus Jakarta Sans Medium"/>
              <a:cs typeface="Plus Jakarta Sans Medium"/>
              <a:sym typeface="Plus Jakarta Sans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7" name="Shape 427"/>
        <p:cNvGrpSpPr/>
        <p:nvPr/>
      </p:nvGrpSpPr>
      <p:grpSpPr>
        <a:xfrm>
          <a:off x="0" y="0"/>
          <a:ext cx="0" cy="0"/>
          <a:chOff x="0" y="0"/>
          <a:chExt cx="0" cy="0"/>
        </a:xfrm>
      </p:grpSpPr>
      <p:sp>
        <p:nvSpPr>
          <p:cNvPr id="428" name="Google Shape;428;p36"/>
          <p:cNvSpPr txBox="1"/>
          <p:nvPr/>
        </p:nvSpPr>
        <p:spPr>
          <a:xfrm>
            <a:off x="762000" y="476250"/>
            <a:ext cx="10668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0284C7"/>
                </a:solidFill>
                <a:latin typeface="Plus Jakarta Sans"/>
                <a:ea typeface="Plus Jakarta Sans"/>
                <a:cs typeface="Plus Jakarta Sans"/>
                <a:sym typeface="Plus Jakarta Sans"/>
              </a:rPr>
              <a:t>Jazmine Insights: </a:t>
            </a:r>
            <a:r>
              <a:rPr b="1" lang="en-US" sz="1050">
                <a:solidFill>
                  <a:srgbClr val="0284C7"/>
                </a:solidFill>
                <a:latin typeface="Plus Jakarta Sans"/>
                <a:ea typeface="Plus Jakarta Sans"/>
                <a:cs typeface="Plus Jakarta Sans"/>
                <a:sym typeface="Plus Jakarta Sans"/>
              </a:rPr>
              <a:t>HEALTH &amp; VULNERABILITY ANALYSIS</a:t>
            </a:r>
            <a:endParaRPr b="1" sz="1050">
              <a:solidFill>
                <a:srgbClr val="0284C7"/>
              </a:solidFill>
              <a:latin typeface="Plus Jakarta Sans"/>
              <a:ea typeface="Plus Jakarta Sans"/>
              <a:cs typeface="Plus Jakarta Sans"/>
              <a:sym typeface="Plus Jakarta Sans"/>
            </a:endParaRPr>
          </a:p>
        </p:txBody>
      </p:sp>
      <p:sp>
        <p:nvSpPr>
          <p:cNvPr id="429" name="Google Shape;429;p36"/>
          <p:cNvSpPr txBox="1"/>
          <p:nvPr/>
        </p:nvSpPr>
        <p:spPr>
          <a:xfrm>
            <a:off x="762000" y="742950"/>
            <a:ext cx="10668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600">
                <a:solidFill>
                  <a:srgbClr val="0F172A"/>
                </a:solidFill>
                <a:latin typeface="Plus Jakarta Sans"/>
                <a:ea typeface="Plus Jakarta Sans"/>
                <a:cs typeface="Plus Jakarta Sans"/>
                <a:sym typeface="Plus Jakarta Sans"/>
              </a:rPr>
              <a:t>Uninsured Effects &amp; Clinical Vulnerability</a:t>
            </a:r>
            <a:endParaRPr b="1" sz="2600">
              <a:solidFill>
                <a:srgbClr val="0F172A"/>
              </a:solidFill>
              <a:latin typeface="Plus Jakarta Sans"/>
              <a:ea typeface="Plus Jakarta Sans"/>
              <a:cs typeface="Plus Jakarta Sans"/>
              <a:sym typeface="Plus Jakarta Sans"/>
            </a:endParaRPr>
          </a:p>
        </p:txBody>
      </p:sp>
      <p:sp>
        <p:nvSpPr>
          <p:cNvPr id="430" name="Google Shape;430;p36"/>
          <p:cNvSpPr/>
          <p:nvPr/>
        </p:nvSpPr>
        <p:spPr>
          <a:xfrm>
            <a:off x="762000" y="1428750"/>
            <a:ext cx="3524400" cy="4857900"/>
          </a:xfrm>
          <a:prstGeom prst="roundRect">
            <a:avLst>
              <a:gd fmla="val 432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1" name="Google Shape;431;p36"/>
          <p:cNvSpPr txBox="1"/>
          <p:nvPr/>
        </p:nvSpPr>
        <p:spPr>
          <a:xfrm>
            <a:off x="1028700" y="1695450"/>
            <a:ext cx="2991000" cy="432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284C7"/>
                </a:solidFill>
                <a:latin typeface="Plus Jakarta Sans"/>
                <a:ea typeface="Plus Jakarta Sans"/>
                <a:cs typeface="Plus Jakarta Sans"/>
                <a:sym typeface="Plus Jakarta Sans"/>
              </a:rPr>
              <a:t>BENCHMARK DATA</a:t>
            </a:r>
            <a:endParaRPr b="1" sz="1100">
              <a:solidFill>
                <a:srgbClr val="0284C7"/>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1600">
                <a:solidFill>
                  <a:srgbClr val="0F172A"/>
                </a:solidFill>
                <a:latin typeface="Plus Jakarta Sans"/>
                <a:ea typeface="Plus Jakarta Sans"/>
                <a:cs typeface="Plus Jakarta Sans"/>
                <a:sym typeface="Plus Jakarta Sans"/>
              </a:rPr>
              <a:t>Uninsured </a:t>
            </a:r>
            <a:endParaRPr b="1" sz="1600">
              <a:solidFill>
                <a:srgbClr val="0F172A"/>
              </a:solidFill>
              <a:latin typeface="Plus Jakarta Sans"/>
              <a:ea typeface="Plus Jakarta Sans"/>
              <a:cs typeface="Plus Jakarta Sans"/>
              <a:sym typeface="Plus Jakarta Sans"/>
            </a:endParaRPr>
          </a:p>
          <a:p>
            <a:pPr indent="0" lvl="0" marL="0" rtl="0" algn="l">
              <a:spcBef>
                <a:spcPts val="1500"/>
              </a:spcBef>
              <a:spcAft>
                <a:spcPts val="0"/>
              </a:spcAft>
              <a:buNone/>
            </a:pPr>
            <a:r>
              <a:t/>
            </a:r>
            <a:endParaRPr b="0" sz="1000">
              <a:solidFill>
                <a:srgbClr val="475569"/>
              </a:solidFill>
              <a:highlight>
                <a:srgbClr val="F1F5F9"/>
              </a:highlight>
              <a:latin typeface="Plus Jakarta Sans Medium"/>
              <a:ea typeface="Plus Jakarta Sans Medium"/>
              <a:cs typeface="Plus Jakarta Sans Medium"/>
              <a:sym typeface="Plus Jakarta Sans Medium"/>
            </a:endParaRPr>
          </a:p>
          <a:p>
            <a:pPr indent="0" lvl="0" marL="0" rtl="0" algn="l">
              <a:spcBef>
                <a:spcPts val="1050"/>
              </a:spcBef>
              <a:spcAft>
                <a:spcPts val="0"/>
              </a:spcAft>
              <a:buNone/>
            </a:pPr>
            <a:r>
              <a:rPr b="1" lang="en-US" sz="2200">
                <a:solidFill>
                  <a:srgbClr val="0F172A"/>
                </a:solidFill>
                <a:highlight>
                  <a:srgbClr val="F1F5F9"/>
                </a:highlight>
                <a:latin typeface="Plus Jakarta Sans"/>
                <a:ea typeface="Plus Jakarta Sans"/>
                <a:cs typeface="Plus Jakarta Sans"/>
                <a:sym typeface="Plus Jakarta Sans"/>
              </a:rPr>
              <a:t>246/296 </a:t>
            </a:r>
            <a:r>
              <a:rPr lang="en-US" sz="1000">
                <a:solidFill>
                  <a:srgbClr val="475569"/>
                </a:solidFill>
                <a:highlight>
                  <a:srgbClr val="F1F5F9"/>
                </a:highlight>
                <a:latin typeface="Plus Jakarta Sans Medium"/>
                <a:ea typeface="Plus Jakarta Sans Medium"/>
                <a:cs typeface="Plus Jakarta Sans Medium"/>
                <a:sym typeface="Plus Jakarta Sans Medium"/>
              </a:rPr>
              <a:t>90th Percentile IAQ</a:t>
            </a:r>
            <a:r>
              <a:rPr lang="en-US" sz="1000">
                <a:solidFill>
                  <a:srgbClr val="475569"/>
                </a:solidFill>
                <a:highlight>
                  <a:srgbClr val="F1F5F9"/>
                </a:highlight>
                <a:latin typeface="Plus Jakarta Sans Medium"/>
                <a:ea typeface="Plus Jakarta Sans Medium"/>
                <a:cs typeface="Plus Jakarta Sans Medium"/>
                <a:sym typeface="Plus Jakarta Sans Medium"/>
              </a:rPr>
              <a:t> </a:t>
            </a:r>
            <a:endParaRPr b="1" sz="2200">
              <a:solidFill>
                <a:srgbClr val="0F172A"/>
              </a:solidFill>
              <a:highlight>
                <a:srgbClr val="F1F5F9"/>
              </a:highlight>
              <a:latin typeface="Plus Jakarta Sans"/>
              <a:ea typeface="Plus Jakarta Sans"/>
              <a:cs typeface="Plus Jakarta Sans"/>
              <a:sym typeface="Plus Jakarta Sans"/>
            </a:endParaRPr>
          </a:p>
          <a:p>
            <a:pPr indent="0" lvl="0" marL="0" rtl="0" algn="l">
              <a:spcBef>
                <a:spcPts val="0"/>
              </a:spcBef>
              <a:spcAft>
                <a:spcPts val="0"/>
              </a:spcAft>
              <a:buNone/>
            </a:pPr>
            <a:r>
              <a:t/>
            </a:r>
            <a:endParaRPr b="1" sz="2200">
              <a:solidFill>
                <a:srgbClr val="0F172A"/>
              </a:solidFill>
              <a:highlight>
                <a:srgbClr val="F1F5F9"/>
              </a:highlight>
              <a:latin typeface="Plus Jakarta Sans"/>
              <a:ea typeface="Plus Jakarta Sans"/>
              <a:cs typeface="Plus Jakarta Sans"/>
              <a:sym typeface="Plus Jakarta Sans"/>
            </a:endParaRPr>
          </a:p>
          <a:p>
            <a:pPr indent="0" lvl="0" marL="0" rtl="0" algn="l">
              <a:spcBef>
                <a:spcPts val="0"/>
              </a:spcBef>
              <a:spcAft>
                <a:spcPts val="0"/>
              </a:spcAft>
              <a:buNone/>
            </a:pPr>
            <a:r>
              <a:rPr b="1" lang="en-US" sz="2200">
                <a:solidFill>
                  <a:srgbClr val="0F172A"/>
                </a:solidFill>
                <a:highlight>
                  <a:srgbClr val="F1F5F9"/>
                </a:highlight>
                <a:latin typeface="Plus Jakarta Sans"/>
                <a:ea typeface="Plus Jakarta Sans"/>
                <a:cs typeface="Plus Jakarta Sans"/>
                <a:sym typeface="Plus Jakarta Sans"/>
              </a:rPr>
              <a:t>68% communities</a:t>
            </a:r>
            <a:endParaRPr b="1" sz="2200">
              <a:solidFill>
                <a:srgbClr val="0F172A"/>
              </a:solidFill>
              <a:highlight>
                <a:srgbClr val="F1F5F9"/>
              </a:highlight>
              <a:latin typeface="Plus Jakarta Sans"/>
              <a:ea typeface="Plus Jakarta Sans"/>
              <a:cs typeface="Plus Jakarta Sans"/>
              <a:sym typeface="Plus Jakarta Sans"/>
            </a:endParaRPr>
          </a:p>
          <a:p>
            <a:pPr indent="0" lvl="0" marL="0" rtl="0" algn="l">
              <a:spcBef>
                <a:spcPts val="150"/>
              </a:spcBef>
              <a:spcAft>
                <a:spcPts val="0"/>
              </a:spcAft>
              <a:buNone/>
            </a:pPr>
            <a:r>
              <a:rPr b="0" lang="en-US" sz="1000">
                <a:solidFill>
                  <a:srgbClr val="475569"/>
                </a:solidFill>
                <a:highlight>
                  <a:srgbClr val="F1F5F9"/>
                </a:highlight>
                <a:latin typeface="Plus Jakarta Sans Medium"/>
                <a:ea typeface="Plus Jakarta Sans Medium"/>
                <a:cs typeface="Plus Jakarta Sans Medium"/>
                <a:sym typeface="Plus Jakarta Sans Medium"/>
              </a:rPr>
              <a:t>90th Percentile </a:t>
            </a:r>
            <a:r>
              <a:rPr lang="en-US" sz="1000">
                <a:solidFill>
                  <a:srgbClr val="475569"/>
                </a:solidFill>
                <a:highlight>
                  <a:srgbClr val="F1F5F9"/>
                </a:highlight>
                <a:latin typeface="Plus Jakarta Sans Medium"/>
                <a:ea typeface="Plus Jakarta Sans Medium"/>
                <a:cs typeface="Plus Jakarta Sans Medium"/>
                <a:sym typeface="Plus Jakarta Sans Medium"/>
              </a:rPr>
              <a:t>Uninsured </a:t>
            </a:r>
            <a:endParaRPr b="0" sz="1000">
              <a:solidFill>
                <a:srgbClr val="475569"/>
              </a:solidFill>
              <a:highlight>
                <a:srgbClr val="F1F5F9"/>
              </a:highlight>
              <a:latin typeface="Plus Jakarta Sans Medium"/>
              <a:ea typeface="Plus Jakarta Sans Medium"/>
              <a:cs typeface="Plus Jakarta Sans Medium"/>
              <a:sym typeface="Plus Jakarta Sans Medium"/>
            </a:endParaRPr>
          </a:p>
          <a:p>
            <a:pPr indent="0" lvl="0" marL="0" rtl="0" algn="l">
              <a:spcBef>
                <a:spcPts val="1500"/>
              </a:spcBef>
              <a:spcAft>
                <a:spcPts val="0"/>
              </a:spcAft>
              <a:buNone/>
            </a:pPr>
            <a:r>
              <a:rPr b="0" lang="en-US" sz="1050">
                <a:solidFill>
                  <a:srgbClr val="64748B"/>
                </a:solidFill>
                <a:latin typeface="Plus Jakarta Sans"/>
                <a:ea typeface="Plus Jakarta Sans"/>
                <a:cs typeface="Plus Jakarta Sans"/>
                <a:sym typeface="Plus Jakarta Sans"/>
              </a:rPr>
              <a:t>A higher score or percentile reflects worse access and greater vulnerability.</a:t>
            </a:r>
            <a:endParaRPr b="0" sz="1050">
              <a:solidFill>
                <a:srgbClr val="64748B"/>
              </a:solidFill>
              <a:latin typeface="Plus Jakarta Sans"/>
              <a:ea typeface="Plus Jakarta Sans"/>
              <a:cs typeface="Plus Jakarta Sans"/>
              <a:sym typeface="Plus Jakarta Sans"/>
            </a:endParaRPr>
          </a:p>
        </p:txBody>
      </p:sp>
      <p:sp>
        <p:nvSpPr>
          <p:cNvPr id="432" name="Google Shape;432;p36"/>
          <p:cNvSpPr/>
          <p:nvPr/>
        </p:nvSpPr>
        <p:spPr>
          <a:xfrm>
            <a:off x="4524375" y="1428750"/>
            <a:ext cx="6905700" cy="1467000"/>
          </a:xfrm>
          <a:prstGeom prst="roundRect">
            <a:avLst>
              <a:gd fmla="val 1038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3" name="Google Shape;433;p36"/>
          <p:cNvSpPr txBox="1"/>
          <p:nvPr/>
        </p:nvSpPr>
        <p:spPr>
          <a:xfrm>
            <a:off x="4810125" y="1638300"/>
            <a:ext cx="63342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0F172A"/>
                </a:solidFill>
                <a:latin typeface="Plus Jakarta Sans"/>
                <a:ea typeface="Plus Jakarta Sans"/>
                <a:cs typeface="Plus Jakarta Sans"/>
                <a:sym typeface="Plus Jakarta Sans"/>
              </a:rPr>
              <a:t>Asthma &amp; Cardiovascular Disease (CVD)</a:t>
            </a:r>
            <a:endParaRPr b="1" sz="1400">
              <a:solidFill>
                <a:srgbClr val="0F172A"/>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100">
                <a:solidFill>
                  <a:srgbClr val="475569"/>
                </a:solidFill>
                <a:latin typeface="Plus Jakarta Sans"/>
                <a:ea typeface="Plus Jakarta Sans"/>
                <a:cs typeface="Plus Jakarta Sans"/>
                <a:sym typeface="Plus Jakarta Sans"/>
              </a:rPr>
              <a:t>Respiratory and circulatory conditions aggravated by airborne particulates and mold. Comparing these against uninsured rates identifies communities where clinical management of chronic symptoms is least accessible.</a:t>
            </a:r>
            <a:endParaRPr b="0" sz="1100">
              <a:solidFill>
                <a:srgbClr val="475569"/>
              </a:solidFill>
              <a:latin typeface="Plus Jakarta Sans"/>
              <a:ea typeface="Plus Jakarta Sans"/>
              <a:cs typeface="Plus Jakarta Sans"/>
              <a:sym typeface="Plus Jakarta Sans"/>
            </a:endParaRPr>
          </a:p>
        </p:txBody>
      </p:sp>
      <p:sp>
        <p:nvSpPr>
          <p:cNvPr id="434" name="Google Shape;434;p36"/>
          <p:cNvSpPr/>
          <p:nvPr/>
        </p:nvSpPr>
        <p:spPr>
          <a:xfrm>
            <a:off x="4524375" y="3124200"/>
            <a:ext cx="6905700" cy="1467000"/>
          </a:xfrm>
          <a:prstGeom prst="roundRect">
            <a:avLst>
              <a:gd fmla="val 1038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5" name="Google Shape;435;p36"/>
          <p:cNvSpPr txBox="1"/>
          <p:nvPr/>
        </p:nvSpPr>
        <p:spPr>
          <a:xfrm>
            <a:off x="4810125" y="3333750"/>
            <a:ext cx="63342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0F172A"/>
                </a:solidFill>
                <a:latin typeface="Plus Jakarta Sans"/>
                <a:ea typeface="Plus Jakarta Sans"/>
                <a:cs typeface="Plus Jakarta Sans"/>
                <a:sym typeface="Plus Jakarta Sans"/>
              </a:rPr>
              <a:t>Low Birth Weight</a:t>
            </a:r>
            <a:endParaRPr b="1" sz="1400">
              <a:solidFill>
                <a:srgbClr val="0F172A"/>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100">
                <a:solidFill>
                  <a:srgbClr val="475569"/>
                </a:solidFill>
                <a:latin typeface="Plus Jakarta Sans"/>
                <a:ea typeface="Plus Jakarta Sans"/>
                <a:cs typeface="Plus Jakarta Sans"/>
                <a:sym typeface="Plus Jakarta Sans"/>
              </a:rPr>
              <a:t>A sensitive marker for maternal exposure to environmental contaminants and inadequate prenatal care within vulnerable census tracts.</a:t>
            </a:r>
            <a:endParaRPr b="0" sz="1100">
              <a:solidFill>
                <a:srgbClr val="475569"/>
              </a:solidFill>
              <a:latin typeface="Plus Jakarta Sans"/>
              <a:ea typeface="Plus Jakarta Sans"/>
              <a:cs typeface="Plus Jakarta Sans"/>
              <a:sym typeface="Plus Jakarta Sans"/>
            </a:endParaRPr>
          </a:p>
        </p:txBody>
      </p:sp>
      <p:sp>
        <p:nvSpPr>
          <p:cNvPr id="436" name="Google Shape;436;p36"/>
          <p:cNvSpPr/>
          <p:nvPr/>
        </p:nvSpPr>
        <p:spPr>
          <a:xfrm>
            <a:off x="4524375" y="4819650"/>
            <a:ext cx="6905700" cy="1467000"/>
          </a:xfrm>
          <a:prstGeom prst="roundRect">
            <a:avLst>
              <a:gd fmla="val 1038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7" name="Google Shape;437;p36"/>
          <p:cNvSpPr txBox="1"/>
          <p:nvPr/>
        </p:nvSpPr>
        <p:spPr>
          <a:xfrm>
            <a:off x="4810125" y="5029200"/>
            <a:ext cx="63342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0F172A"/>
                </a:solidFill>
                <a:latin typeface="Plus Jakarta Sans"/>
                <a:ea typeface="Plus Jakarta Sans"/>
                <a:cs typeface="Plus Jakarta Sans"/>
                <a:sym typeface="Plus Jakarta Sans"/>
              </a:rPr>
              <a:t>Children Under Age 5 &amp; Adults Over Age 64</a:t>
            </a:r>
            <a:endParaRPr b="1" sz="1400">
              <a:solidFill>
                <a:srgbClr val="0F172A"/>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100">
                <a:solidFill>
                  <a:srgbClr val="475569"/>
                </a:solidFill>
                <a:latin typeface="Plus Jakarta Sans"/>
                <a:ea typeface="Plus Jakarta Sans"/>
                <a:cs typeface="Plus Jakarta Sans"/>
                <a:sym typeface="Plus Jakarta Sans"/>
              </a:rPr>
              <a:t>Physiologically vulnerable age groups requiring frequent primary and emergency care when air quality triggers severe respiratory distress.</a:t>
            </a:r>
            <a:endParaRPr b="0" sz="1100">
              <a:solidFill>
                <a:srgbClr val="475569"/>
              </a:solidFill>
              <a:latin typeface="Plus Jakarta Sans"/>
              <a:ea typeface="Plus Jakarta Sans"/>
              <a:cs typeface="Plus Jakarta Sans"/>
              <a:sym typeface="Plus Jakarta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1" name="Shape 441"/>
        <p:cNvGrpSpPr/>
        <p:nvPr/>
      </p:nvGrpSpPr>
      <p:grpSpPr>
        <a:xfrm>
          <a:off x="0" y="0"/>
          <a:ext cx="0" cy="0"/>
          <a:chOff x="0" y="0"/>
          <a:chExt cx="0" cy="0"/>
        </a:xfrm>
      </p:grpSpPr>
      <p:sp>
        <p:nvSpPr>
          <p:cNvPr id="442" name="Google Shape;442;p37"/>
          <p:cNvSpPr txBox="1"/>
          <p:nvPr/>
        </p:nvSpPr>
        <p:spPr>
          <a:xfrm>
            <a:off x="762000" y="428625"/>
            <a:ext cx="10668000" cy="5424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i="0" lang="en-US" sz="971">
                <a:solidFill>
                  <a:srgbClr val="0284C7"/>
                </a:solidFill>
                <a:latin typeface="Plus Jakarta Sans"/>
                <a:ea typeface="Plus Jakarta Sans"/>
                <a:cs typeface="Plus Jakarta Sans"/>
                <a:sym typeface="Plus Jakarta Sans"/>
              </a:rPr>
              <a:t>DATA INSIGHTS • HEALTHCARE ACCESS</a:t>
            </a:r>
            <a:endParaRPr i="0" sz="1295">
              <a:latin typeface="Plus Jakarta Sans"/>
              <a:ea typeface="Plus Jakarta Sans"/>
              <a:cs typeface="Plus Jakarta Sans"/>
              <a:sym typeface="Plus Jakarta Sans"/>
            </a:endParaRPr>
          </a:p>
          <a:p>
            <a:pPr indent="0" lvl="0" marL="0" rtl="0" algn="l">
              <a:spcBef>
                <a:spcPts val="400"/>
              </a:spcBef>
              <a:spcAft>
                <a:spcPts val="0"/>
              </a:spcAft>
              <a:buNone/>
            </a:pPr>
            <a:r>
              <a:rPr b="1" lang="en-US" sz="2220">
                <a:solidFill>
                  <a:srgbClr val="0F172A"/>
                </a:solidFill>
                <a:latin typeface="Plus Jakarta Sans"/>
                <a:ea typeface="Plus Jakarta Sans"/>
                <a:cs typeface="Plus Jakarta Sans"/>
                <a:sym typeface="Plus Jakarta Sans"/>
              </a:rPr>
              <a:t>Graph</a:t>
            </a:r>
            <a:r>
              <a:rPr b="1" i="0" lang="en-US" sz="2220">
                <a:solidFill>
                  <a:srgbClr val="0F172A"/>
                </a:solidFill>
                <a:latin typeface="Plus Jakarta Sans"/>
                <a:ea typeface="Plus Jakarta Sans"/>
                <a:cs typeface="Plus Jakarta Sans"/>
                <a:sym typeface="Plus Jakarta Sans"/>
              </a:rPr>
              <a:t>: Highest Percentile Cities &amp; Communities (Uninsured 90th Percentile)</a:t>
            </a:r>
            <a:endParaRPr i="0" sz="1295">
              <a:latin typeface="Plus Jakarta Sans"/>
              <a:ea typeface="Plus Jakarta Sans"/>
              <a:cs typeface="Plus Jakarta Sans"/>
              <a:sym typeface="Plus Jakarta Sans"/>
            </a:endParaRPr>
          </a:p>
        </p:txBody>
      </p:sp>
      <p:sp>
        <p:nvSpPr>
          <p:cNvPr id="443" name="Google Shape;443;p37"/>
          <p:cNvSpPr/>
          <p:nvPr/>
        </p:nvSpPr>
        <p:spPr>
          <a:xfrm>
            <a:off x="762000" y="1428750"/>
            <a:ext cx="4095900" cy="4953000"/>
          </a:xfrm>
          <a:prstGeom prst="roundRect">
            <a:avLst>
              <a:gd fmla="val 372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37"/>
          <p:cNvSpPr/>
          <p:nvPr/>
        </p:nvSpPr>
        <p:spPr>
          <a:xfrm>
            <a:off x="5143500" y="1428750"/>
            <a:ext cx="6286500" cy="4953000"/>
          </a:xfrm>
          <a:prstGeom prst="roundRect">
            <a:avLst>
              <a:gd fmla="val 307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45" name="Google Shape;445;p37"/>
          <p:cNvGrpSpPr/>
          <p:nvPr/>
        </p:nvGrpSpPr>
        <p:grpSpPr>
          <a:xfrm>
            <a:off x="1028700" y="1695450"/>
            <a:ext cx="3562200" cy="4419600"/>
            <a:chOff x="0" y="0"/>
            <a:chExt cx="3562200" cy="4419600"/>
          </a:xfrm>
        </p:grpSpPr>
        <p:sp>
          <p:nvSpPr>
            <p:cNvPr id="446" name="Google Shape;446;p37"/>
            <p:cNvSpPr/>
            <p:nvPr/>
          </p:nvSpPr>
          <p:spPr>
            <a:xfrm>
              <a:off x="0" y="0"/>
              <a:ext cx="3562200" cy="4419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7" name="Google Shape;447;p37"/>
            <p:cNvSpPr txBox="1"/>
            <p:nvPr/>
          </p:nvSpPr>
          <p:spPr>
            <a:xfrm>
              <a:off x="0" y="0"/>
              <a:ext cx="3562200" cy="441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50">
                  <a:solidFill>
                    <a:srgbClr val="0284C7"/>
                  </a:solidFill>
                  <a:latin typeface="Plus Jakarta Sans"/>
                  <a:ea typeface="Plus Jakarta Sans"/>
                  <a:cs typeface="Plus Jakarta Sans"/>
                  <a:sym typeface="Plus Jakarta Sans"/>
                </a:rPr>
                <a:t>ANALYSIS OVERVIEW</a:t>
              </a:r>
              <a:endParaRPr b="1" sz="1050">
                <a:solidFill>
                  <a:srgbClr val="0284C7"/>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1700">
                  <a:solidFill>
                    <a:srgbClr val="0F172A"/>
                  </a:solidFill>
                  <a:latin typeface="Plus Jakarta Sans"/>
                  <a:ea typeface="Plus Jakarta Sans"/>
                  <a:cs typeface="Plus Jakarta Sans"/>
                  <a:sym typeface="Plus Jakarta Sans"/>
                </a:rPr>
                <a:t>Health Access Intersection</a:t>
              </a:r>
              <a:endParaRPr b="0" sz="1050">
                <a:solidFill>
                  <a:srgbClr val="475569"/>
                </a:solidFill>
                <a:latin typeface="Plus Jakarta Sans"/>
                <a:ea typeface="Plus Jakarta Sans"/>
                <a:cs typeface="Plus Jakarta Sans"/>
                <a:sym typeface="Plus Jakarta Sans"/>
              </a:endParaRPr>
            </a:p>
            <a:p>
              <a:pPr indent="0" lvl="0" marL="0" rtl="0" algn="l">
                <a:spcBef>
                  <a:spcPts val="1200"/>
                </a:spcBef>
                <a:spcAft>
                  <a:spcPts val="0"/>
                </a:spcAft>
                <a:buNone/>
              </a:pPr>
              <a:r>
                <a:rPr b="0" lang="en-US" sz="1050">
                  <a:solidFill>
                    <a:srgbClr val="475569"/>
                  </a:solidFill>
                  <a:latin typeface="Plus Jakarta Sans"/>
                  <a:ea typeface="Plus Jakarta Sans"/>
                  <a:cs typeface="Plus Jakarta Sans"/>
                  <a:sym typeface="Plus Jakarta Sans"/>
                </a:rPr>
                <a:t>Examining the number of cities within LA County that are in the 90th indoor air quality sensitivity percentile and have the highest percentile of uninsured population.</a:t>
              </a:r>
              <a:endParaRPr b="0" sz="1050">
                <a:solidFill>
                  <a:srgbClr val="475569"/>
                </a:solidFill>
                <a:latin typeface="Plus Jakarta Sans"/>
                <a:ea typeface="Plus Jakarta Sans"/>
                <a:cs typeface="Plus Jakarta Sans"/>
                <a:sym typeface="Plus Jakarta Sans"/>
              </a:endParaRPr>
            </a:p>
            <a:p>
              <a:pPr indent="0" lvl="0" marL="0" rtl="0" algn="l">
                <a:spcBef>
                  <a:spcPts val="2000"/>
                </a:spcBef>
                <a:spcAft>
                  <a:spcPts val="0"/>
                </a:spcAft>
                <a:buNone/>
              </a:pPr>
              <a:r>
                <a:rPr b="1" lang="en-US" sz="3200">
                  <a:solidFill>
                    <a:srgbClr val="0284C7"/>
                  </a:solidFill>
                  <a:latin typeface="Plus Jakarta Sans"/>
                  <a:ea typeface="Plus Jakarta Sans"/>
                  <a:cs typeface="Plus Jakarta Sans"/>
                  <a:sym typeface="Plus Jakarta Sans"/>
                </a:rPr>
                <a:t>246</a:t>
              </a:r>
              <a:endParaRPr b="1" sz="3200">
                <a:solidFill>
                  <a:srgbClr val="0284C7"/>
                </a:solidFill>
                <a:latin typeface="Plus Jakarta Sans"/>
                <a:ea typeface="Plus Jakarta Sans"/>
                <a:cs typeface="Plus Jakarta Sans"/>
                <a:sym typeface="Plus Jakarta Sans"/>
              </a:endParaRPr>
            </a:p>
            <a:p>
              <a:pPr indent="0" lvl="0" marL="0" rtl="0" algn="l">
                <a:spcBef>
                  <a:spcPts val="200"/>
                </a:spcBef>
                <a:spcAft>
                  <a:spcPts val="0"/>
                </a:spcAft>
                <a:buNone/>
              </a:pPr>
              <a:r>
                <a:rPr b="1" lang="en-US" sz="1100">
                  <a:solidFill>
                    <a:srgbClr val="0F172A"/>
                  </a:solidFill>
                  <a:highlight>
                    <a:srgbClr val="F1F5F9"/>
                  </a:highlight>
                  <a:latin typeface="Plus Jakarta Sans"/>
                  <a:ea typeface="Plus Jakarta Sans"/>
                  <a:cs typeface="Plus Jakarta Sans"/>
                  <a:sym typeface="Plus Jakarta Sans"/>
                </a:rPr>
                <a:t>Communities Analyzed</a:t>
              </a:r>
              <a:endParaRPr b="1" sz="1100">
                <a:solidFill>
                  <a:srgbClr val="0F172A"/>
                </a:solidFill>
                <a:highlight>
                  <a:srgbClr val="F1F5F9"/>
                </a:highlight>
                <a:latin typeface="Plus Jakarta Sans"/>
                <a:ea typeface="Plus Jakarta Sans"/>
                <a:cs typeface="Plus Jakarta Sans"/>
                <a:sym typeface="Plus Jakarta Sans"/>
              </a:endParaRPr>
            </a:p>
            <a:p>
              <a:pPr indent="0" lvl="0" marL="0" rtl="0" algn="l">
                <a:spcBef>
                  <a:spcPts val="200"/>
                </a:spcBef>
                <a:spcAft>
                  <a:spcPts val="0"/>
                </a:spcAft>
                <a:buNone/>
              </a:pPr>
              <a:r>
                <a:rPr b="0" lang="en-US" sz="950">
                  <a:solidFill>
                    <a:srgbClr val="64748B"/>
                  </a:solidFill>
                  <a:latin typeface="Plus Jakarta Sans"/>
                  <a:ea typeface="Plus Jakarta Sans"/>
                  <a:cs typeface="Plus Jakarta Sans"/>
                  <a:sym typeface="Plus Jakarta Sans"/>
                </a:rPr>
                <a:t>Distinct cities &amp; unincorporated communities across LA County</a:t>
              </a:r>
              <a:endParaRPr b="0" sz="950">
                <a:solidFill>
                  <a:srgbClr val="64748B"/>
                </a:solidFill>
                <a:latin typeface="Plus Jakarta Sans"/>
                <a:ea typeface="Plus Jakarta Sans"/>
                <a:cs typeface="Plus Jakarta Sans"/>
                <a:sym typeface="Plus Jakarta Sans"/>
              </a:endParaRPr>
            </a:p>
          </p:txBody>
        </p:sp>
      </p:grpSp>
      <p:grpSp>
        <p:nvGrpSpPr>
          <p:cNvPr id="448" name="Google Shape;448;p37"/>
          <p:cNvGrpSpPr/>
          <p:nvPr/>
        </p:nvGrpSpPr>
        <p:grpSpPr>
          <a:xfrm>
            <a:off x="5429250" y="1666875"/>
            <a:ext cx="5715000" cy="285900"/>
            <a:chOff x="0" y="0"/>
            <a:chExt cx="5715000" cy="285900"/>
          </a:xfrm>
        </p:grpSpPr>
        <p:sp>
          <p:nvSpPr>
            <p:cNvPr id="449" name="Google Shape;449;p37"/>
            <p:cNvSpPr/>
            <p:nvPr/>
          </p:nvSpPr>
          <p:spPr>
            <a:xfrm>
              <a:off x="0" y="0"/>
              <a:ext cx="5715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37"/>
            <p:cNvSpPr txBox="1"/>
            <p:nvPr/>
          </p:nvSpPr>
          <p:spPr>
            <a:xfrm>
              <a:off x="0" y="0"/>
              <a:ext cx="5715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0F172A"/>
                  </a:solidFill>
                  <a:latin typeface="Plus Jakarta Sans"/>
                  <a:ea typeface="Plus Jakarta Sans"/>
                  <a:cs typeface="Plus Jakarta Sans"/>
                  <a:sym typeface="Plus Jakarta Sans"/>
                </a:rPr>
                <a:t>Top Communities by High Healthcare Deficit Area Count</a:t>
              </a:r>
              <a:endParaRPr b="1" sz="1200">
                <a:solidFill>
                  <a:srgbClr val="0F172A"/>
                </a:solidFill>
                <a:latin typeface="Plus Jakarta Sans"/>
                <a:ea typeface="Plus Jakarta Sans"/>
                <a:cs typeface="Plus Jakarta Sans"/>
                <a:sym typeface="Plus Jakarta Sans"/>
              </a:endParaRPr>
            </a:p>
          </p:txBody>
        </p:sp>
      </p:grpSp>
      <p:pic>
        <p:nvPicPr>
          <p:cNvPr id="451" name="Google Shape;451;p37"/>
          <p:cNvPicPr preferRelativeResize="0"/>
          <p:nvPr/>
        </p:nvPicPr>
        <p:blipFill rotWithShape="1">
          <a:blip r:embed="rId4">
            <a:alphaModFix/>
          </a:blip>
          <a:srcRect b="4104" l="-3259" r="-3259" t="0"/>
          <a:stretch/>
        </p:blipFill>
        <p:spPr>
          <a:xfrm>
            <a:off x="5234700" y="2141850"/>
            <a:ext cx="6195300" cy="3973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5" name="Shape 455"/>
        <p:cNvGrpSpPr/>
        <p:nvPr/>
      </p:nvGrpSpPr>
      <p:grpSpPr>
        <a:xfrm>
          <a:off x="0" y="0"/>
          <a:ext cx="0" cy="0"/>
          <a:chOff x="0" y="0"/>
          <a:chExt cx="0" cy="0"/>
        </a:xfrm>
      </p:grpSpPr>
      <p:grpSp>
        <p:nvGrpSpPr>
          <p:cNvPr id="456" name="Google Shape;456;p38"/>
          <p:cNvGrpSpPr/>
          <p:nvPr/>
        </p:nvGrpSpPr>
        <p:grpSpPr>
          <a:xfrm>
            <a:off x="762000" y="428625"/>
            <a:ext cx="10668000" cy="571500"/>
            <a:chOff x="0" y="0"/>
            <a:chExt cx="10668000" cy="571500"/>
          </a:xfrm>
        </p:grpSpPr>
        <p:sp>
          <p:nvSpPr>
            <p:cNvPr id="457" name="Google Shape;457;p38"/>
            <p:cNvSpPr/>
            <p:nvPr/>
          </p:nvSpPr>
          <p:spPr>
            <a:xfrm>
              <a:off x="0" y="0"/>
              <a:ext cx="10668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8" name="Google Shape;458;p38"/>
            <p:cNvSpPr txBox="1"/>
            <p:nvPr/>
          </p:nvSpPr>
          <p:spPr>
            <a:xfrm>
              <a:off x="0" y="0"/>
              <a:ext cx="1066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0284C7"/>
                  </a:solidFill>
                  <a:latin typeface="Plus Jakarta Sans"/>
                  <a:ea typeface="Plus Jakarta Sans"/>
                  <a:cs typeface="Plus Jakarta Sans"/>
                  <a:sym typeface="Plus Jakarta Sans"/>
                </a:rPr>
                <a:t>DATA INSIGHTS • CORRELATION ANALYSIS</a:t>
              </a:r>
              <a:endParaRPr b="1" sz="1000">
                <a:solidFill>
                  <a:srgbClr val="0284C7"/>
                </a:solidFill>
                <a:latin typeface="Plus Jakarta Sans"/>
                <a:ea typeface="Plus Jakarta Sans"/>
                <a:cs typeface="Plus Jakarta Sans"/>
                <a:sym typeface="Plus Jakarta Sans"/>
              </a:endParaRPr>
            </a:p>
            <a:p>
              <a:pPr indent="0" lvl="0" marL="0" rtl="0" algn="l">
                <a:spcBef>
                  <a:spcPts val="400"/>
                </a:spcBef>
                <a:spcAft>
                  <a:spcPts val="0"/>
                </a:spcAft>
                <a:buNone/>
              </a:pPr>
              <a:r>
                <a:rPr b="1" lang="en-US" sz="2200">
                  <a:solidFill>
                    <a:srgbClr val="0F172A"/>
                  </a:solidFill>
                  <a:latin typeface="Plus Jakarta Sans"/>
                  <a:ea typeface="Plus Jakarta Sans"/>
                  <a:cs typeface="Plus Jakarta Sans"/>
                  <a:sym typeface="Plus Jakarta Sans"/>
                </a:rPr>
                <a:t>Air Quality Sensitivity vs. Healthcare Deficit</a:t>
              </a:r>
              <a:endParaRPr b="1" sz="2200">
                <a:solidFill>
                  <a:srgbClr val="0F172A"/>
                </a:solidFill>
                <a:latin typeface="Plus Jakarta Sans"/>
                <a:ea typeface="Plus Jakarta Sans"/>
                <a:cs typeface="Plus Jakarta Sans"/>
                <a:sym typeface="Plus Jakarta Sans"/>
              </a:endParaRPr>
            </a:p>
          </p:txBody>
        </p:sp>
      </p:grpSp>
      <p:sp>
        <p:nvSpPr>
          <p:cNvPr id="459" name="Google Shape;459;p38"/>
          <p:cNvSpPr/>
          <p:nvPr/>
        </p:nvSpPr>
        <p:spPr>
          <a:xfrm>
            <a:off x="762000" y="1333500"/>
            <a:ext cx="3619500" cy="4953000"/>
          </a:xfrm>
          <a:prstGeom prst="roundRect">
            <a:avLst>
              <a:gd fmla="val 421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0" name="Google Shape;460;p38"/>
          <p:cNvSpPr/>
          <p:nvPr/>
        </p:nvSpPr>
        <p:spPr>
          <a:xfrm>
            <a:off x="4572000" y="1333500"/>
            <a:ext cx="6858000" cy="4953000"/>
          </a:xfrm>
          <a:prstGeom prst="roundRect">
            <a:avLst>
              <a:gd fmla="val 307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61" name="Google Shape;461;p38"/>
          <p:cNvGrpSpPr/>
          <p:nvPr/>
        </p:nvGrpSpPr>
        <p:grpSpPr>
          <a:xfrm>
            <a:off x="1047750" y="1619250"/>
            <a:ext cx="3048000" cy="4381500"/>
            <a:chOff x="0" y="0"/>
            <a:chExt cx="3048000" cy="4381500"/>
          </a:xfrm>
        </p:grpSpPr>
        <p:sp>
          <p:nvSpPr>
            <p:cNvPr id="462" name="Google Shape;462;p38"/>
            <p:cNvSpPr/>
            <p:nvPr/>
          </p:nvSpPr>
          <p:spPr>
            <a:xfrm>
              <a:off x="0" y="0"/>
              <a:ext cx="3048000" cy="438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3" name="Google Shape;463;p38"/>
            <p:cNvSpPr txBox="1"/>
            <p:nvPr/>
          </p:nvSpPr>
          <p:spPr>
            <a:xfrm>
              <a:off x="0" y="0"/>
              <a:ext cx="3048000" cy="438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50">
                  <a:solidFill>
                    <a:srgbClr val="0284C7"/>
                  </a:solidFill>
                  <a:latin typeface="Plus Jakarta Sans"/>
                  <a:ea typeface="Plus Jakarta Sans"/>
                  <a:cs typeface="Plus Jakarta Sans"/>
                  <a:sym typeface="Plus Jakarta Sans"/>
                </a:rPr>
                <a:t>KEY FINDINGS</a:t>
              </a:r>
              <a:endParaRPr b="1" sz="1050">
                <a:solidFill>
                  <a:srgbClr val="0284C7"/>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1800">
                  <a:solidFill>
                    <a:srgbClr val="0F172A"/>
                  </a:solidFill>
                  <a:latin typeface="Plus Jakarta Sans"/>
                  <a:ea typeface="Plus Jakarta Sans"/>
                  <a:cs typeface="Plus Jakarta Sans"/>
                  <a:sym typeface="Plus Jakarta Sans"/>
                </a:rPr>
                <a:t>Positive Trend Identified</a:t>
              </a:r>
              <a:endParaRPr b="1" sz="1800">
                <a:solidFill>
                  <a:srgbClr val="0F172A"/>
                </a:solidFill>
                <a:latin typeface="Plus Jakarta Sans"/>
                <a:ea typeface="Plus Jakarta Sans"/>
                <a:cs typeface="Plus Jakarta Sans"/>
                <a:sym typeface="Plus Jakarta Sans"/>
              </a:endParaRPr>
            </a:p>
            <a:p>
              <a:pPr indent="0" lvl="0" marL="0" rtl="0" algn="l">
                <a:spcBef>
                  <a:spcPts val="1600"/>
                </a:spcBef>
                <a:spcAft>
                  <a:spcPts val="0"/>
                </a:spcAft>
                <a:buNone/>
              </a:pPr>
              <a:r>
                <a:rPr b="0" lang="en-US" sz="1100">
                  <a:solidFill>
                    <a:srgbClr val="475569"/>
                  </a:solidFill>
                  <a:latin typeface="Plus Jakarta Sans"/>
                  <a:ea typeface="Plus Jakarta Sans"/>
                  <a:cs typeface="Plus Jakarta Sans"/>
                  <a:sym typeface="Plus Jakarta Sans"/>
                </a:rPr>
                <a:t>The scatter plot demonstrates a direct relationship between environmental vulnerability and health care access barriers across analyzed municipalities.</a:t>
              </a:r>
              <a:endParaRPr b="0" sz="1100">
                <a:solidFill>
                  <a:srgbClr val="475569"/>
                </a:solidFill>
                <a:latin typeface="Plus Jakarta Sans"/>
                <a:ea typeface="Plus Jakarta Sans"/>
                <a:cs typeface="Plus Jakarta Sans"/>
                <a:sym typeface="Plus Jakarta Sans"/>
              </a:endParaRPr>
            </a:p>
            <a:p>
              <a:pPr indent="0" lvl="0" marL="0" rtl="0" algn="l">
                <a:spcBef>
                  <a:spcPts val="2000"/>
                </a:spcBef>
                <a:spcAft>
                  <a:spcPts val="0"/>
                </a:spcAft>
                <a:buNone/>
              </a:pPr>
              <a:r>
                <a:rPr b="1" lang="en-US" sz="1000">
                  <a:solidFill>
                    <a:srgbClr val="0284C7"/>
                  </a:solidFill>
                  <a:latin typeface="Plus Jakarta Sans"/>
                  <a:ea typeface="Plus Jakarta Sans"/>
                  <a:cs typeface="Plus Jakarta Sans"/>
                  <a:sym typeface="Plus Jakarta Sans"/>
                </a:rPr>
                <a:t>TAKEAWAY</a:t>
              </a:r>
              <a:endParaRPr b="1" sz="1000">
                <a:solidFill>
                  <a:srgbClr val="0284C7"/>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100">
                  <a:solidFill>
                    <a:srgbClr val="0F172A"/>
                  </a:solidFill>
                  <a:highlight>
                    <a:srgbClr val="F1F5F9"/>
                  </a:highlight>
                  <a:latin typeface="Plus Jakarta Sans SemiBold"/>
                  <a:ea typeface="Plus Jakarta Sans SemiBold"/>
                  <a:cs typeface="Plus Jakarta Sans SemiBold"/>
                  <a:sym typeface="Plus Jakarta Sans SemiBold"/>
                </a:rPr>
                <a:t>The higher the air quality sensitivity percentile, the higher the percentile of healthcare inaccessibility.</a:t>
              </a:r>
              <a:endParaRPr b="0" sz="1100">
                <a:solidFill>
                  <a:srgbClr val="0F172A"/>
                </a:solidFill>
                <a:highlight>
                  <a:srgbClr val="F1F5F9"/>
                </a:highlight>
                <a:latin typeface="Plus Jakarta Sans SemiBold"/>
                <a:ea typeface="Plus Jakarta Sans SemiBold"/>
                <a:cs typeface="Plus Jakarta Sans SemiBold"/>
                <a:sym typeface="Plus Jakarta Sans SemiBold"/>
              </a:endParaRPr>
            </a:p>
            <a:p>
              <a:pPr indent="0" lvl="0" marL="0" rtl="0" algn="l">
                <a:spcBef>
                  <a:spcPts val="2000"/>
                </a:spcBef>
                <a:spcAft>
                  <a:spcPts val="0"/>
                </a:spcAft>
                <a:buNone/>
              </a:pPr>
              <a:r>
                <a:rPr b="0" lang="en-US" sz="1000">
                  <a:solidFill>
                    <a:srgbClr val="64748B"/>
                  </a:solidFill>
                  <a:latin typeface="Plus Jakarta Sans"/>
                  <a:ea typeface="Plus Jakarta Sans"/>
                  <a:cs typeface="Plus Jakarta Sans"/>
                  <a:sym typeface="Plus Jakarta Sans"/>
                </a:rPr>
                <a:t>Communities facing severe air quality issues simultaneously suffer from significant healthcare infrastructure deficits.</a:t>
              </a:r>
              <a:endParaRPr b="0" sz="1000">
                <a:solidFill>
                  <a:srgbClr val="64748B"/>
                </a:solidFill>
                <a:latin typeface="Plus Jakarta Sans"/>
                <a:ea typeface="Plus Jakarta Sans"/>
                <a:cs typeface="Plus Jakarta Sans"/>
                <a:sym typeface="Plus Jakarta Sans"/>
              </a:endParaRPr>
            </a:p>
          </p:txBody>
        </p:sp>
      </p:grpSp>
      <p:pic>
        <p:nvPicPr>
          <p:cNvPr id="464" name="Google Shape;464;p38"/>
          <p:cNvPicPr preferRelativeResize="0"/>
          <p:nvPr/>
        </p:nvPicPr>
        <p:blipFill rotWithShape="1">
          <a:blip r:embed="rId4">
            <a:alphaModFix/>
          </a:blip>
          <a:srcRect b="0" l="-4547" r="-3467" t="0"/>
          <a:stretch/>
        </p:blipFill>
        <p:spPr>
          <a:xfrm>
            <a:off x="4762500" y="1524000"/>
            <a:ext cx="6477000" cy="4572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39"/>
          <p:cNvSpPr/>
          <p:nvPr/>
        </p:nvSpPr>
        <p:spPr>
          <a:xfrm>
            <a:off x="0" y="0"/>
            <a:ext cx="76200" cy="68580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0" name="Google Shape;470;p39"/>
          <p:cNvSpPr txBox="1"/>
          <p:nvPr/>
        </p:nvSpPr>
        <p:spPr>
          <a:xfrm>
            <a:off x="952500" y="1905000"/>
            <a:ext cx="10287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400">
                <a:solidFill>
                  <a:srgbClr val="0284C7"/>
                </a:solidFill>
                <a:latin typeface="Plus Jakarta Sans"/>
                <a:ea typeface="Plus Jakarta Sans"/>
                <a:cs typeface="Plus Jakarta Sans"/>
                <a:sym typeface="Plus Jakarta Sans"/>
              </a:rPr>
              <a:t>INSIGHT #05</a:t>
            </a:r>
            <a:endParaRPr b="1" i="0" sz="1400">
              <a:solidFill>
                <a:srgbClr val="0284C7"/>
              </a:solidFill>
              <a:latin typeface="Plus Jakarta Sans"/>
              <a:ea typeface="Plus Jakarta Sans"/>
              <a:cs typeface="Plus Jakarta Sans"/>
              <a:sym typeface="Plus Jakarta Sans"/>
            </a:endParaRPr>
          </a:p>
        </p:txBody>
      </p:sp>
      <p:sp>
        <p:nvSpPr>
          <p:cNvPr id="471" name="Google Shape;471;p39"/>
          <p:cNvSpPr txBox="1"/>
          <p:nvPr/>
        </p:nvSpPr>
        <p:spPr>
          <a:xfrm>
            <a:off x="952500" y="2286000"/>
            <a:ext cx="102870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5200">
                <a:solidFill>
                  <a:srgbClr val="0F172A"/>
                </a:solidFill>
                <a:latin typeface="Plus Jakarta Sans"/>
                <a:ea typeface="Plus Jakarta Sans"/>
                <a:cs typeface="Plus Jakarta Sans"/>
                <a:sym typeface="Plus Jakarta Sans"/>
              </a:rPr>
              <a:t>Asthma</a:t>
            </a:r>
            <a:r>
              <a:rPr b="1" lang="en-US" sz="5200">
                <a:solidFill>
                  <a:srgbClr val="0F172A"/>
                </a:solidFill>
                <a:latin typeface="Plus Jakarta Sans"/>
                <a:ea typeface="Plus Jakarta Sans"/>
                <a:cs typeface="Plus Jakarta Sans"/>
                <a:sym typeface="Plus Jakarta Sans"/>
              </a:rPr>
              <a:t> </a:t>
            </a:r>
            <a:r>
              <a:rPr b="1" lang="en-US" sz="5200">
                <a:solidFill>
                  <a:srgbClr val="0F172A"/>
                </a:solidFill>
                <a:latin typeface="Plus Jakarta Sans"/>
                <a:ea typeface="Plus Jakarta Sans"/>
                <a:cs typeface="Plus Jakarta Sans"/>
                <a:sym typeface="Plus Jakarta Sans"/>
              </a:rPr>
              <a:t>Vulnerability</a:t>
            </a:r>
            <a:r>
              <a:rPr b="1" lang="en-US" sz="5200">
                <a:solidFill>
                  <a:srgbClr val="0F172A"/>
                </a:solidFill>
                <a:latin typeface="Plus Jakarta Sans"/>
                <a:ea typeface="Plus Jakarta Sans"/>
                <a:cs typeface="Plus Jakarta Sans"/>
                <a:sym typeface="Plus Jakarta Sans"/>
              </a:rPr>
              <a:t> </a:t>
            </a:r>
            <a:r>
              <a:rPr b="1" i="0" lang="en-US" sz="5200">
                <a:solidFill>
                  <a:srgbClr val="0F172A"/>
                </a:solidFill>
                <a:latin typeface="Plus Jakarta Sans"/>
                <a:ea typeface="Plus Jakarta Sans"/>
                <a:cs typeface="Plus Jakarta Sans"/>
                <a:sym typeface="Plus Jakarta Sans"/>
              </a:rPr>
              <a:t> </a:t>
            </a:r>
            <a:endParaRPr b="1" i="0" sz="5200">
              <a:solidFill>
                <a:srgbClr val="0F172A"/>
              </a:solidFill>
              <a:latin typeface="Plus Jakarta Sans"/>
              <a:ea typeface="Plus Jakarta Sans"/>
              <a:cs typeface="Plus Jakarta Sans"/>
              <a:sym typeface="Plus Jakarta Sans"/>
            </a:endParaRPr>
          </a:p>
        </p:txBody>
      </p:sp>
      <p:cxnSp>
        <p:nvCxnSpPr>
          <p:cNvPr id="472" name="Google Shape;472;p39"/>
          <p:cNvCxnSpPr/>
          <p:nvPr/>
        </p:nvCxnSpPr>
        <p:spPr>
          <a:xfrm>
            <a:off x="952500" y="3667125"/>
            <a:ext cx="1143000" cy="0"/>
          </a:xfrm>
          <a:prstGeom prst="straightConnector1">
            <a:avLst/>
          </a:prstGeom>
          <a:solidFill>
            <a:srgbClr val="FFFFFF"/>
          </a:solidFill>
          <a:ln cap="rnd" cmpd="sng" w="38100">
            <a:solidFill>
              <a:srgbClr val="0284C7"/>
            </a:solidFill>
            <a:prstDash val="solid"/>
            <a:round/>
            <a:headEnd len="sm" w="sm" type="none"/>
            <a:tailEnd len="sm" w="sm" type="none"/>
          </a:ln>
        </p:spPr>
      </p:cxnSp>
      <p:sp>
        <p:nvSpPr>
          <p:cNvPr id="473" name="Google Shape;473;p39"/>
          <p:cNvSpPr txBox="1"/>
          <p:nvPr/>
        </p:nvSpPr>
        <p:spPr>
          <a:xfrm>
            <a:off x="952500" y="3952875"/>
            <a:ext cx="8572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US" sz="1800">
                <a:solidFill>
                  <a:srgbClr val="475569"/>
                </a:solidFill>
                <a:latin typeface="Plus Jakarta Sans Medium"/>
                <a:ea typeface="Plus Jakarta Sans Medium"/>
                <a:cs typeface="Plus Jakarta Sans Medium"/>
                <a:sym typeface="Plus Jakarta Sans Medium"/>
              </a:rPr>
              <a:t>Analyst: Jasmin V.</a:t>
            </a:r>
            <a:endParaRPr b="0" i="0" sz="1800">
              <a:solidFill>
                <a:srgbClr val="475569"/>
              </a:solidFill>
              <a:latin typeface="Plus Jakarta Sans Medium"/>
              <a:ea typeface="Plus Jakarta Sans Medium"/>
              <a:cs typeface="Plus Jakarta Sans Medium"/>
              <a:sym typeface="Plus Jakarta Sans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pic>
        <p:nvPicPr>
          <p:cNvPr id="478" name="Google Shape;478;p40" title="Screenshot 2026-10-14 at 6.05.35 PM.png"/>
          <p:cNvPicPr preferRelativeResize="0"/>
          <p:nvPr/>
        </p:nvPicPr>
        <p:blipFill>
          <a:blip r:embed="rId3">
            <a:alphaModFix/>
          </a:blip>
          <a:stretch>
            <a:fillRect/>
          </a:stretch>
        </p:blipFill>
        <p:spPr>
          <a:xfrm>
            <a:off x="0" y="0"/>
            <a:ext cx="12192000" cy="6858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pic>
        <p:nvPicPr>
          <p:cNvPr id="483" name="Google Shape;483;p41" title="Screenshot 2026-10-14 at 6.06.23 PM.png"/>
          <p:cNvPicPr preferRelativeResize="0"/>
          <p:nvPr/>
        </p:nvPicPr>
        <p:blipFill>
          <a:blip r:embed="rId3">
            <a:alphaModFix/>
          </a:blip>
          <a:stretch>
            <a:fillRect/>
          </a:stretch>
        </p:blipFill>
        <p:spPr>
          <a:xfrm>
            <a:off x="0" y="0"/>
            <a:ext cx="12205532" cy="68579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pic>
        <p:nvPicPr>
          <p:cNvPr id="488" name="Google Shape;488;p42" title="Screenshot 2026-10-14 at 6.07.15 PM.png"/>
          <p:cNvPicPr preferRelativeResize="0"/>
          <p:nvPr/>
        </p:nvPicPr>
        <p:blipFill>
          <a:blip r:embed="rId3">
            <a:alphaModFix/>
          </a:blip>
          <a:stretch>
            <a:fillRect/>
          </a:stretch>
        </p:blipFill>
        <p:spPr>
          <a:xfrm>
            <a:off x="0" y="-4575"/>
            <a:ext cx="12192000" cy="686256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2" name="Shape 492"/>
        <p:cNvGrpSpPr/>
        <p:nvPr/>
      </p:nvGrpSpPr>
      <p:grpSpPr>
        <a:xfrm>
          <a:off x="0" y="0"/>
          <a:ext cx="0" cy="0"/>
          <a:chOff x="0" y="0"/>
          <a:chExt cx="0" cy="0"/>
        </a:xfrm>
      </p:grpSpPr>
      <p:sp>
        <p:nvSpPr>
          <p:cNvPr id="493" name="Google Shape;493;p43"/>
          <p:cNvSpPr/>
          <p:nvPr/>
        </p:nvSpPr>
        <p:spPr>
          <a:xfrm>
            <a:off x="545523" y="1817680"/>
            <a:ext cx="2605800" cy="1624500"/>
          </a:xfrm>
          <a:prstGeom prst="roundRect">
            <a:avLst>
              <a:gd fmla="val 6285" name="adj"/>
            </a:avLst>
          </a:prstGeom>
          <a:solidFill>
            <a:srgbClr val="F8FAFC"/>
          </a:solidFill>
          <a:ln cap="flat" cmpd="sng" w="7300">
            <a:solidFill>
              <a:srgbClr val="E2E8F0"/>
            </a:solidFill>
            <a:prstDash val="solid"/>
            <a:round/>
            <a:headEnd len="sm" w="sm" type="none"/>
            <a:tailEnd len="sm" w="sm" type="none"/>
          </a:ln>
        </p:spPr>
        <p:txBody>
          <a:bodyPr anchorCtr="0" anchor="ctr" bIns="34975" lIns="69975" spcFirstLastPara="1" rIns="69975" wrap="square" tIns="34975">
            <a:noAutofit/>
          </a:bodyPr>
          <a:lstStyle/>
          <a:p>
            <a:pPr indent="0" lvl="0" marL="0" marR="0" rtl="0" algn="ctr">
              <a:spcBef>
                <a:spcPts val="0"/>
              </a:spcBef>
              <a:spcAft>
                <a:spcPts val="0"/>
              </a:spcAft>
              <a:buNone/>
            </a:pPr>
            <a:r>
              <a:t/>
            </a:r>
            <a:endParaRPr b="0" i="0" sz="1378" u="none" cap="none" strike="noStrike">
              <a:solidFill>
                <a:schemeClr val="dk1"/>
              </a:solidFill>
              <a:latin typeface="Calibri"/>
              <a:ea typeface="Calibri"/>
              <a:cs typeface="Calibri"/>
              <a:sym typeface="Calibri"/>
            </a:endParaRPr>
          </a:p>
        </p:txBody>
      </p:sp>
      <p:sp>
        <p:nvSpPr>
          <p:cNvPr id="494" name="Google Shape;494;p43"/>
          <p:cNvSpPr/>
          <p:nvPr/>
        </p:nvSpPr>
        <p:spPr>
          <a:xfrm>
            <a:off x="3326472" y="1817680"/>
            <a:ext cx="2605800" cy="1624500"/>
          </a:xfrm>
          <a:prstGeom prst="roundRect">
            <a:avLst>
              <a:gd fmla="val 6285" name="adj"/>
            </a:avLst>
          </a:prstGeom>
          <a:solidFill>
            <a:srgbClr val="F8FAFC"/>
          </a:solidFill>
          <a:ln cap="flat" cmpd="sng" w="7300">
            <a:solidFill>
              <a:srgbClr val="E2E8F0"/>
            </a:solidFill>
            <a:prstDash val="solid"/>
            <a:round/>
            <a:headEnd len="sm" w="sm" type="none"/>
            <a:tailEnd len="sm" w="sm" type="none"/>
          </a:ln>
        </p:spPr>
        <p:txBody>
          <a:bodyPr anchorCtr="0" anchor="ctr" bIns="34975" lIns="69975" spcFirstLastPara="1" rIns="69975" wrap="square" tIns="34975">
            <a:noAutofit/>
          </a:bodyPr>
          <a:lstStyle/>
          <a:p>
            <a:pPr indent="0" lvl="0" marL="0" marR="0" rtl="0" algn="ctr">
              <a:spcBef>
                <a:spcPts val="0"/>
              </a:spcBef>
              <a:spcAft>
                <a:spcPts val="0"/>
              </a:spcAft>
              <a:buNone/>
            </a:pPr>
            <a:r>
              <a:t/>
            </a:r>
            <a:endParaRPr b="0" i="0" sz="1378" u="none" cap="none" strike="noStrike">
              <a:solidFill>
                <a:schemeClr val="dk1"/>
              </a:solidFill>
              <a:latin typeface="Calibri"/>
              <a:ea typeface="Calibri"/>
              <a:cs typeface="Calibri"/>
              <a:sym typeface="Calibri"/>
            </a:endParaRPr>
          </a:p>
        </p:txBody>
      </p:sp>
      <p:sp>
        <p:nvSpPr>
          <p:cNvPr id="495" name="Google Shape;495;p43"/>
          <p:cNvSpPr/>
          <p:nvPr/>
        </p:nvSpPr>
        <p:spPr>
          <a:xfrm>
            <a:off x="6107422" y="1817680"/>
            <a:ext cx="2605800" cy="1624500"/>
          </a:xfrm>
          <a:prstGeom prst="roundRect">
            <a:avLst>
              <a:gd fmla="val 6285" name="adj"/>
            </a:avLst>
          </a:prstGeom>
          <a:solidFill>
            <a:srgbClr val="F8FAFC"/>
          </a:solidFill>
          <a:ln cap="flat" cmpd="sng" w="7300">
            <a:solidFill>
              <a:srgbClr val="E2E8F0"/>
            </a:solidFill>
            <a:prstDash val="solid"/>
            <a:round/>
            <a:headEnd len="sm" w="sm" type="none"/>
            <a:tailEnd len="sm" w="sm" type="none"/>
          </a:ln>
        </p:spPr>
        <p:txBody>
          <a:bodyPr anchorCtr="0" anchor="ctr" bIns="34975" lIns="69975" spcFirstLastPara="1" rIns="69975" wrap="square" tIns="34975">
            <a:noAutofit/>
          </a:bodyPr>
          <a:lstStyle/>
          <a:p>
            <a:pPr indent="0" lvl="0" marL="0" marR="0" rtl="0" algn="ctr">
              <a:spcBef>
                <a:spcPts val="0"/>
              </a:spcBef>
              <a:spcAft>
                <a:spcPts val="0"/>
              </a:spcAft>
              <a:buNone/>
            </a:pPr>
            <a:r>
              <a:t/>
            </a:r>
            <a:endParaRPr b="0" i="0" sz="1378" u="none" cap="none" strike="noStrike">
              <a:solidFill>
                <a:schemeClr val="dk1"/>
              </a:solidFill>
              <a:latin typeface="Calibri"/>
              <a:ea typeface="Calibri"/>
              <a:cs typeface="Calibri"/>
              <a:sym typeface="Calibri"/>
            </a:endParaRPr>
          </a:p>
        </p:txBody>
      </p:sp>
      <p:sp>
        <p:nvSpPr>
          <p:cNvPr id="496" name="Google Shape;496;p43"/>
          <p:cNvSpPr txBox="1"/>
          <p:nvPr/>
        </p:nvSpPr>
        <p:spPr>
          <a:xfrm>
            <a:off x="762000" y="533400"/>
            <a:ext cx="114300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ACTIONABLE STRATEGIES</a:t>
            </a:r>
            <a:endParaRPr/>
          </a:p>
        </p:txBody>
      </p:sp>
      <p:sp>
        <p:nvSpPr>
          <p:cNvPr id="497" name="Google Shape;497;p43"/>
          <p:cNvSpPr txBox="1"/>
          <p:nvPr/>
        </p:nvSpPr>
        <p:spPr>
          <a:xfrm>
            <a:off x="762000" y="781050"/>
            <a:ext cx="11430000" cy="428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Plus Jakarta Sans"/>
                <a:ea typeface="Plus Jakarta Sans"/>
                <a:cs typeface="Plus Jakarta Sans"/>
                <a:sym typeface="Plus Jakarta Sans"/>
              </a:rPr>
              <a:t>Policy &amp; Community Interventions</a:t>
            </a:r>
            <a:endParaRPr/>
          </a:p>
        </p:txBody>
      </p:sp>
      <p:sp>
        <p:nvSpPr>
          <p:cNvPr id="498" name="Google Shape;498;p43"/>
          <p:cNvSpPr txBox="1"/>
          <p:nvPr/>
        </p:nvSpPr>
        <p:spPr>
          <a:xfrm>
            <a:off x="727843" y="2058342"/>
            <a:ext cx="2941800" cy="19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63" u="none" cap="none" strike="noStrike">
                <a:solidFill>
                  <a:srgbClr val="0F172A"/>
                </a:solidFill>
                <a:latin typeface="Plus Jakarta Sans"/>
                <a:ea typeface="Plus Jakarta Sans"/>
                <a:cs typeface="Plus Jakarta Sans"/>
                <a:sym typeface="Plus Jakarta Sans"/>
              </a:rPr>
              <a:t>Filtration Upgrades</a:t>
            </a:r>
            <a:endParaRPr sz="1072"/>
          </a:p>
        </p:txBody>
      </p:sp>
      <p:sp>
        <p:nvSpPr>
          <p:cNvPr id="499" name="Google Shape;499;p43"/>
          <p:cNvSpPr txBox="1"/>
          <p:nvPr/>
        </p:nvSpPr>
        <p:spPr>
          <a:xfrm>
            <a:off x="3508792" y="2058342"/>
            <a:ext cx="2941800" cy="19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63" u="none" cap="none" strike="noStrike">
                <a:solidFill>
                  <a:srgbClr val="0F172A"/>
                </a:solidFill>
                <a:latin typeface="Plus Jakarta Sans"/>
                <a:ea typeface="Plus Jakarta Sans"/>
                <a:cs typeface="Plus Jakarta Sans"/>
                <a:sym typeface="Plus Jakarta Sans"/>
              </a:rPr>
              <a:t>Facility Monitoring</a:t>
            </a:r>
            <a:endParaRPr sz="1072"/>
          </a:p>
        </p:txBody>
      </p:sp>
      <p:sp>
        <p:nvSpPr>
          <p:cNvPr id="500" name="Google Shape;500;p43"/>
          <p:cNvSpPr txBox="1"/>
          <p:nvPr/>
        </p:nvSpPr>
        <p:spPr>
          <a:xfrm>
            <a:off x="6304174" y="2058342"/>
            <a:ext cx="2941800" cy="19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63" u="none" cap="none" strike="noStrike">
                <a:solidFill>
                  <a:srgbClr val="0F172A"/>
                </a:solidFill>
                <a:latin typeface="Plus Jakarta Sans"/>
                <a:ea typeface="Plus Jakarta Sans"/>
                <a:cs typeface="Plus Jakarta Sans"/>
                <a:sym typeface="Plus Jakarta Sans"/>
              </a:rPr>
              <a:t>Healthcare Access</a:t>
            </a:r>
            <a:endParaRPr sz="1072"/>
          </a:p>
        </p:txBody>
      </p:sp>
      <p:sp>
        <p:nvSpPr>
          <p:cNvPr id="501" name="Google Shape;501;p43"/>
          <p:cNvSpPr txBox="1"/>
          <p:nvPr/>
        </p:nvSpPr>
        <p:spPr>
          <a:xfrm>
            <a:off x="727843" y="2379226"/>
            <a:ext cx="2314200" cy="381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034" u="none" cap="none" strike="noStrike">
                <a:solidFill>
                  <a:srgbClr val="0F172A"/>
                </a:solidFill>
                <a:latin typeface="Plus Jakarta Sans"/>
                <a:ea typeface="Plus Jakarta Sans"/>
                <a:cs typeface="Plus Jakarta Sans"/>
                <a:sym typeface="Plus Jakarta Sans"/>
              </a:rPr>
              <a:t>HEPA Retrofits:</a:t>
            </a:r>
            <a:r>
              <a:rPr b="0" i="0" lang="en-US" sz="1034" u="none" cap="none" strike="noStrike">
                <a:solidFill>
                  <a:srgbClr val="334155"/>
                </a:solidFill>
                <a:latin typeface="Plus Jakarta Sans"/>
                <a:ea typeface="Plus Jakarta Sans"/>
                <a:cs typeface="Plus Jakarta Sans"/>
                <a:sym typeface="Plus Jakarta Sans"/>
              </a:rPr>
              <a:t> Subsidize filters for older rental units.</a:t>
            </a:r>
            <a:endParaRPr sz="1072"/>
          </a:p>
        </p:txBody>
      </p:sp>
      <p:sp>
        <p:nvSpPr>
          <p:cNvPr id="502" name="Google Shape;502;p43"/>
          <p:cNvSpPr txBox="1"/>
          <p:nvPr/>
        </p:nvSpPr>
        <p:spPr>
          <a:xfrm>
            <a:off x="727843" y="2834115"/>
            <a:ext cx="2314200" cy="381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034" u="none" cap="none" strike="noStrike">
                <a:solidFill>
                  <a:srgbClr val="0F172A"/>
                </a:solidFill>
                <a:latin typeface="Plus Jakarta Sans"/>
                <a:ea typeface="Plus Jakarta Sans"/>
                <a:cs typeface="Plus Jakarta Sans"/>
                <a:sym typeface="Plus Jakarta Sans"/>
              </a:rPr>
              <a:t>School Air Systems:</a:t>
            </a:r>
            <a:r>
              <a:rPr b="0" i="0" lang="en-US" sz="1034" u="none" cap="none" strike="noStrike">
                <a:solidFill>
                  <a:srgbClr val="334155"/>
                </a:solidFill>
                <a:latin typeface="Plus Jakarta Sans"/>
                <a:ea typeface="Plus Jakarta Sans"/>
                <a:cs typeface="Plus Jakarta Sans"/>
                <a:sym typeface="Plus Jakarta Sans"/>
              </a:rPr>
              <a:t> Protect students along freight corridors.</a:t>
            </a:r>
            <a:endParaRPr sz="1072"/>
          </a:p>
        </p:txBody>
      </p:sp>
      <p:sp>
        <p:nvSpPr>
          <p:cNvPr id="503" name="Google Shape;503;p43"/>
          <p:cNvSpPr txBox="1"/>
          <p:nvPr/>
        </p:nvSpPr>
        <p:spPr>
          <a:xfrm>
            <a:off x="3508792" y="2379226"/>
            <a:ext cx="2314200" cy="381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034" u="none" cap="none" strike="noStrike">
                <a:solidFill>
                  <a:srgbClr val="0F172A"/>
                </a:solidFill>
                <a:latin typeface="Plus Jakarta Sans"/>
                <a:ea typeface="Plus Jakarta Sans"/>
                <a:cs typeface="Plus Jakarta Sans"/>
                <a:sym typeface="Plus Jakarta Sans"/>
              </a:rPr>
              <a:t>Buffer Zones:</a:t>
            </a:r>
            <a:r>
              <a:rPr b="0" i="0" lang="en-US" sz="1034" u="none" cap="none" strike="noStrike">
                <a:solidFill>
                  <a:srgbClr val="334155"/>
                </a:solidFill>
                <a:latin typeface="Plus Jakarta Sans"/>
                <a:ea typeface="Plus Jakarta Sans"/>
                <a:cs typeface="Plus Jakarta Sans"/>
                <a:sym typeface="Plus Jakarta Sans"/>
              </a:rPr>
              <a:t> Prevent industrial siting near homes.</a:t>
            </a:r>
            <a:endParaRPr sz="1072"/>
          </a:p>
        </p:txBody>
      </p:sp>
      <p:sp>
        <p:nvSpPr>
          <p:cNvPr id="504" name="Google Shape;504;p43"/>
          <p:cNvSpPr txBox="1"/>
          <p:nvPr/>
        </p:nvSpPr>
        <p:spPr>
          <a:xfrm>
            <a:off x="3508792" y="2834115"/>
            <a:ext cx="2314200" cy="381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034" u="none" cap="none" strike="noStrike">
                <a:solidFill>
                  <a:srgbClr val="0F172A"/>
                </a:solidFill>
                <a:latin typeface="Plus Jakarta Sans"/>
                <a:ea typeface="Plus Jakarta Sans"/>
                <a:cs typeface="Plus Jakarta Sans"/>
                <a:sym typeface="Plus Jakarta Sans"/>
              </a:rPr>
              <a:t>Fenceline Sensors:</a:t>
            </a:r>
            <a:r>
              <a:rPr b="0" i="0" lang="en-US" sz="1034" u="none" cap="none" strike="noStrike">
                <a:solidFill>
                  <a:srgbClr val="334155"/>
                </a:solidFill>
                <a:latin typeface="Plus Jakarta Sans"/>
                <a:ea typeface="Plus Jakarta Sans"/>
                <a:cs typeface="Plus Jakarta Sans"/>
                <a:sym typeface="Plus Jakarta Sans"/>
              </a:rPr>
              <a:t> Real-time alerts for toxic releases.</a:t>
            </a:r>
            <a:endParaRPr sz="1072"/>
          </a:p>
        </p:txBody>
      </p:sp>
      <p:sp>
        <p:nvSpPr>
          <p:cNvPr id="505" name="Google Shape;505;p43"/>
          <p:cNvSpPr txBox="1"/>
          <p:nvPr/>
        </p:nvSpPr>
        <p:spPr>
          <a:xfrm>
            <a:off x="6289742" y="2379226"/>
            <a:ext cx="2314200" cy="381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034" u="none" cap="none" strike="noStrike">
                <a:solidFill>
                  <a:srgbClr val="0F172A"/>
                </a:solidFill>
                <a:latin typeface="Plus Jakarta Sans"/>
                <a:ea typeface="Plus Jakarta Sans"/>
                <a:cs typeface="Plus Jakarta Sans"/>
                <a:sym typeface="Plus Jakarta Sans"/>
              </a:rPr>
              <a:t>Mobile Screening:</a:t>
            </a:r>
            <a:r>
              <a:rPr b="0" i="0" lang="en-US" sz="1034" u="none" cap="none" strike="noStrike">
                <a:solidFill>
                  <a:srgbClr val="334155"/>
                </a:solidFill>
                <a:latin typeface="Plus Jakarta Sans"/>
                <a:ea typeface="Plus Jakarta Sans"/>
                <a:cs typeface="Plus Jakarta Sans"/>
                <a:sym typeface="Plus Jakarta Sans"/>
              </a:rPr>
              <a:t> Free respiratory clinics in hotspots.</a:t>
            </a:r>
            <a:endParaRPr sz="1072"/>
          </a:p>
        </p:txBody>
      </p:sp>
      <p:sp>
        <p:nvSpPr>
          <p:cNvPr id="506" name="Google Shape;506;p43"/>
          <p:cNvSpPr txBox="1"/>
          <p:nvPr/>
        </p:nvSpPr>
        <p:spPr>
          <a:xfrm>
            <a:off x="6289742" y="2834115"/>
            <a:ext cx="2314200" cy="381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034" u="none" cap="none" strike="noStrike">
                <a:solidFill>
                  <a:srgbClr val="0F172A"/>
                </a:solidFill>
                <a:latin typeface="Plus Jakarta Sans"/>
                <a:ea typeface="Plus Jakarta Sans"/>
                <a:cs typeface="Plus Jakarta Sans"/>
                <a:sym typeface="Plus Jakarta Sans"/>
              </a:rPr>
              <a:t>Multilingual Alerts:</a:t>
            </a:r>
            <a:r>
              <a:rPr b="0" i="0" lang="en-US" sz="1034" u="none" cap="none" strike="noStrike">
                <a:solidFill>
                  <a:srgbClr val="334155"/>
                </a:solidFill>
                <a:latin typeface="Plus Jakarta Sans"/>
                <a:ea typeface="Plus Jakarta Sans"/>
                <a:cs typeface="Plus Jakarta Sans"/>
                <a:sym typeface="Plus Jakarta Sans"/>
              </a:rPr>
              <a:t> Translated air quality hazard notices.</a:t>
            </a:r>
            <a:endParaRPr sz="1072"/>
          </a:p>
        </p:txBody>
      </p:sp>
      <p:sp>
        <p:nvSpPr>
          <p:cNvPr id="507" name="Google Shape;507;p43"/>
          <p:cNvSpPr/>
          <p:nvPr/>
        </p:nvSpPr>
        <p:spPr>
          <a:xfrm>
            <a:off x="584973" y="3775970"/>
            <a:ext cx="3403500" cy="2121600"/>
          </a:xfrm>
          <a:prstGeom prst="roundRect">
            <a:avLst>
              <a:gd fmla="val 6285"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8" name="Google Shape;508;p43"/>
          <p:cNvSpPr txBox="1"/>
          <p:nvPr/>
        </p:nvSpPr>
        <p:spPr>
          <a:xfrm>
            <a:off x="771143" y="4000327"/>
            <a:ext cx="3022500" cy="446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50">
                <a:solidFill>
                  <a:srgbClr val="0F172A"/>
                </a:solidFill>
                <a:latin typeface="Plus Jakarta Sans"/>
                <a:ea typeface="Plus Jakarta Sans"/>
                <a:cs typeface="Plus Jakarta Sans"/>
                <a:sym typeface="Plus Jakarta Sans"/>
              </a:rPr>
              <a:t>Community Led  Air Quality Forum</a:t>
            </a:r>
            <a:endParaRPr sz="1200"/>
          </a:p>
        </p:txBody>
      </p:sp>
      <p:sp>
        <p:nvSpPr>
          <p:cNvPr id="509" name="Google Shape;509;p43"/>
          <p:cNvSpPr txBox="1"/>
          <p:nvPr/>
        </p:nvSpPr>
        <p:spPr>
          <a:xfrm>
            <a:off x="823098" y="4509395"/>
            <a:ext cx="3022500" cy="2154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t/>
            </a:r>
            <a:endParaRPr/>
          </a:p>
        </p:txBody>
      </p:sp>
      <p:sp>
        <p:nvSpPr>
          <p:cNvPr id="510" name="Google Shape;510;p43"/>
          <p:cNvSpPr txBox="1"/>
          <p:nvPr/>
        </p:nvSpPr>
        <p:spPr>
          <a:xfrm>
            <a:off x="775473" y="4581576"/>
            <a:ext cx="3022500" cy="822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1200">
                <a:solidFill>
                  <a:srgbClr val="475569"/>
                </a:solidFill>
                <a:latin typeface="Plus Jakarta Sans"/>
                <a:ea typeface="Plus Jakarta Sans"/>
                <a:cs typeface="Plus Jakarta Sans"/>
                <a:sym typeface="Plus Jakarta Sans"/>
              </a:rPr>
              <a:t>Partner with residents, neighborhood councils, and local nonprofits to gather concerns about indoor air, housing conditions, and nearby </a:t>
            </a:r>
            <a:r>
              <a:rPr lang="en-US" sz="1200">
                <a:solidFill>
                  <a:srgbClr val="475569"/>
                </a:solidFill>
                <a:latin typeface="Plus Jakarta Sans"/>
                <a:ea typeface="Plus Jakarta Sans"/>
                <a:cs typeface="Plus Jakarta Sans"/>
                <a:sym typeface="Plus Jakarta Sans"/>
              </a:rPr>
              <a:t>pollution</a:t>
            </a:r>
            <a:r>
              <a:rPr lang="en-US" sz="1200">
                <a:solidFill>
                  <a:srgbClr val="475569"/>
                </a:solidFill>
                <a:latin typeface="Plus Jakarta Sans"/>
                <a:ea typeface="Plus Jakarta Sans"/>
                <a:cs typeface="Plus Jakarta Sans"/>
                <a:sym typeface="Plus Jakarta Sans"/>
              </a:rPr>
              <a:t> sources.</a:t>
            </a:r>
            <a:endParaRPr sz="1200">
              <a:solidFill>
                <a:srgbClr val="475569"/>
              </a:solidFill>
              <a:latin typeface="Plus Jakarta Sans"/>
              <a:ea typeface="Plus Jakarta Sans"/>
              <a:cs typeface="Plus Jakarta Sans"/>
              <a:sym typeface="Plus Jakarta Sans"/>
            </a:endParaRPr>
          </a:p>
        </p:txBody>
      </p:sp>
      <p:sp>
        <p:nvSpPr>
          <p:cNvPr id="511" name="Google Shape;511;p43"/>
          <p:cNvSpPr/>
          <p:nvPr/>
        </p:nvSpPr>
        <p:spPr>
          <a:xfrm>
            <a:off x="8888373" y="1853205"/>
            <a:ext cx="2738400" cy="1624500"/>
          </a:xfrm>
          <a:prstGeom prst="roundRect">
            <a:avLst>
              <a:gd fmla="val 6285" name="adj"/>
            </a:avLst>
          </a:prstGeom>
          <a:solidFill>
            <a:srgbClr val="F8FAFC"/>
          </a:solidFill>
          <a:ln cap="flat" cmpd="sng" w="7675">
            <a:solidFill>
              <a:srgbClr val="E2E8F0"/>
            </a:solidFill>
            <a:prstDash val="solid"/>
            <a:round/>
            <a:headEnd len="sm" w="sm" type="none"/>
            <a:tailEnd len="sm" w="sm" type="none"/>
          </a:ln>
        </p:spPr>
        <p:txBody>
          <a:bodyPr anchorCtr="0" anchor="ctr" bIns="36775" lIns="73550" spcFirstLastPara="1" rIns="73550" wrap="square" tIns="36775">
            <a:noAutofit/>
          </a:bodyPr>
          <a:lstStyle/>
          <a:p>
            <a:pPr indent="0" lvl="0" marL="0" marR="0" rtl="0" algn="ctr">
              <a:spcBef>
                <a:spcPts val="0"/>
              </a:spcBef>
              <a:spcAft>
                <a:spcPts val="0"/>
              </a:spcAft>
              <a:buNone/>
            </a:pPr>
            <a:r>
              <a:t/>
            </a:r>
            <a:endParaRPr b="0" i="0" sz="1448" u="none" cap="none" strike="noStrike">
              <a:solidFill>
                <a:schemeClr val="dk1"/>
              </a:solidFill>
              <a:latin typeface="Calibri"/>
              <a:ea typeface="Calibri"/>
              <a:cs typeface="Calibri"/>
              <a:sym typeface="Calibri"/>
            </a:endParaRPr>
          </a:p>
        </p:txBody>
      </p:sp>
      <p:sp>
        <p:nvSpPr>
          <p:cNvPr id="512" name="Google Shape;512;p43"/>
          <p:cNvSpPr txBox="1"/>
          <p:nvPr/>
        </p:nvSpPr>
        <p:spPr>
          <a:xfrm>
            <a:off x="9079967" y="2023619"/>
            <a:ext cx="2334900" cy="19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1250">
                <a:solidFill>
                  <a:srgbClr val="0F172A"/>
                </a:solidFill>
                <a:latin typeface="Plus Jakarta Sans"/>
                <a:ea typeface="Plus Jakarta Sans"/>
                <a:cs typeface="Plus Jakarta Sans"/>
                <a:sym typeface="Plus Jakarta Sans"/>
              </a:rPr>
              <a:t>A</a:t>
            </a:r>
            <a:r>
              <a:rPr b="1" lang="en-US" sz="1250">
                <a:solidFill>
                  <a:srgbClr val="0F172A"/>
                </a:solidFill>
                <a:latin typeface="Plus Jakarta Sans"/>
                <a:ea typeface="Plus Jakarta Sans"/>
                <a:cs typeface="Plus Jakarta Sans"/>
                <a:sym typeface="Plus Jakarta Sans"/>
              </a:rPr>
              <a:t>ir quality assessments </a:t>
            </a:r>
            <a:endParaRPr b="1" sz="1250">
              <a:solidFill>
                <a:srgbClr val="0F172A"/>
              </a:solidFill>
              <a:latin typeface="Plus Jakarta Sans"/>
              <a:ea typeface="Plus Jakarta Sans"/>
              <a:cs typeface="Plus Jakarta Sans"/>
              <a:sym typeface="Plus Jakarta Sans"/>
            </a:endParaRPr>
          </a:p>
        </p:txBody>
      </p:sp>
      <p:sp>
        <p:nvSpPr>
          <p:cNvPr id="513" name="Google Shape;513;p43"/>
          <p:cNvSpPr txBox="1"/>
          <p:nvPr/>
        </p:nvSpPr>
        <p:spPr>
          <a:xfrm>
            <a:off x="9070698" y="2336105"/>
            <a:ext cx="2474700" cy="10929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b="1" lang="en-US" sz="1000">
                <a:solidFill>
                  <a:srgbClr val="0F172A"/>
                </a:solidFill>
                <a:latin typeface="Plus Jakarta Sans"/>
                <a:ea typeface="Plus Jakarta Sans"/>
                <a:cs typeface="Plus Jakarta Sans"/>
                <a:sym typeface="Plus Jakarta Sans"/>
              </a:rPr>
              <a:t>H</a:t>
            </a:r>
            <a:r>
              <a:rPr b="1" lang="en-US" sz="1000">
                <a:solidFill>
                  <a:srgbClr val="0F172A"/>
                </a:solidFill>
                <a:latin typeface="Plus Jakarta Sans"/>
                <a:ea typeface="Plus Jakarta Sans"/>
                <a:cs typeface="Plus Jakarta Sans"/>
                <a:sym typeface="Plus Jakarta Sans"/>
              </a:rPr>
              <a:t>omes and community facilities:</a:t>
            </a:r>
            <a:endParaRPr sz="1000">
              <a:solidFill>
                <a:schemeClr val="dk1"/>
              </a:solidFill>
            </a:endParaRPr>
          </a:p>
          <a:p>
            <a:pPr indent="0" lvl="0" marL="0" rtl="0" algn="l">
              <a:lnSpc>
                <a:spcPct val="115000"/>
              </a:lnSpc>
              <a:spcBef>
                <a:spcPts val="0"/>
              </a:spcBef>
              <a:spcAft>
                <a:spcPts val="0"/>
              </a:spcAft>
              <a:buNone/>
            </a:pPr>
            <a:r>
              <a:rPr lang="en-US" sz="1000">
                <a:solidFill>
                  <a:srgbClr val="334155"/>
                </a:solidFill>
                <a:latin typeface="Plus Jakarta Sans"/>
                <a:ea typeface="Plus Jakarta Sans"/>
                <a:cs typeface="Plus Jakarta Sans"/>
                <a:sym typeface="Plus Jakarta Sans"/>
              </a:rPr>
              <a:t>Develop a referral program for voluntary assessments of ventilation, moisture, mold, and other indoor environmental concerns in higher-priority areas.</a:t>
            </a:r>
            <a:endParaRPr sz="1000">
              <a:solidFill>
                <a:srgbClr val="334155"/>
              </a:solidFill>
            </a:endParaRPr>
          </a:p>
          <a:p>
            <a:pPr indent="0" lvl="0" marL="0" marR="0" rtl="0" algn="l">
              <a:lnSpc>
                <a:spcPct val="150000"/>
              </a:lnSpc>
              <a:spcBef>
                <a:spcPts val="0"/>
              </a:spcBef>
              <a:spcAft>
                <a:spcPts val="0"/>
              </a:spcAft>
              <a:buNone/>
            </a:pPr>
            <a:r>
              <a:t/>
            </a:r>
            <a:endParaRPr sz="1000">
              <a:solidFill>
                <a:srgbClr val="334155"/>
              </a:solidFill>
              <a:latin typeface="Plus Jakarta Sans"/>
              <a:ea typeface="Plus Jakarta Sans"/>
              <a:cs typeface="Plus Jakarta Sans"/>
              <a:sym typeface="Plus Jakarta Sans"/>
            </a:endParaRPr>
          </a:p>
        </p:txBody>
      </p:sp>
      <p:sp>
        <p:nvSpPr>
          <p:cNvPr id="514" name="Google Shape;514;p43"/>
          <p:cNvSpPr/>
          <p:nvPr/>
        </p:nvSpPr>
        <p:spPr>
          <a:xfrm>
            <a:off x="4404123" y="3764557"/>
            <a:ext cx="3403500" cy="2121600"/>
          </a:xfrm>
          <a:prstGeom prst="roundRect">
            <a:avLst>
              <a:gd fmla="val 6285"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5" name="Google Shape;515;p43"/>
          <p:cNvSpPr txBox="1"/>
          <p:nvPr/>
        </p:nvSpPr>
        <p:spPr>
          <a:xfrm>
            <a:off x="4598952" y="3941569"/>
            <a:ext cx="3022500" cy="446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50">
                <a:solidFill>
                  <a:srgbClr val="0F172A"/>
                </a:solidFill>
                <a:latin typeface="Plus Jakarta Sans"/>
                <a:ea typeface="Plus Jakarta Sans"/>
                <a:cs typeface="Plus Jakarta Sans"/>
                <a:sym typeface="Plus Jakarta Sans"/>
              </a:rPr>
              <a:t>Create an Environmental Health Equity Funding Formula</a:t>
            </a:r>
            <a:endParaRPr sz="1200"/>
          </a:p>
        </p:txBody>
      </p:sp>
      <p:sp>
        <p:nvSpPr>
          <p:cNvPr id="516" name="Google Shape;516;p43"/>
          <p:cNvSpPr txBox="1"/>
          <p:nvPr/>
        </p:nvSpPr>
        <p:spPr>
          <a:xfrm>
            <a:off x="4642248" y="4497982"/>
            <a:ext cx="3022500" cy="2154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t/>
            </a:r>
            <a:endParaRPr/>
          </a:p>
        </p:txBody>
      </p:sp>
      <p:sp>
        <p:nvSpPr>
          <p:cNvPr id="517" name="Google Shape;517;p43"/>
          <p:cNvSpPr txBox="1"/>
          <p:nvPr/>
        </p:nvSpPr>
        <p:spPr>
          <a:xfrm>
            <a:off x="4594623" y="4555731"/>
            <a:ext cx="3022500" cy="1077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1250">
                <a:solidFill>
                  <a:srgbClr val="475569"/>
                </a:solidFill>
                <a:latin typeface="Plus Jakarta Sans"/>
                <a:ea typeface="Plus Jakarta Sans"/>
                <a:cs typeface="Plus Jakarta Sans"/>
                <a:sym typeface="Plus Jakarta Sans"/>
              </a:rPr>
              <a:t>Encourage agencies to consider multiple indicators of vulnerability when allocating grants for home repairs, community health programs, or environmental</a:t>
            </a:r>
            <a:endParaRPr sz="1300">
              <a:solidFill>
                <a:srgbClr val="475569"/>
              </a:solidFill>
              <a:latin typeface="Plus Jakarta Sans"/>
              <a:ea typeface="Plus Jakarta Sans"/>
              <a:cs typeface="Plus Jakarta Sans"/>
              <a:sym typeface="Plus Jakarta Sans"/>
            </a:endParaRPr>
          </a:p>
        </p:txBody>
      </p:sp>
      <p:sp>
        <p:nvSpPr>
          <p:cNvPr id="518" name="Google Shape;518;p43"/>
          <p:cNvSpPr/>
          <p:nvPr/>
        </p:nvSpPr>
        <p:spPr>
          <a:xfrm>
            <a:off x="8223273" y="3764570"/>
            <a:ext cx="3403500" cy="2121600"/>
          </a:xfrm>
          <a:prstGeom prst="roundRect">
            <a:avLst>
              <a:gd fmla="val 6285"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9" name="Google Shape;519;p43"/>
          <p:cNvSpPr txBox="1"/>
          <p:nvPr/>
        </p:nvSpPr>
        <p:spPr>
          <a:xfrm>
            <a:off x="8418102" y="3941582"/>
            <a:ext cx="3022500" cy="446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50">
                <a:solidFill>
                  <a:srgbClr val="0F172A"/>
                </a:solidFill>
                <a:latin typeface="Plus Jakarta Sans"/>
                <a:ea typeface="Plus Jakarta Sans"/>
                <a:cs typeface="Plus Jakarta Sans"/>
                <a:sym typeface="Plus Jakarta Sans"/>
              </a:rPr>
              <a:t>Track Community Outcomes Over Time</a:t>
            </a:r>
            <a:endParaRPr sz="1200"/>
          </a:p>
        </p:txBody>
      </p:sp>
      <p:sp>
        <p:nvSpPr>
          <p:cNvPr id="520" name="Google Shape;520;p43"/>
          <p:cNvSpPr txBox="1"/>
          <p:nvPr/>
        </p:nvSpPr>
        <p:spPr>
          <a:xfrm>
            <a:off x="8461398" y="4497995"/>
            <a:ext cx="3022500" cy="2154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t/>
            </a:r>
            <a:endParaRPr/>
          </a:p>
        </p:txBody>
      </p:sp>
      <p:sp>
        <p:nvSpPr>
          <p:cNvPr id="521" name="Google Shape;521;p43"/>
          <p:cNvSpPr txBox="1"/>
          <p:nvPr/>
        </p:nvSpPr>
        <p:spPr>
          <a:xfrm>
            <a:off x="8413773" y="4555744"/>
            <a:ext cx="3022500" cy="1077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1250">
                <a:solidFill>
                  <a:srgbClr val="475569"/>
                </a:solidFill>
                <a:latin typeface="Plus Jakarta Sans"/>
                <a:ea typeface="Plus Jakarta Sans"/>
                <a:cs typeface="Plus Jakarta Sans"/>
                <a:sym typeface="Plus Jakarta Sans"/>
              </a:rPr>
              <a:t>Repeat the analysis as new data becomes available and </a:t>
            </a:r>
            <a:r>
              <a:rPr lang="en-US" sz="1250">
                <a:solidFill>
                  <a:srgbClr val="475569"/>
                </a:solidFill>
                <a:latin typeface="Plus Jakarta Sans"/>
                <a:ea typeface="Plus Jakarta Sans"/>
                <a:cs typeface="Plus Jakarta Sans"/>
                <a:sym typeface="Plus Jakarta Sans"/>
              </a:rPr>
              <a:t>monitor</a:t>
            </a:r>
            <a:r>
              <a:rPr lang="en-US" sz="1250">
                <a:solidFill>
                  <a:srgbClr val="475569"/>
                </a:solidFill>
                <a:latin typeface="Plus Jakarta Sans"/>
                <a:ea typeface="Plus Jakarta Sans"/>
                <a:cs typeface="Plus Jakarta Sans"/>
                <a:sym typeface="Plus Jakarta Sans"/>
              </a:rPr>
              <a:t> changes in housing conditions, health indicators, socioeconomic measures, and environmental burdens</a:t>
            </a:r>
            <a:endParaRPr sz="1300">
              <a:solidFill>
                <a:srgbClr val="475569"/>
              </a:solidFill>
              <a:latin typeface="Plus Jakarta Sans"/>
              <a:ea typeface="Plus Jakarta Sans"/>
              <a:cs typeface="Plus Jakarta Sans"/>
              <a:sym typeface="Plus Jakarta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25" name="Shape 525"/>
        <p:cNvGrpSpPr/>
        <p:nvPr/>
      </p:nvGrpSpPr>
      <p:grpSpPr>
        <a:xfrm>
          <a:off x="0" y="0"/>
          <a:ext cx="0" cy="0"/>
          <a:chOff x="0" y="0"/>
          <a:chExt cx="0" cy="0"/>
        </a:xfrm>
      </p:grpSpPr>
      <p:sp>
        <p:nvSpPr>
          <p:cNvPr id="526" name="Google Shape;526;p44"/>
          <p:cNvSpPr txBox="1"/>
          <p:nvPr/>
        </p:nvSpPr>
        <p:spPr>
          <a:xfrm>
            <a:off x="4750593" y="1886098"/>
            <a:ext cx="2690812"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125" u="none" cap="none" strike="noStrike">
                <a:solidFill>
                  <a:srgbClr val="38BDF8"/>
                </a:solidFill>
                <a:latin typeface="Plus Jakarta Sans"/>
                <a:ea typeface="Plus Jakarta Sans"/>
                <a:cs typeface="Plus Jakarta Sans"/>
                <a:sym typeface="Plus Jakarta Sans"/>
              </a:rPr>
              <a:t>NEXT STEPS &amp; INQUIRIES</a:t>
            </a:r>
            <a:endParaRPr/>
          </a:p>
        </p:txBody>
      </p:sp>
      <p:sp>
        <p:nvSpPr>
          <p:cNvPr id="527" name="Google Shape;527;p44"/>
          <p:cNvSpPr txBox="1"/>
          <p:nvPr/>
        </p:nvSpPr>
        <p:spPr>
          <a:xfrm>
            <a:off x="1220390" y="2746123"/>
            <a:ext cx="9751200" cy="1693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5000" u="none" cap="none" strike="noStrike">
                <a:solidFill>
                  <a:srgbClr val="F8FAFC"/>
                </a:solidFill>
                <a:latin typeface="Plus Jakarta Sans"/>
                <a:ea typeface="Plus Jakarta Sans"/>
                <a:cs typeface="Plus Jakarta Sans"/>
                <a:sym typeface="Plus Jakarta Sans"/>
              </a:rPr>
              <a:t>Expanding Our Research Analysis</a:t>
            </a:r>
            <a:endParaRPr sz="5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1" name="Shape 531"/>
        <p:cNvGrpSpPr/>
        <p:nvPr/>
      </p:nvGrpSpPr>
      <p:grpSpPr>
        <a:xfrm>
          <a:off x="0" y="0"/>
          <a:ext cx="0" cy="0"/>
          <a:chOff x="0" y="0"/>
          <a:chExt cx="0" cy="0"/>
        </a:xfrm>
      </p:grpSpPr>
      <p:sp>
        <p:nvSpPr>
          <p:cNvPr id="532" name="Google Shape;532;p45"/>
          <p:cNvSpPr txBox="1"/>
          <p:nvPr/>
        </p:nvSpPr>
        <p:spPr>
          <a:xfrm>
            <a:off x="762000" y="533400"/>
            <a:ext cx="114300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b="1" lang="en-US" sz="1050">
                <a:solidFill>
                  <a:srgbClr val="0284C7"/>
                </a:solidFill>
                <a:latin typeface="Plus Jakarta Sans"/>
                <a:ea typeface="Plus Jakarta Sans"/>
                <a:cs typeface="Plus Jakarta Sans"/>
                <a:sym typeface="Plus Jakarta Sans"/>
              </a:rPr>
              <a:t>DATA INSIGHTS •    </a:t>
            </a:r>
            <a:endParaRPr>
              <a:solidFill>
                <a:schemeClr val="dk1"/>
              </a:solidFill>
            </a:endParaRPr>
          </a:p>
          <a:p>
            <a:pPr indent="0" lvl="0" marL="0" marR="0" rtl="0" algn="l">
              <a:spcBef>
                <a:spcPts val="0"/>
              </a:spcBef>
              <a:spcAft>
                <a:spcPts val="0"/>
              </a:spcAft>
              <a:buNone/>
            </a:pPr>
            <a:r>
              <a:t/>
            </a:r>
            <a:endParaRPr b="1" sz="1050">
              <a:solidFill>
                <a:srgbClr val="0284C7"/>
              </a:solidFill>
              <a:latin typeface="Plus Jakarta Sans"/>
              <a:ea typeface="Plus Jakarta Sans"/>
              <a:cs typeface="Plus Jakarta Sans"/>
              <a:sym typeface="Plus Jakarta Sans"/>
            </a:endParaRPr>
          </a:p>
        </p:txBody>
      </p:sp>
      <p:sp>
        <p:nvSpPr>
          <p:cNvPr id="533" name="Google Shape;533;p45"/>
          <p:cNvSpPr txBox="1"/>
          <p:nvPr/>
        </p:nvSpPr>
        <p:spPr>
          <a:xfrm>
            <a:off x="762000" y="781050"/>
            <a:ext cx="9496800" cy="569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700">
                <a:solidFill>
                  <a:srgbClr val="0F172A"/>
                </a:solidFill>
                <a:latin typeface="Plus Jakarta Sans"/>
                <a:ea typeface="Plus Jakarta Sans"/>
                <a:cs typeface="Plus Jakarta Sans"/>
                <a:sym typeface="Plus Jakarta Sans"/>
              </a:rPr>
              <a:t>Limitations and future questions</a:t>
            </a:r>
            <a:endParaRPr b="1" sz="3700">
              <a:solidFill>
                <a:srgbClr val="0F172A"/>
              </a:solidFill>
              <a:latin typeface="Plus Jakarta Sans"/>
              <a:ea typeface="Plus Jakarta Sans"/>
              <a:cs typeface="Plus Jakarta Sans"/>
              <a:sym typeface="Plus Jakarta Sans"/>
            </a:endParaRPr>
          </a:p>
        </p:txBody>
      </p:sp>
      <p:sp>
        <p:nvSpPr>
          <p:cNvPr id="534" name="Google Shape;534;p45"/>
          <p:cNvSpPr/>
          <p:nvPr/>
        </p:nvSpPr>
        <p:spPr>
          <a:xfrm>
            <a:off x="1567480" y="2503704"/>
            <a:ext cx="3970800" cy="2475300"/>
          </a:xfrm>
          <a:prstGeom prst="roundRect">
            <a:avLst>
              <a:gd fmla="val 6285" name="adj"/>
            </a:avLst>
          </a:prstGeom>
          <a:solidFill>
            <a:srgbClr val="F8FAFC"/>
          </a:solidFill>
          <a:ln cap="flat" cmpd="sng" w="11125">
            <a:solidFill>
              <a:srgbClr val="E2E8F0"/>
            </a:solidFill>
            <a:prstDash val="solid"/>
            <a:round/>
            <a:headEnd len="sm" w="sm" type="none"/>
            <a:tailEnd len="sm" w="sm" type="none"/>
          </a:ln>
        </p:spPr>
        <p:txBody>
          <a:bodyPr anchorCtr="0" anchor="ctr" bIns="53325" lIns="106675" spcFirstLastPara="1" rIns="106675" wrap="square" tIns="53325">
            <a:noAutofit/>
          </a:bodyPr>
          <a:lstStyle/>
          <a:p>
            <a:pPr indent="0" lvl="0" marL="0" marR="0" rtl="0" algn="ctr">
              <a:spcBef>
                <a:spcPts val="0"/>
              </a:spcBef>
              <a:spcAft>
                <a:spcPts val="0"/>
              </a:spcAft>
              <a:buNone/>
            </a:pPr>
            <a:r>
              <a:t/>
            </a:r>
            <a:endParaRPr b="0" i="0" sz="2100" u="none" cap="none" strike="noStrike">
              <a:solidFill>
                <a:schemeClr val="dk1"/>
              </a:solidFill>
              <a:latin typeface="Calibri"/>
              <a:ea typeface="Calibri"/>
              <a:cs typeface="Calibri"/>
              <a:sym typeface="Calibri"/>
            </a:endParaRPr>
          </a:p>
        </p:txBody>
      </p:sp>
      <p:sp>
        <p:nvSpPr>
          <p:cNvPr id="535" name="Google Shape;535;p45"/>
          <p:cNvSpPr txBox="1"/>
          <p:nvPr/>
        </p:nvSpPr>
        <p:spPr>
          <a:xfrm>
            <a:off x="1777677" y="2788376"/>
            <a:ext cx="4482600" cy="296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25">
                <a:solidFill>
                  <a:srgbClr val="0F172A"/>
                </a:solidFill>
                <a:latin typeface="Plus Jakarta Sans"/>
                <a:ea typeface="Plus Jakarta Sans"/>
                <a:cs typeface="Plus Jakarta Sans"/>
                <a:sym typeface="Plus Jakarta Sans"/>
              </a:rPr>
              <a:t>Limitations</a:t>
            </a:r>
            <a:endParaRPr sz="1633"/>
          </a:p>
        </p:txBody>
      </p:sp>
      <p:sp>
        <p:nvSpPr>
          <p:cNvPr id="536" name="Google Shape;536;p45"/>
          <p:cNvSpPr txBox="1"/>
          <p:nvPr/>
        </p:nvSpPr>
        <p:spPr>
          <a:xfrm>
            <a:off x="1789736" y="3259616"/>
            <a:ext cx="3526500" cy="820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1633">
                <a:solidFill>
                  <a:srgbClr val="0F172A"/>
                </a:solidFill>
                <a:latin typeface="Plus Jakarta Sans"/>
                <a:ea typeface="Plus Jakarta Sans"/>
                <a:cs typeface="Plus Jakarta Sans"/>
                <a:sym typeface="Plus Jakarta Sans"/>
              </a:rPr>
              <a:t>Analysis identifies associations, not causes</a:t>
            </a:r>
            <a:endParaRPr sz="1633">
              <a:solidFill>
                <a:srgbClr val="0F172A"/>
              </a:solidFill>
              <a:latin typeface="Plus Jakarta Sans"/>
              <a:ea typeface="Plus Jakarta Sans"/>
              <a:cs typeface="Plus Jakarta Sans"/>
              <a:sym typeface="Plus Jakarta Sans"/>
            </a:endParaRPr>
          </a:p>
          <a:p>
            <a:pPr indent="0" lvl="0" marL="0" marR="0" rtl="0" algn="l">
              <a:lnSpc>
                <a:spcPct val="139925"/>
              </a:lnSpc>
              <a:spcBef>
                <a:spcPts val="0"/>
              </a:spcBef>
              <a:spcAft>
                <a:spcPts val="0"/>
              </a:spcAft>
              <a:buNone/>
            </a:pPr>
            <a:r>
              <a:t/>
            </a:r>
            <a:endParaRPr sz="1575">
              <a:solidFill>
                <a:srgbClr val="0F172A"/>
              </a:solidFill>
              <a:latin typeface="Plus Jakarta Sans"/>
              <a:ea typeface="Plus Jakarta Sans"/>
              <a:cs typeface="Plus Jakarta Sans"/>
              <a:sym typeface="Plus Jakarta Sans"/>
            </a:endParaRPr>
          </a:p>
        </p:txBody>
      </p:sp>
      <p:sp>
        <p:nvSpPr>
          <p:cNvPr id="537" name="Google Shape;537;p45"/>
          <p:cNvSpPr txBox="1"/>
          <p:nvPr/>
        </p:nvSpPr>
        <p:spPr>
          <a:xfrm>
            <a:off x="1789736" y="3952767"/>
            <a:ext cx="3526500" cy="521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1575">
                <a:solidFill>
                  <a:srgbClr val="0F172A"/>
                </a:solidFill>
                <a:latin typeface="Plus Jakarta Sans"/>
                <a:ea typeface="Plus Jakarta Sans"/>
                <a:cs typeface="Plus Jakarta Sans"/>
                <a:sym typeface="Plus Jakarta Sans"/>
              </a:rPr>
              <a:t>Census-tract averages can hide differences within communities</a:t>
            </a:r>
            <a:endParaRPr sz="1633">
              <a:latin typeface="Plus Jakarta Sans"/>
              <a:ea typeface="Plus Jakarta Sans"/>
              <a:cs typeface="Plus Jakarta Sans"/>
              <a:sym typeface="Plus Jakarta Sans"/>
            </a:endParaRPr>
          </a:p>
        </p:txBody>
      </p:sp>
      <p:sp>
        <p:nvSpPr>
          <p:cNvPr id="538" name="Google Shape;538;p45"/>
          <p:cNvSpPr/>
          <p:nvPr/>
        </p:nvSpPr>
        <p:spPr>
          <a:xfrm>
            <a:off x="6332433" y="2503716"/>
            <a:ext cx="4300200" cy="2475300"/>
          </a:xfrm>
          <a:prstGeom prst="roundRect">
            <a:avLst>
              <a:gd fmla="val 6285" name="adj"/>
            </a:avLst>
          </a:prstGeom>
          <a:solidFill>
            <a:srgbClr val="F8FAFC"/>
          </a:solidFill>
          <a:ln cap="flat" cmpd="sng" w="11125">
            <a:solidFill>
              <a:srgbClr val="E2E8F0"/>
            </a:solidFill>
            <a:prstDash val="solid"/>
            <a:round/>
            <a:headEnd len="sm" w="sm" type="none"/>
            <a:tailEnd len="sm" w="sm" type="none"/>
          </a:ln>
        </p:spPr>
        <p:txBody>
          <a:bodyPr anchorCtr="0" anchor="ctr" bIns="53325" lIns="106675" spcFirstLastPara="1" rIns="106675" wrap="square" tIns="53325">
            <a:noAutofit/>
          </a:bodyPr>
          <a:lstStyle/>
          <a:p>
            <a:pPr indent="0" lvl="0" marL="0" marR="0" rtl="0" algn="ctr">
              <a:spcBef>
                <a:spcPts val="0"/>
              </a:spcBef>
              <a:spcAft>
                <a:spcPts val="0"/>
              </a:spcAft>
              <a:buNone/>
            </a:pPr>
            <a:r>
              <a:t/>
            </a:r>
            <a:endParaRPr i="0" sz="2100" u="none" cap="none" strike="noStrike">
              <a:solidFill>
                <a:schemeClr val="dk1"/>
              </a:solidFill>
              <a:latin typeface="Plus Jakarta Sans"/>
              <a:ea typeface="Plus Jakarta Sans"/>
              <a:cs typeface="Plus Jakarta Sans"/>
              <a:sym typeface="Plus Jakarta Sans"/>
            </a:endParaRPr>
          </a:p>
        </p:txBody>
      </p:sp>
      <p:sp>
        <p:nvSpPr>
          <p:cNvPr id="539" name="Google Shape;539;p45"/>
          <p:cNvSpPr txBox="1"/>
          <p:nvPr/>
        </p:nvSpPr>
        <p:spPr>
          <a:xfrm>
            <a:off x="6579045" y="2759512"/>
            <a:ext cx="4482600" cy="296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25">
                <a:solidFill>
                  <a:srgbClr val="0F172A"/>
                </a:solidFill>
                <a:latin typeface="Plus Jakarta Sans"/>
                <a:ea typeface="Plus Jakarta Sans"/>
                <a:cs typeface="Plus Jakarta Sans"/>
                <a:sym typeface="Plus Jakarta Sans"/>
              </a:rPr>
              <a:t>Future Questions</a:t>
            </a:r>
            <a:endParaRPr sz="1633"/>
          </a:p>
        </p:txBody>
      </p:sp>
      <p:sp>
        <p:nvSpPr>
          <p:cNvPr id="540" name="Google Shape;540;p45"/>
          <p:cNvSpPr txBox="1"/>
          <p:nvPr/>
        </p:nvSpPr>
        <p:spPr>
          <a:xfrm>
            <a:off x="6593477" y="3236025"/>
            <a:ext cx="3526500" cy="540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1633">
                <a:solidFill>
                  <a:schemeClr val="dk1"/>
                </a:solidFill>
                <a:latin typeface="Plus Jakarta Sans"/>
                <a:ea typeface="Plus Jakarta Sans"/>
                <a:cs typeface="Plus Jakarta Sans"/>
                <a:sym typeface="Plus Jakarta Sans"/>
              </a:rPr>
              <a:t>What explains the multi-pollutant areas?</a:t>
            </a:r>
            <a:endParaRPr sz="1633">
              <a:solidFill>
                <a:srgbClr val="0F172A"/>
              </a:solidFill>
              <a:latin typeface="Plus Jakarta Sans"/>
              <a:ea typeface="Plus Jakarta Sans"/>
              <a:cs typeface="Plus Jakarta Sans"/>
              <a:sym typeface="Plus Jakarta Sans"/>
            </a:endParaRPr>
          </a:p>
        </p:txBody>
      </p:sp>
      <p:sp>
        <p:nvSpPr>
          <p:cNvPr id="541" name="Google Shape;541;p45"/>
          <p:cNvSpPr txBox="1"/>
          <p:nvPr/>
        </p:nvSpPr>
        <p:spPr>
          <a:xfrm>
            <a:off x="6607909" y="3903717"/>
            <a:ext cx="3526500" cy="2514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lang="en-US" sz="1633">
                <a:solidFill>
                  <a:schemeClr val="dk1"/>
                </a:solidFill>
                <a:latin typeface="Plus Jakarta Sans"/>
                <a:ea typeface="Plus Jakarta Sans"/>
                <a:cs typeface="Plus Jakarta Sans"/>
                <a:sym typeface="Plus Jakarta Sans"/>
              </a:rPr>
              <a:t>What else drives health issues? </a:t>
            </a:r>
            <a:endParaRPr sz="1633">
              <a:solidFill>
                <a:srgbClr val="0F172A"/>
              </a:solidFill>
              <a:latin typeface="Plus Jakarta Sans"/>
              <a:ea typeface="Plus Jakarta Sans"/>
              <a:cs typeface="Plus Jakarta Sans"/>
              <a:sym typeface="Plus Jakarta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45" name="Shape 545"/>
        <p:cNvGrpSpPr/>
        <p:nvPr/>
      </p:nvGrpSpPr>
      <p:grpSpPr>
        <a:xfrm>
          <a:off x="0" y="0"/>
          <a:ext cx="0" cy="0"/>
          <a:chOff x="0" y="0"/>
          <a:chExt cx="0" cy="0"/>
        </a:xfrm>
      </p:grpSpPr>
      <p:sp>
        <p:nvSpPr>
          <p:cNvPr id="546" name="Google Shape;546;p46"/>
          <p:cNvSpPr txBox="1"/>
          <p:nvPr/>
        </p:nvSpPr>
        <p:spPr>
          <a:xfrm>
            <a:off x="1220390" y="2746123"/>
            <a:ext cx="9751200" cy="769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5000">
                <a:solidFill>
                  <a:srgbClr val="F8FAFC"/>
                </a:solidFill>
                <a:latin typeface="Plus Jakarta Sans"/>
                <a:ea typeface="Plus Jakarta Sans"/>
                <a:cs typeface="Plus Jakarta Sans"/>
                <a:sym typeface="Plus Jakarta Sans"/>
              </a:rPr>
              <a:t>Thank You!</a:t>
            </a:r>
            <a:endParaRPr sz="5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